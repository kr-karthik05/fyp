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E960A22-BE07-4F97-8DFD-1A2EE5CAC9EF}">
  <a:tblStyle styleId="{8E960A22-BE07-4F97-8DFD-1A2EE5CAC9E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5" Type="http://schemas.openxmlformats.org/officeDocument/2006/relationships/slide" Target="slides/slide18.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f758190858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g3f758190858_2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758190858_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3f758190858_2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758190858_2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f758190858_2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758190858_2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f758190858_2_1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758190858_0_2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f758190858_0_2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758190858_0_2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f758190858_0_2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f758190858_2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f758190858_2_2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abcb341d6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3fabcb341d6_1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758190858_2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g3f758190858_2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f758190858_2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3f758190858_2_1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f758190858_2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g3f758190858_2_18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fabcb341d6_1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3fabcb341d6_1_1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f9ae23aebc_88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g3f9ae23aebc_88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f758190858_2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g3f758190858_2_20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f758190858_2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g3f758190858_2_2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f758190858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3f758190858_0_1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f758190858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g3f758190858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758190858_2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g3f758190858_2_2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
          <p:cNvSpPr txBox="1"/>
          <p:nvPr>
            <p:ph type="title"/>
          </p:nvPr>
        </p:nvSpPr>
        <p:spPr>
          <a:xfrm>
            <a:off x="1589722" y="479774"/>
            <a:ext cx="6217444" cy="48148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000">
                <a:solidFill>
                  <a:srgbClr val="B50346"/>
                </a:solidFill>
                <a:latin typeface="Georgia"/>
                <a:ea typeface="Georgia"/>
                <a:cs typeface="Georgia"/>
                <a:sym typeface="Georg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 name="Google Shape;14;p2"/>
          <p:cNvSpPr txBox="1"/>
          <p:nvPr>
            <p:ph idx="1" type="body"/>
          </p:nvPr>
        </p:nvSpPr>
        <p:spPr>
          <a:xfrm>
            <a:off x="534829" y="1283330"/>
            <a:ext cx="4764881" cy="218884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b="1" i="0" sz="1400">
                <a:solidFill>
                  <a:srgbClr val="B50346"/>
                </a:solidFill>
                <a:latin typeface="Georgia"/>
                <a:ea typeface="Georgia"/>
                <a:cs typeface="Georgia"/>
                <a:sym typeface="Georgia"/>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15" name="Google Shape;15;p2"/>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 name="Google Shape;16;p2"/>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 name="Google Shape;17;p2"/>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18" name="Shape 18"/>
        <p:cNvGrpSpPr/>
        <p:nvPr/>
      </p:nvGrpSpPr>
      <p:grpSpPr>
        <a:xfrm>
          <a:off x="0" y="0"/>
          <a:ext cx="0" cy="0"/>
          <a:chOff x="0" y="0"/>
          <a:chExt cx="0" cy="0"/>
        </a:xfrm>
      </p:grpSpPr>
      <p:sp>
        <p:nvSpPr>
          <p:cNvPr id="19" name="Google Shape;19;p3"/>
          <p:cNvSpPr/>
          <p:nvPr/>
        </p:nvSpPr>
        <p:spPr>
          <a:xfrm>
            <a:off x="0" y="0"/>
            <a:ext cx="9144000" cy="5143500"/>
          </a:xfrm>
          <a:custGeom>
            <a:rect b="b" l="l" r="r" t="t"/>
            <a:pathLst>
              <a:path extrusionOk="0" h="6858000" w="12192000">
                <a:moveTo>
                  <a:pt x="12192000" y="0"/>
                </a:moveTo>
                <a:lnTo>
                  <a:pt x="0" y="0"/>
                </a:lnTo>
                <a:lnTo>
                  <a:pt x="0" y="6858000"/>
                </a:lnTo>
                <a:lnTo>
                  <a:pt x="12192000" y="6858000"/>
                </a:lnTo>
                <a:lnTo>
                  <a:pt x="12192000" y="0"/>
                </a:lnTo>
                <a:close/>
              </a:path>
            </a:pathLst>
          </a:custGeom>
          <a:solidFill>
            <a:srgbClr val="B5034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100"/>
          </a:p>
        </p:txBody>
      </p:sp>
      <p:pic>
        <p:nvPicPr>
          <p:cNvPr id="20" name="Google Shape;20;p3"/>
          <p:cNvPicPr preferRelativeResize="0"/>
          <p:nvPr/>
        </p:nvPicPr>
        <p:blipFill rotWithShape="1">
          <a:blip r:embed="rId2">
            <a:alphaModFix/>
          </a:blip>
          <a:srcRect b="0" l="0" r="0" t="0"/>
          <a:stretch/>
        </p:blipFill>
        <p:spPr>
          <a:xfrm>
            <a:off x="663524" y="165928"/>
            <a:ext cx="572742" cy="681565"/>
          </a:xfrm>
          <a:prstGeom prst="rect">
            <a:avLst/>
          </a:prstGeom>
          <a:noFill/>
          <a:ln>
            <a:noFill/>
          </a:ln>
        </p:spPr>
      </p:pic>
      <p:sp>
        <p:nvSpPr>
          <p:cNvPr id="21" name="Google Shape;21;p3"/>
          <p:cNvSpPr txBox="1"/>
          <p:nvPr>
            <p:ph type="title"/>
          </p:nvPr>
        </p:nvSpPr>
        <p:spPr>
          <a:xfrm>
            <a:off x="1589722" y="479774"/>
            <a:ext cx="6217444" cy="48148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000">
                <a:solidFill>
                  <a:srgbClr val="B50346"/>
                </a:solidFill>
                <a:latin typeface="Georgia"/>
                <a:ea typeface="Georgia"/>
                <a:cs typeface="Georgia"/>
                <a:sym typeface="Georg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 name="Google Shape;22;p3"/>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3" name="Google Shape;23;p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 name="Google Shape;24;p3"/>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 name="Shape 25"/>
        <p:cNvGrpSpPr/>
        <p:nvPr/>
      </p:nvGrpSpPr>
      <p:grpSpPr>
        <a:xfrm>
          <a:off x="0" y="0"/>
          <a:ext cx="0" cy="0"/>
          <a:chOff x="0" y="0"/>
          <a:chExt cx="0" cy="0"/>
        </a:xfrm>
      </p:grpSpPr>
      <p:sp>
        <p:nvSpPr>
          <p:cNvPr id="26" name="Google Shape;26;p4"/>
          <p:cNvSpPr txBox="1"/>
          <p:nvPr>
            <p:ph type="ctrTitle"/>
          </p:nvPr>
        </p:nvSpPr>
        <p:spPr>
          <a:xfrm>
            <a:off x="685800" y="1594485"/>
            <a:ext cx="7772400" cy="10801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000">
                <a:solidFill>
                  <a:srgbClr val="B50346"/>
                </a:solidFill>
                <a:latin typeface="Georgia"/>
                <a:ea typeface="Georgia"/>
                <a:cs typeface="Georgia"/>
                <a:sym typeface="Georg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 name="Google Shape;27;p4"/>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1" i="0" sz="1400">
                <a:solidFill>
                  <a:srgbClr val="B50346"/>
                </a:solidFill>
                <a:latin typeface="Georgia"/>
                <a:ea typeface="Georgia"/>
                <a:cs typeface="Georgia"/>
                <a:sym typeface="Georgia"/>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Google Shape;28;p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 name="Google Shape;29;p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0" name="Google Shape;30;p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5"/>
          <p:cNvSpPr txBox="1"/>
          <p:nvPr>
            <p:ph type="title"/>
          </p:nvPr>
        </p:nvSpPr>
        <p:spPr>
          <a:xfrm>
            <a:off x="1589722" y="479774"/>
            <a:ext cx="6217444" cy="48148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000">
                <a:solidFill>
                  <a:srgbClr val="B50346"/>
                </a:solidFill>
                <a:latin typeface="Georgia"/>
                <a:ea typeface="Georgia"/>
                <a:cs typeface="Georgia"/>
                <a:sym typeface="Georg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3" name="Google Shape;33;p5"/>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34" name="Google Shape;34;p5"/>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35" name="Google Shape;35;p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6" name="Google Shape;36;p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7" name="Google Shape;37;p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8" name="Shape 38"/>
        <p:cNvGrpSpPr/>
        <p:nvPr/>
      </p:nvGrpSpPr>
      <p:grpSpPr>
        <a:xfrm>
          <a:off x="0" y="0"/>
          <a:ext cx="0" cy="0"/>
          <a:chOff x="0" y="0"/>
          <a:chExt cx="0" cy="0"/>
        </a:xfrm>
      </p:grpSpPr>
      <p:sp>
        <p:nvSpPr>
          <p:cNvPr id="39" name="Google Shape;39;p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0" name="Google Shape;40;p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1" name="Google Shape;41;p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9" name="Shape 49"/>
        <p:cNvGrpSpPr/>
        <p:nvPr/>
      </p:nvGrpSpPr>
      <p:grpSpPr>
        <a:xfrm>
          <a:off x="0" y="0"/>
          <a:ext cx="0" cy="0"/>
          <a:chOff x="0" y="0"/>
          <a:chExt cx="0" cy="0"/>
        </a:xfrm>
      </p:grpSpPr>
      <p:sp>
        <p:nvSpPr>
          <p:cNvPr id="50" name="Google Shape;50;p8"/>
          <p:cNvSpPr txBox="1"/>
          <p:nvPr>
            <p:ph type="title"/>
          </p:nvPr>
        </p:nvSpPr>
        <p:spPr>
          <a:xfrm>
            <a:off x="1589722" y="479774"/>
            <a:ext cx="6217500" cy="481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000">
                <a:solidFill>
                  <a:srgbClr val="B50346"/>
                </a:solidFill>
                <a:latin typeface="Georgia"/>
                <a:ea typeface="Georgia"/>
                <a:cs typeface="Georgia"/>
                <a:sym typeface="Georg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1" name="Google Shape;51;p8"/>
          <p:cNvSpPr txBox="1"/>
          <p:nvPr>
            <p:ph idx="1" type="body"/>
          </p:nvPr>
        </p:nvSpPr>
        <p:spPr>
          <a:xfrm>
            <a:off x="534829" y="1283329"/>
            <a:ext cx="4764900" cy="21888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b="1" i="0" sz="1400">
                <a:solidFill>
                  <a:srgbClr val="B50346"/>
                </a:solidFill>
                <a:latin typeface="Georgia"/>
                <a:ea typeface="Georgia"/>
                <a:cs typeface="Georgia"/>
                <a:sym typeface="Georgia"/>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52" name="Google Shape;52;p8"/>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3" name="Google Shape;53;p8"/>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4" name="Google Shape;54;p8"/>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55" name="Shape 55"/>
        <p:cNvGrpSpPr/>
        <p:nvPr/>
      </p:nvGrpSpPr>
      <p:grpSpPr>
        <a:xfrm>
          <a:off x="0" y="0"/>
          <a:ext cx="0" cy="0"/>
          <a:chOff x="0" y="0"/>
          <a:chExt cx="0" cy="0"/>
        </a:xfrm>
      </p:grpSpPr>
      <p:sp>
        <p:nvSpPr>
          <p:cNvPr id="56" name="Google Shape;56;p9"/>
          <p:cNvSpPr/>
          <p:nvPr/>
        </p:nvSpPr>
        <p:spPr>
          <a:xfrm>
            <a:off x="0" y="0"/>
            <a:ext cx="9144000" cy="5143500"/>
          </a:xfrm>
          <a:custGeom>
            <a:rect b="b" l="l" r="r" t="t"/>
            <a:pathLst>
              <a:path extrusionOk="0" h="6858000" w="12192000">
                <a:moveTo>
                  <a:pt x="12192000" y="0"/>
                </a:moveTo>
                <a:lnTo>
                  <a:pt x="0" y="0"/>
                </a:lnTo>
                <a:lnTo>
                  <a:pt x="0" y="6858000"/>
                </a:lnTo>
                <a:lnTo>
                  <a:pt x="12192000" y="6858000"/>
                </a:lnTo>
                <a:lnTo>
                  <a:pt x="12192000" y="0"/>
                </a:lnTo>
                <a:close/>
              </a:path>
            </a:pathLst>
          </a:custGeom>
          <a:solidFill>
            <a:srgbClr val="B5034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100"/>
          </a:p>
        </p:txBody>
      </p:sp>
      <p:pic>
        <p:nvPicPr>
          <p:cNvPr id="57" name="Google Shape;57;p9"/>
          <p:cNvPicPr preferRelativeResize="0"/>
          <p:nvPr/>
        </p:nvPicPr>
        <p:blipFill rotWithShape="1">
          <a:blip r:embed="rId2">
            <a:alphaModFix/>
          </a:blip>
          <a:srcRect b="0" l="0" r="0" t="0"/>
          <a:stretch/>
        </p:blipFill>
        <p:spPr>
          <a:xfrm>
            <a:off x="663524" y="165928"/>
            <a:ext cx="572742" cy="681565"/>
          </a:xfrm>
          <a:prstGeom prst="rect">
            <a:avLst/>
          </a:prstGeom>
          <a:noFill/>
          <a:ln>
            <a:noFill/>
          </a:ln>
        </p:spPr>
      </p:pic>
      <p:sp>
        <p:nvSpPr>
          <p:cNvPr id="58" name="Google Shape;58;p9"/>
          <p:cNvSpPr txBox="1"/>
          <p:nvPr>
            <p:ph type="title"/>
          </p:nvPr>
        </p:nvSpPr>
        <p:spPr>
          <a:xfrm>
            <a:off x="1589722" y="479774"/>
            <a:ext cx="6217500" cy="481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000">
                <a:solidFill>
                  <a:srgbClr val="B50346"/>
                </a:solidFill>
                <a:latin typeface="Georgia"/>
                <a:ea typeface="Georgia"/>
                <a:cs typeface="Georgia"/>
                <a:sym typeface="Georg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9" name="Google Shape;59;p9"/>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0" name="Google Shape;60;p9"/>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1" name="Google Shape;61;p9"/>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2" name="Shape 62"/>
        <p:cNvGrpSpPr/>
        <p:nvPr/>
      </p:nvGrpSpPr>
      <p:grpSpPr>
        <a:xfrm>
          <a:off x="0" y="0"/>
          <a:ext cx="0" cy="0"/>
          <a:chOff x="0" y="0"/>
          <a:chExt cx="0" cy="0"/>
        </a:xfrm>
      </p:grpSpPr>
      <p:sp>
        <p:nvSpPr>
          <p:cNvPr id="63" name="Google Shape;63;p10"/>
          <p:cNvSpPr txBox="1"/>
          <p:nvPr>
            <p:ph type="ctrTitle"/>
          </p:nvPr>
        </p:nvSpPr>
        <p:spPr>
          <a:xfrm>
            <a:off x="685800" y="1594485"/>
            <a:ext cx="7772400" cy="1080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000">
                <a:solidFill>
                  <a:srgbClr val="B50346"/>
                </a:solidFill>
                <a:latin typeface="Georgia"/>
                <a:ea typeface="Georgia"/>
                <a:cs typeface="Georgia"/>
                <a:sym typeface="Georg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0"/>
          <p:cNvSpPr txBox="1"/>
          <p:nvPr>
            <p:ph idx="1" type="subTitle"/>
          </p:nvPr>
        </p:nvSpPr>
        <p:spPr>
          <a:xfrm>
            <a:off x="1371600" y="2880360"/>
            <a:ext cx="6400800" cy="12858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1" i="0" sz="1400">
                <a:solidFill>
                  <a:srgbClr val="B50346"/>
                </a:solidFill>
                <a:latin typeface="Georgia"/>
                <a:ea typeface="Georgia"/>
                <a:cs typeface="Georgia"/>
                <a:sym typeface="Georgia"/>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0"/>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6" name="Google Shape;66;p10"/>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7" name="Google Shape;67;p10"/>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8" name="Shape 68"/>
        <p:cNvGrpSpPr/>
        <p:nvPr/>
      </p:nvGrpSpPr>
      <p:grpSpPr>
        <a:xfrm>
          <a:off x="0" y="0"/>
          <a:ext cx="0" cy="0"/>
          <a:chOff x="0" y="0"/>
          <a:chExt cx="0" cy="0"/>
        </a:xfrm>
      </p:grpSpPr>
      <p:sp>
        <p:nvSpPr>
          <p:cNvPr id="69" name="Google Shape;69;p11"/>
          <p:cNvSpPr txBox="1"/>
          <p:nvPr>
            <p:ph type="title"/>
          </p:nvPr>
        </p:nvSpPr>
        <p:spPr>
          <a:xfrm>
            <a:off x="1589722" y="479774"/>
            <a:ext cx="6217500" cy="481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000">
                <a:solidFill>
                  <a:srgbClr val="B50346"/>
                </a:solidFill>
                <a:latin typeface="Georgia"/>
                <a:ea typeface="Georgia"/>
                <a:cs typeface="Georgia"/>
                <a:sym typeface="Georg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1"/>
          <p:cNvSpPr txBox="1"/>
          <p:nvPr>
            <p:ph idx="1" type="body"/>
          </p:nvPr>
        </p:nvSpPr>
        <p:spPr>
          <a:xfrm>
            <a:off x="457200" y="1183005"/>
            <a:ext cx="3977700" cy="33948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71" name="Google Shape;71;p11"/>
          <p:cNvSpPr txBox="1"/>
          <p:nvPr>
            <p:ph idx="2" type="body"/>
          </p:nvPr>
        </p:nvSpPr>
        <p:spPr>
          <a:xfrm>
            <a:off x="4709160" y="1183005"/>
            <a:ext cx="3977700" cy="33948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72" name="Google Shape;72;p11"/>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3" name="Google Shape;73;p11"/>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1"/>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75" name="Shape 75"/>
        <p:cNvGrpSpPr/>
        <p:nvPr/>
      </p:nvGrpSpPr>
      <p:grpSpPr>
        <a:xfrm>
          <a:off x="0" y="0"/>
          <a:ext cx="0" cy="0"/>
          <a:chOff x="0" y="0"/>
          <a:chExt cx="0" cy="0"/>
        </a:xfrm>
      </p:grpSpPr>
      <p:sp>
        <p:nvSpPr>
          <p:cNvPr id="76" name="Google Shape;76;p12"/>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7" name="Google Shape;77;p12"/>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8" name="Google Shape;78;p12"/>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9ae23aebc_27_0)">
  <p:cSld name="Generated (g3f9ae23aebc_27_0)">
    <p:spTree>
      <p:nvGrpSpPr>
        <p:cNvPr id="79" name="Shape 7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9ae23aebc_20_0)">
  <p:cSld name="Generated (g3f9ae23aebc_20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9" Type="http://schemas.openxmlformats.org/officeDocument/2006/relationships/theme" Target="../theme/theme3.xml"/><Relationship Id="rId5" Type="http://schemas.openxmlformats.org/officeDocument/2006/relationships/slideLayout" Target="../slideLayouts/slideLayout9.xml"/><Relationship Id="rId6" Type="http://schemas.openxmlformats.org/officeDocument/2006/relationships/slideLayout" Target="../slideLayouts/slideLayout10.xml"/><Relationship Id="rId7" Type="http://schemas.openxmlformats.org/officeDocument/2006/relationships/slideLayout" Target="../slideLayouts/slideLayout11.xml"/><Relationship Id="rId8"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507206" y="0"/>
            <a:ext cx="878681" cy="1000125"/>
          </a:xfrm>
          <a:prstGeom prst="rect">
            <a:avLst/>
          </a:prstGeom>
          <a:noFill/>
          <a:ln>
            <a:noFill/>
          </a:ln>
        </p:spPr>
      </p:pic>
      <p:sp>
        <p:nvSpPr>
          <p:cNvPr id="7" name="Google Shape;7;p1"/>
          <p:cNvSpPr txBox="1"/>
          <p:nvPr>
            <p:ph type="title"/>
          </p:nvPr>
        </p:nvSpPr>
        <p:spPr>
          <a:xfrm>
            <a:off x="1589722" y="479774"/>
            <a:ext cx="6217444" cy="48148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100"/>
              <a:buNone/>
              <a:defRPr b="0" i="0" sz="3000" u="none" cap="none" strike="noStrike">
                <a:solidFill>
                  <a:srgbClr val="B50346"/>
                </a:solidFill>
                <a:latin typeface="Georgia"/>
                <a:ea typeface="Georgia"/>
                <a:cs typeface="Georgia"/>
                <a:sym typeface="Georgi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8" name="Google Shape;8;p1"/>
          <p:cNvSpPr txBox="1"/>
          <p:nvPr>
            <p:ph idx="1" type="body"/>
          </p:nvPr>
        </p:nvSpPr>
        <p:spPr>
          <a:xfrm>
            <a:off x="534829" y="1283330"/>
            <a:ext cx="4764881" cy="218884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100"/>
              <a:buNone/>
              <a:defRPr b="1" i="0" sz="1400" u="none" cap="none" strike="noStrike">
                <a:solidFill>
                  <a:srgbClr val="B50346"/>
                </a:solidFill>
                <a:latin typeface="Georgia"/>
                <a:ea typeface="Georgia"/>
                <a:cs typeface="Georgia"/>
                <a:sym typeface="Georgia"/>
              </a:defRPr>
            </a:lvl1pPr>
            <a:lvl2pPr indent="-228600" lvl="1" marL="914400" marR="0" rtl="0" algn="l">
              <a:spcBef>
                <a:spcPts val="0"/>
              </a:spcBef>
              <a:spcAft>
                <a:spcPts val="0"/>
              </a:spcAft>
              <a:buSzPts val="1100"/>
              <a:buNone/>
              <a:defRPr b="0" i="0" sz="1400" u="none" cap="none" strike="noStrike">
                <a:latin typeface="Calibri"/>
                <a:ea typeface="Calibri"/>
                <a:cs typeface="Calibri"/>
                <a:sym typeface="Calibri"/>
              </a:defRPr>
            </a:lvl2pPr>
            <a:lvl3pPr indent="-228600" lvl="2" marL="1371600" marR="0" rtl="0" algn="l">
              <a:spcBef>
                <a:spcPts val="0"/>
              </a:spcBef>
              <a:spcAft>
                <a:spcPts val="0"/>
              </a:spcAft>
              <a:buSzPts val="1100"/>
              <a:buNone/>
              <a:defRPr b="0" i="0" sz="1400" u="none" cap="none" strike="noStrike">
                <a:latin typeface="Calibri"/>
                <a:ea typeface="Calibri"/>
                <a:cs typeface="Calibri"/>
                <a:sym typeface="Calibri"/>
              </a:defRPr>
            </a:lvl3pPr>
            <a:lvl4pPr indent="-228600" lvl="3" marL="1828800" marR="0" rtl="0" algn="l">
              <a:spcBef>
                <a:spcPts val="0"/>
              </a:spcBef>
              <a:spcAft>
                <a:spcPts val="0"/>
              </a:spcAft>
              <a:buSzPts val="1100"/>
              <a:buNone/>
              <a:defRPr b="0" i="0" sz="1400" u="none" cap="none" strike="noStrike">
                <a:latin typeface="Calibri"/>
                <a:ea typeface="Calibri"/>
                <a:cs typeface="Calibri"/>
                <a:sym typeface="Calibri"/>
              </a:defRPr>
            </a:lvl4pPr>
            <a:lvl5pPr indent="-228600" lvl="4" marL="2286000" marR="0" rtl="0" algn="l">
              <a:spcBef>
                <a:spcPts val="0"/>
              </a:spcBef>
              <a:spcAft>
                <a:spcPts val="0"/>
              </a:spcAft>
              <a:buSzPts val="1100"/>
              <a:buNone/>
              <a:defRPr b="0" i="0" sz="1400" u="none" cap="none" strike="noStrike">
                <a:latin typeface="Calibri"/>
                <a:ea typeface="Calibri"/>
                <a:cs typeface="Calibri"/>
                <a:sym typeface="Calibri"/>
              </a:defRPr>
            </a:lvl5pPr>
            <a:lvl6pPr indent="-228600" lvl="5" marL="2743200" marR="0" rtl="0" algn="l">
              <a:spcBef>
                <a:spcPts val="0"/>
              </a:spcBef>
              <a:spcAft>
                <a:spcPts val="0"/>
              </a:spcAft>
              <a:buSzPts val="1100"/>
              <a:buNone/>
              <a:defRPr b="0" i="0" sz="1400" u="none" cap="none" strike="noStrike">
                <a:latin typeface="Calibri"/>
                <a:ea typeface="Calibri"/>
                <a:cs typeface="Calibri"/>
                <a:sym typeface="Calibri"/>
              </a:defRPr>
            </a:lvl6pPr>
            <a:lvl7pPr indent="-228600" lvl="6" marL="3200400" marR="0" rtl="0" algn="l">
              <a:spcBef>
                <a:spcPts val="0"/>
              </a:spcBef>
              <a:spcAft>
                <a:spcPts val="0"/>
              </a:spcAft>
              <a:buSzPts val="1100"/>
              <a:buNone/>
              <a:defRPr b="0" i="0" sz="1400" u="none" cap="none" strike="noStrike">
                <a:latin typeface="Calibri"/>
                <a:ea typeface="Calibri"/>
                <a:cs typeface="Calibri"/>
                <a:sym typeface="Calibri"/>
              </a:defRPr>
            </a:lvl7pPr>
            <a:lvl8pPr indent="-228600" lvl="7" marL="3657600" marR="0" rtl="0" algn="l">
              <a:spcBef>
                <a:spcPts val="0"/>
              </a:spcBef>
              <a:spcAft>
                <a:spcPts val="0"/>
              </a:spcAft>
              <a:buSzPts val="1100"/>
              <a:buNone/>
              <a:defRPr b="0" i="0" sz="1400" u="none" cap="none" strike="noStrike">
                <a:latin typeface="Calibri"/>
                <a:ea typeface="Calibri"/>
                <a:cs typeface="Calibri"/>
                <a:sym typeface="Calibri"/>
              </a:defRPr>
            </a:lvl8pPr>
            <a:lvl9pPr indent="-228600" lvl="8" marL="4114800" marR="0" rtl="0" algn="l">
              <a:spcBef>
                <a:spcPts val="0"/>
              </a:spcBef>
              <a:spcAft>
                <a:spcPts val="0"/>
              </a:spcAft>
              <a:buSzPts val="1100"/>
              <a:buNone/>
              <a:defRPr b="0" i="0" sz="1400" u="none" cap="none" strike="noStrike">
                <a:latin typeface="Calibri"/>
                <a:ea typeface="Calibri"/>
                <a:cs typeface="Calibri"/>
                <a:sym typeface="Calibri"/>
              </a:defRPr>
            </a:lvl9pPr>
          </a:lstStyle>
          <a:p/>
        </p:txBody>
      </p:sp>
      <p:sp>
        <p:nvSpPr>
          <p:cNvPr id="9" name="Google Shape;9;p1"/>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sz="1400">
                <a:solidFill>
                  <a:srgbClr val="888888"/>
                </a:solidFil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0" name="Google Shape;10;p1"/>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sz="1400">
                <a:solidFill>
                  <a:srgbClr val="888888"/>
                </a:solidFil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1" name="Google Shape;11;p1"/>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sz="1400">
                <a:solidFill>
                  <a:srgbClr val="888888"/>
                </a:solidFill>
              </a:defRPr>
            </a:lvl1pPr>
            <a:lvl2pPr indent="0" lvl="1" algn="r">
              <a:spcBef>
                <a:spcPts val="0"/>
              </a:spcBef>
              <a:buNone/>
              <a:defRPr sz="1400">
                <a:solidFill>
                  <a:srgbClr val="888888"/>
                </a:solidFill>
              </a:defRPr>
            </a:lvl2pPr>
            <a:lvl3pPr indent="0" lvl="2" algn="r">
              <a:spcBef>
                <a:spcPts val="0"/>
              </a:spcBef>
              <a:buNone/>
              <a:defRPr sz="1400">
                <a:solidFill>
                  <a:srgbClr val="888888"/>
                </a:solidFill>
              </a:defRPr>
            </a:lvl3pPr>
            <a:lvl4pPr indent="0" lvl="3" algn="r">
              <a:spcBef>
                <a:spcPts val="0"/>
              </a:spcBef>
              <a:buNone/>
              <a:defRPr sz="1400">
                <a:solidFill>
                  <a:srgbClr val="888888"/>
                </a:solidFill>
              </a:defRPr>
            </a:lvl4pPr>
            <a:lvl5pPr indent="0" lvl="4" algn="r">
              <a:spcBef>
                <a:spcPts val="0"/>
              </a:spcBef>
              <a:buNone/>
              <a:defRPr sz="1400">
                <a:solidFill>
                  <a:srgbClr val="888888"/>
                </a:solidFill>
              </a:defRPr>
            </a:lvl5pPr>
            <a:lvl6pPr indent="0" lvl="5" algn="r">
              <a:spcBef>
                <a:spcPts val="0"/>
              </a:spcBef>
              <a:buNone/>
              <a:defRPr sz="1400">
                <a:solidFill>
                  <a:srgbClr val="888888"/>
                </a:solidFill>
              </a:defRPr>
            </a:lvl6pPr>
            <a:lvl7pPr indent="0" lvl="6" algn="r">
              <a:spcBef>
                <a:spcPts val="0"/>
              </a:spcBef>
              <a:buNone/>
              <a:defRPr sz="1400">
                <a:solidFill>
                  <a:srgbClr val="888888"/>
                </a:solidFill>
              </a:defRPr>
            </a:lvl7pPr>
            <a:lvl8pPr indent="0" lvl="7" algn="r">
              <a:spcBef>
                <a:spcPts val="0"/>
              </a:spcBef>
              <a:buNone/>
              <a:defRPr sz="1400">
                <a:solidFill>
                  <a:srgbClr val="888888"/>
                </a:solidFill>
              </a:defRPr>
            </a:lvl8pPr>
            <a:lvl9pPr indent="0" lvl="8" algn="r">
              <a:spcBef>
                <a:spcPts val="0"/>
              </a:spcBef>
              <a:buNone/>
              <a:defRPr sz="1400">
                <a:solidFill>
                  <a:srgbClr val="888888"/>
                </a:solidFill>
              </a:defRPr>
            </a:lvl9pPr>
          </a:lstStyle>
          <a:p>
            <a:pPr indent="0" lvl="0" marL="0" rtl="0" algn="r">
              <a:spcBef>
                <a:spcPts val="0"/>
              </a:spcBef>
              <a:spcAft>
                <a:spcPts val="0"/>
              </a:spcAft>
              <a:buNone/>
            </a:pPr>
            <a:fld id="{00000000-1234-1234-1234-123412341234}" type="slidenum">
              <a:rPr lang="en-GB"/>
              <a:t>‹#›</a:t>
            </a:fld>
            <a:endParaRPr sz="11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 name="Shape 42"/>
        <p:cNvGrpSpPr/>
        <p:nvPr/>
      </p:nvGrpSpPr>
      <p:grpSpPr>
        <a:xfrm>
          <a:off x="0" y="0"/>
          <a:ext cx="0" cy="0"/>
          <a:chOff x="0" y="0"/>
          <a:chExt cx="0" cy="0"/>
        </a:xfrm>
      </p:grpSpPr>
      <p:pic>
        <p:nvPicPr>
          <p:cNvPr id="43" name="Google Shape;43;p7"/>
          <p:cNvPicPr preferRelativeResize="0"/>
          <p:nvPr/>
        </p:nvPicPr>
        <p:blipFill rotWithShape="1">
          <a:blip r:embed="rId1">
            <a:alphaModFix/>
          </a:blip>
          <a:srcRect b="0" l="0" r="0" t="0"/>
          <a:stretch/>
        </p:blipFill>
        <p:spPr>
          <a:xfrm>
            <a:off x="507206" y="0"/>
            <a:ext cx="878681" cy="1000125"/>
          </a:xfrm>
          <a:prstGeom prst="rect">
            <a:avLst/>
          </a:prstGeom>
          <a:noFill/>
          <a:ln>
            <a:noFill/>
          </a:ln>
        </p:spPr>
      </p:pic>
      <p:sp>
        <p:nvSpPr>
          <p:cNvPr id="44" name="Google Shape;44;p7"/>
          <p:cNvSpPr txBox="1"/>
          <p:nvPr>
            <p:ph type="title"/>
          </p:nvPr>
        </p:nvSpPr>
        <p:spPr>
          <a:xfrm>
            <a:off x="1589722" y="479774"/>
            <a:ext cx="6217500" cy="4815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100"/>
              <a:buNone/>
              <a:defRPr b="0" i="0" sz="3000" u="none" cap="none" strike="noStrike">
                <a:solidFill>
                  <a:srgbClr val="B50346"/>
                </a:solidFill>
                <a:latin typeface="Georgia"/>
                <a:ea typeface="Georgia"/>
                <a:cs typeface="Georgia"/>
                <a:sym typeface="Georgi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45" name="Google Shape;45;p7"/>
          <p:cNvSpPr txBox="1"/>
          <p:nvPr>
            <p:ph idx="1" type="body"/>
          </p:nvPr>
        </p:nvSpPr>
        <p:spPr>
          <a:xfrm>
            <a:off x="534829" y="1283329"/>
            <a:ext cx="4764900" cy="218880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100"/>
              <a:buNone/>
              <a:defRPr b="1" i="0" sz="1400" u="none" cap="none" strike="noStrike">
                <a:solidFill>
                  <a:srgbClr val="B50346"/>
                </a:solidFill>
                <a:latin typeface="Georgia"/>
                <a:ea typeface="Georgia"/>
                <a:cs typeface="Georgia"/>
                <a:sym typeface="Georgia"/>
              </a:defRPr>
            </a:lvl1pPr>
            <a:lvl2pPr indent="-228600" lvl="1" marL="914400" marR="0" rtl="0" algn="l">
              <a:spcBef>
                <a:spcPts val="0"/>
              </a:spcBef>
              <a:spcAft>
                <a:spcPts val="0"/>
              </a:spcAft>
              <a:buSzPts val="1100"/>
              <a:buNone/>
              <a:defRPr b="0" i="0" sz="1400" u="none" cap="none" strike="noStrike">
                <a:latin typeface="Calibri"/>
                <a:ea typeface="Calibri"/>
                <a:cs typeface="Calibri"/>
                <a:sym typeface="Calibri"/>
              </a:defRPr>
            </a:lvl2pPr>
            <a:lvl3pPr indent="-228600" lvl="2" marL="1371600" marR="0" rtl="0" algn="l">
              <a:spcBef>
                <a:spcPts val="0"/>
              </a:spcBef>
              <a:spcAft>
                <a:spcPts val="0"/>
              </a:spcAft>
              <a:buSzPts val="1100"/>
              <a:buNone/>
              <a:defRPr b="0" i="0" sz="1400" u="none" cap="none" strike="noStrike">
                <a:latin typeface="Calibri"/>
                <a:ea typeface="Calibri"/>
                <a:cs typeface="Calibri"/>
                <a:sym typeface="Calibri"/>
              </a:defRPr>
            </a:lvl3pPr>
            <a:lvl4pPr indent="-228600" lvl="3" marL="1828800" marR="0" rtl="0" algn="l">
              <a:spcBef>
                <a:spcPts val="0"/>
              </a:spcBef>
              <a:spcAft>
                <a:spcPts val="0"/>
              </a:spcAft>
              <a:buSzPts val="1100"/>
              <a:buNone/>
              <a:defRPr b="0" i="0" sz="1400" u="none" cap="none" strike="noStrike">
                <a:latin typeface="Calibri"/>
                <a:ea typeface="Calibri"/>
                <a:cs typeface="Calibri"/>
                <a:sym typeface="Calibri"/>
              </a:defRPr>
            </a:lvl4pPr>
            <a:lvl5pPr indent="-228600" lvl="4" marL="2286000" marR="0" rtl="0" algn="l">
              <a:spcBef>
                <a:spcPts val="0"/>
              </a:spcBef>
              <a:spcAft>
                <a:spcPts val="0"/>
              </a:spcAft>
              <a:buSzPts val="1100"/>
              <a:buNone/>
              <a:defRPr b="0" i="0" sz="1400" u="none" cap="none" strike="noStrike">
                <a:latin typeface="Calibri"/>
                <a:ea typeface="Calibri"/>
                <a:cs typeface="Calibri"/>
                <a:sym typeface="Calibri"/>
              </a:defRPr>
            </a:lvl5pPr>
            <a:lvl6pPr indent="-228600" lvl="5" marL="2743200" marR="0" rtl="0" algn="l">
              <a:spcBef>
                <a:spcPts val="0"/>
              </a:spcBef>
              <a:spcAft>
                <a:spcPts val="0"/>
              </a:spcAft>
              <a:buSzPts val="1100"/>
              <a:buNone/>
              <a:defRPr b="0" i="0" sz="1400" u="none" cap="none" strike="noStrike">
                <a:latin typeface="Calibri"/>
                <a:ea typeface="Calibri"/>
                <a:cs typeface="Calibri"/>
                <a:sym typeface="Calibri"/>
              </a:defRPr>
            </a:lvl6pPr>
            <a:lvl7pPr indent="-228600" lvl="6" marL="3200400" marR="0" rtl="0" algn="l">
              <a:spcBef>
                <a:spcPts val="0"/>
              </a:spcBef>
              <a:spcAft>
                <a:spcPts val="0"/>
              </a:spcAft>
              <a:buSzPts val="1100"/>
              <a:buNone/>
              <a:defRPr b="0" i="0" sz="1400" u="none" cap="none" strike="noStrike">
                <a:latin typeface="Calibri"/>
                <a:ea typeface="Calibri"/>
                <a:cs typeface="Calibri"/>
                <a:sym typeface="Calibri"/>
              </a:defRPr>
            </a:lvl7pPr>
            <a:lvl8pPr indent="-228600" lvl="7" marL="3657600" marR="0" rtl="0" algn="l">
              <a:spcBef>
                <a:spcPts val="0"/>
              </a:spcBef>
              <a:spcAft>
                <a:spcPts val="0"/>
              </a:spcAft>
              <a:buSzPts val="1100"/>
              <a:buNone/>
              <a:defRPr b="0" i="0" sz="1400" u="none" cap="none" strike="noStrike">
                <a:latin typeface="Calibri"/>
                <a:ea typeface="Calibri"/>
                <a:cs typeface="Calibri"/>
                <a:sym typeface="Calibri"/>
              </a:defRPr>
            </a:lvl8pPr>
            <a:lvl9pPr indent="-228600" lvl="8" marL="4114800" marR="0" rtl="0" algn="l">
              <a:spcBef>
                <a:spcPts val="0"/>
              </a:spcBef>
              <a:spcAft>
                <a:spcPts val="0"/>
              </a:spcAft>
              <a:buSzPts val="1100"/>
              <a:buNone/>
              <a:defRPr b="0" i="0" sz="1400" u="none" cap="none" strike="noStrike">
                <a:latin typeface="Calibri"/>
                <a:ea typeface="Calibri"/>
                <a:cs typeface="Calibri"/>
                <a:sym typeface="Calibri"/>
              </a:defRPr>
            </a:lvl9pPr>
          </a:lstStyle>
          <a:p/>
        </p:txBody>
      </p:sp>
      <p:sp>
        <p:nvSpPr>
          <p:cNvPr id="46" name="Google Shape;46;p7"/>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sz="1400">
                <a:solidFill>
                  <a:srgbClr val="888888"/>
                </a:solidFil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47" name="Google Shape;47;p7"/>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sz="1400">
                <a:solidFill>
                  <a:srgbClr val="888888"/>
                </a:solidFil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48" name="Google Shape;48;p7"/>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algn="r">
              <a:spcBef>
                <a:spcPts val="0"/>
              </a:spcBef>
              <a:buNone/>
              <a:defRPr sz="1400">
                <a:solidFill>
                  <a:srgbClr val="888888"/>
                </a:solidFill>
              </a:defRPr>
            </a:lvl1pPr>
            <a:lvl2pPr indent="0" lvl="1" algn="r">
              <a:spcBef>
                <a:spcPts val="0"/>
              </a:spcBef>
              <a:buNone/>
              <a:defRPr sz="1400">
                <a:solidFill>
                  <a:srgbClr val="888888"/>
                </a:solidFill>
              </a:defRPr>
            </a:lvl2pPr>
            <a:lvl3pPr indent="0" lvl="2" algn="r">
              <a:spcBef>
                <a:spcPts val="0"/>
              </a:spcBef>
              <a:buNone/>
              <a:defRPr sz="1400">
                <a:solidFill>
                  <a:srgbClr val="888888"/>
                </a:solidFill>
              </a:defRPr>
            </a:lvl3pPr>
            <a:lvl4pPr indent="0" lvl="3" algn="r">
              <a:spcBef>
                <a:spcPts val="0"/>
              </a:spcBef>
              <a:buNone/>
              <a:defRPr sz="1400">
                <a:solidFill>
                  <a:srgbClr val="888888"/>
                </a:solidFill>
              </a:defRPr>
            </a:lvl4pPr>
            <a:lvl5pPr indent="0" lvl="4" algn="r">
              <a:spcBef>
                <a:spcPts val="0"/>
              </a:spcBef>
              <a:buNone/>
              <a:defRPr sz="1400">
                <a:solidFill>
                  <a:srgbClr val="888888"/>
                </a:solidFill>
              </a:defRPr>
            </a:lvl5pPr>
            <a:lvl6pPr indent="0" lvl="5" algn="r">
              <a:spcBef>
                <a:spcPts val="0"/>
              </a:spcBef>
              <a:buNone/>
              <a:defRPr sz="1400">
                <a:solidFill>
                  <a:srgbClr val="888888"/>
                </a:solidFill>
              </a:defRPr>
            </a:lvl6pPr>
            <a:lvl7pPr indent="0" lvl="6" algn="r">
              <a:spcBef>
                <a:spcPts val="0"/>
              </a:spcBef>
              <a:buNone/>
              <a:defRPr sz="1400">
                <a:solidFill>
                  <a:srgbClr val="888888"/>
                </a:solidFill>
              </a:defRPr>
            </a:lvl7pPr>
            <a:lvl8pPr indent="0" lvl="7" algn="r">
              <a:spcBef>
                <a:spcPts val="0"/>
              </a:spcBef>
              <a:buNone/>
              <a:defRPr sz="1400">
                <a:solidFill>
                  <a:srgbClr val="888888"/>
                </a:solidFill>
              </a:defRPr>
            </a:lvl8pPr>
            <a:lvl9pPr indent="0" lvl="8" algn="r">
              <a:spcBef>
                <a:spcPts val="0"/>
              </a:spcBef>
              <a:buNone/>
              <a:defRPr sz="1400">
                <a:solidFill>
                  <a:srgbClr val="888888"/>
                </a:solidFill>
              </a:defRPr>
            </a:lvl9pPr>
          </a:lstStyle>
          <a:p>
            <a:pPr indent="0" lvl="0" marL="0" rtl="0" algn="r">
              <a:spcBef>
                <a:spcPts val="0"/>
              </a:spcBef>
              <a:spcAft>
                <a:spcPts val="0"/>
              </a:spcAft>
              <a:buNone/>
            </a:pPr>
            <a:fld id="{00000000-1234-1234-1234-123412341234}" type="slidenum">
              <a:rPr lang="en-GB"/>
              <a:t>‹#›</a:t>
            </a:fld>
            <a:endParaRPr sz="1100">
              <a:solidFill>
                <a:srgbClr val="000000"/>
              </a:solidFill>
            </a:endParaRPr>
          </a:p>
        </p:txBody>
      </p:sp>
    </p:spTree>
  </p:cSld>
  <p:clrMap accent1="accent1" accent2="accent2" accent3="accent3" accent4="accent4" accent5="accent5" accent6="accent6" bg1="lt1" bg2="dk2" tx1="dk1" tx2="lt2" folHlink="folHlink" hlink="hlink"/>
  <p:sldLayoutIdLst>
    <p:sldLayoutId id="2147483653" r:id="rId2"/>
    <p:sldLayoutId id="2147483654" r:id="rId3"/>
    <p:sldLayoutId id="2147483655" r:id="rId4"/>
    <p:sldLayoutId id="2147483656" r:id="rId5"/>
    <p:sldLayoutId id="2147483657" r:id="rId6"/>
    <p:sldLayoutId id="2147483658" r:id="rId7"/>
    <p:sldLayoutId id="2147483659"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https://ember-energy.org/data/yearly-electricity-data/" TargetMode="External"/><Relationship Id="rId4" Type="http://schemas.openxmlformats.org/officeDocument/2006/relationships/hyperlink" Target="https://app.electricitymaps.com/api/docs/quick-start#introductio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4" name="Shape 84"/>
        <p:cNvGrpSpPr/>
        <p:nvPr/>
      </p:nvGrpSpPr>
      <p:grpSpPr>
        <a:xfrm>
          <a:off x="0" y="0"/>
          <a:ext cx="0" cy="0"/>
          <a:chOff x="0" y="0"/>
          <a:chExt cx="0" cy="0"/>
        </a:xfrm>
      </p:grpSpPr>
      <p:pic>
        <p:nvPicPr>
          <p:cNvPr id="85" name="Google Shape;85;p15"/>
          <p:cNvPicPr preferRelativeResize="0"/>
          <p:nvPr/>
        </p:nvPicPr>
        <p:blipFill rotWithShape="1">
          <a:blip r:embed="rId3">
            <a:alphaModFix/>
          </a:blip>
          <a:srcRect b="0" l="0" r="0" t="0"/>
          <a:stretch/>
        </p:blipFill>
        <p:spPr>
          <a:xfrm>
            <a:off x="4371975" y="2670877"/>
            <a:ext cx="4772025" cy="2321719"/>
          </a:xfrm>
          <a:prstGeom prst="rect">
            <a:avLst/>
          </a:prstGeom>
          <a:noFill/>
          <a:ln>
            <a:noFill/>
          </a:ln>
        </p:spPr>
      </p:pic>
      <p:pic>
        <p:nvPicPr>
          <p:cNvPr id="86" name="Google Shape;86;p15"/>
          <p:cNvPicPr preferRelativeResize="0"/>
          <p:nvPr/>
        </p:nvPicPr>
        <p:blipFill rotWithShape="1">
          <a:blip r:embed="rId4">
            <a:alphaModFix/>
          </a:blip>
          <a:srcRect b="0" l="0" r="0" t="0"/>
          <a:stretch/>
        </p:blipFill>
        <p:spPr>
          <a:xfrm>
            <a:off x="507206" y="0"/>
            <a:ext cx="878681" cy="1000125"/>
          </a:xfrm>
          <a:prstGeom prst="rect">
            <a:avLst/>
          </a:prstGeom>
          <a:noFill/>
          <a:ln>
            <a:noFill/>
          </a:ln>
        </p:spPr>
      </p:pic>
      <p:sp>
        <p:nvSpPr>
          <p:cNvPr id="87" name="Google Shape;87;p15"/>
          <p:cNvSpPr txBox="1"/>
          <p:nvPr/>
        </p:nvSpPr>
        <p:spPr>
          <a:xfrm>
            <a:off x="485775" y="1095375"/>
            <a:ext cx="78180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125">
                <a:solidFill>
                  <a:srgbClr val="B50346"/>
                </a:solidFill>
                <a:latin typeface="Times New Roman"/>
                <a:ea typeface="Times New Roman"/>
                <a:cs typeface="Times New Roman"/>
                <a:sym typeface="Times New Roman"/>
              </a:rPr>
              <a:t>Mid Review Presentation </a:t>
            </a:r>
            <a:r>
              <a:rPr b="1" lang="en-GB" sz="1125">
                <a:solidFill>
                  <a:srgbClr val="B50346"/>
                </a:solidFill>
                <a:latin typeface="Times New Roman"/>
                <a:ea typeface="Times New Roman"/>
                <a:cs typeface="Times New Roman"/>
                <a:sym typeface="Times New Roman"/>
              </a:rPr>
              <a:t>[Group 29]</a:t>
            </a:r>
            <a:endParaRPr b="1" sz="1495">
              <a:latin typeface="Times New Roman"/>
              <a:ea typeface="Times New Roman"/>
              <a:cs typeface="Times New Roman"/>
              <a:sym typeface="Times New Roman"/>
            </a:endParaRPr>
          </a:p>
          <a:p>
            <a:pPr indent="0" lvl="0" marL="0" rtl="0" algn="l">
              <a:spcBef>
                <a:spcPts val="0"/>
              </a:spcBef>
              <a:spcAft>
                <a:spcPts val="0"/>
              </a:spcAft>
              <a:buNone/>
            </a:pPr>
            <a:r>
              <a:rPr b="1" lang="en-GB" sz="2405">
                <a:solidFill>
                  <a:srgbClr val="B50346"/>
                </a:solidFill>
                <a:latin typeface="Times New Roman"/>
                <a:ea typeface="Times New Roman"/>
                <a:cs typeface="Times New Roman"/>
                <a:sym typeface="Times New Roman"/>
              </a:rPr>
              <a:t>Thermal - Carbon Aware Dynamic Scheduling in Kubernetes for Reduced Grid and Facility-level Emissions.</a:t>
            </a:r>
            <a:endParaRPr b="1" sz="2405">
              <a:solidFill>
                <a:srgbClr val="B50346"/>
              </a:solidFill>
              <a:latin typeface="Times New Roman"/>
              <a:ea typeface="Times New Roman"/>
              <a:cs typeface="Times New Roman"/>
              <a:sym typeface="Times New Roman"/>
            </a:endParaRPr>
          </a:p>
        </p:txBody>
      </p:sp>
      <p:cxnSp>
        <p:nvCxnSpPr>
          <p:cNvPr id="88" name="Google Shape;88;p15"/>
          <p:cNvCxnSpPr/>
          <p:nvPr/>
        </p:nvCxnSpPr>
        <p:spPr>
          <a:xfrm flipH="1" rot="10800000">
            <a:off x="474975" y="2181975"/>
            <a:ext cx="7839600" cy="17400"/>
          </a:xfrm>
          <a:prstGeom prst="straightConnector1">
            <a:avLst/>
          </a:prstGeom>
          <a:solidFill>
            <a:srgbClr val="FFFFFF"/>
          </a:solidFill>
          <a:ln cap="rnd" cmpd="sng" w="19050">
            <a:solidFill>
              <a:srgbClr val="B50346"/>
            </a:solidFill>
            <a:prstDash val="solid"/>
            <a:round/>
            <a:headEnd len="sm" w="sm" type="none"/>
            <a:tailEnd len="sm" w="sm" type="none"/>
          </a:ln>
        </p:spPr>
      </p:cxnSp>
      <p:grpSp>
        <p:nvGrpSpPr>
          <p:cNvPr id="89" name="Google Shape;89;p15"/>
          <p:cNvGrpSpPr/>
          <p:nvPr/>
        </p:nvGrpSpPr>
        <p:grpSpPr>
          <a:xfrm>
            <a:off x="474975" y="2571750"/>
            <a:ext cx="3651900" cy="1996100"/>
            <a:chOff x="474975" y="2475275"/>
            <a:chExt cx="3651900" cy="1996100"/>
          </a:xfrm>
        </p:grpSpPr>
        <p:sp>
          <p:nvSpPr>
            <p:cNvPr id="90" name="Google Shape;90;p15"/>
            <p:cNvSpPr txBox="1"/>
            <p:nvPr/>
          </p:nvSpPr>
          <p:spPr>
            <a:xfrm>
              <a:off x="485775" y="2475275"/>
              <a:ext cx="3641100" cy="1434000"/>
            </a:xfrm>
            <a:prstGeom prst="rect">
              <a:avLst/>
            </a:prstGeom>
            <a:solidFill>
              <a:schemeClr val="lt1"/>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1100">
                  <a:solidFill>
                    <a:schemeClr val="dk1"/>
                  </a:solidFill>
                  <a:latin typeface="Times New Roman"/>
                  <a:ea typeface="Times New Roman"/>
                  <a:cs typeface="Times New Roman"/>
                  <a:sym typeface="Times New Roman"/>
                </a:rPr>
                <a:t>Presented by </a:t>
              </a:r>
              <a:endParaRPr b="0" sz="1100">
                <a:solidFill>
                  <a:schemeClr val="dk1"/>
                </a:solidFill>
                <a:latin typeface="Times New Roman"/>
                <a:ea typeface="Times New Roman"/>
                <a:cs typeface="Times New Roman"/>
                <a:sym typeface="Times New Roman"/>
              </a:endParaRPr>
            </a:p>
            <a:p>
              <a:pPr indent="0" lvl="0" marL="0" rtl="0" algn="l">
                <a:spcBef>
                  <a:spcPts val="300"/>
                </a:spcBef>
                <a:spcAft>
                  <a:spcPts val="0"/>
                </a:spcAft>
                <a:buNone/>
              </a:pPr>
              <a:r>
                <a:rPr b="1" lang="en-GB" sz="1500">
                  <a:latin typeface="Times New Roman"/>
                  <a:ea typeface="Times New Roman"/>
                  <a:cs typeface="Times New Roman"/>
                  <a:sym typeface="Times New Roman"/>
                </a:rPr>
                <a:t>Aakhil Subair</a:t>
              </a:r>
              <a:r>
                <a:rPr b="1" lang="en-GB" sz="1100">
                  <a:solidFill>
                    <a:srgbClr val="000000"/>
                  </a:solidFill>
                  <a:latin typeface="Times New Roman"/>
                  <a:ea typeface="Times New Roman"/>
                  <a:cs typeface="Times New Roman"/>
                  <a:sym typeface="Times New Roman"/>
                </a:rPr>
                <a:t>   </a:t>
              </a:r>
              <a:r>
                <a:rPr b="0" lang="en-GB" sz="800">
                  <a:solidFill>
                    <a:srgbClr val="555555"/>
                  </a:solidFill>
                  <a:latin typeface="Arial"/>
                  <a:ea typeface="Arial"/>
                  <a:cs typeface="Arial"/>
                  <a:sym typeface="Arial"/>
                </a:rPr>
                <a:t>|  </a:t>
              </a:r>
              <a:r>
                <a:rPr b="0" lang="en-GB" sz="1000">
                  <a:solidFill>
                    <a:schemeClr val="dk1"/>
                  </a:solidFill>
                  <a:latin typeface="Arial"/>
                  <a:ea typeface="Arial"/>
                  <a:cs typeface="Arial"/>
                  <a:sym typeface="Arial"/>
                </a:rPr>
                <a:t>AM.SC.U4AIE23</a:t>
              </a:r>
              <a:r>
                <a:rPr lang="en-GB" sz="1000">
                  <a:solidFill>
                    <a:schemeClr val="dk1"/>
                  </a:solidFill>
                </a:rPr>
                <a:t>101</a:t>
              </a:r>
              <a:endParaRPr b="1" sz="1300">
                <a:solidFill>
                  <a:schemeClr val="dk1"/>
                </a:solidFill>
                <a:latin typeface="Times New Roman"/>
                <a:ea typeface="Times New Roman"/>
                <a:cs typeface="Times New Roman"/>
                <a:sym typeface="Times New Roman"/>
              </a:endParaRPr>
            </a:p>
            <a:p>
              <a:pPr indent="0" lvl="0" marL="0" rtl="0" algn="l">
                <a:spcBef>
                  <a:spcPts val="150"/>
                </a:spcBef>
                <a:spcAft>
                  <a:spcPts val="0"/>
                </a:spcAft>
                <a:buNone/>
              </a:pPr>
              <a:r>
                <a:rPr b="1" lang="en-GB" sz="1500">
                  <a:latin typeface="Times New Roman"/>
                  <a:ea typeface="Times New Roman"/>
                  <a:cs typeface="Times New Roman"/>
                  <a:sym typeface="Times New Roman"/>
                </a:rPr>
                <a:t>Jaydeep Dileep</a:t>
              </a:r>
              <a:r>
                <a:rPr b="1" lang="en-GB" sz="1100">
                  <a:solidFill>
                    <a:srgbClr val="000000"/>
                  </a:solidFill>
                  <a:latin typeface="Times New Roman"/>
                  <a:ea typeface="Times New Roman"/>
                  <a:cs typeface="Times New Roman"/>
                  <a:sym typeface="Times New Roman"/>
                </a:rPr>
                <a:t> </a:t>
              </a:r>
              <a:r>
                <a:rPr b="0" lang="en-GB" sz="800">
                  <a:solidFill>
                    <a:srgbClr val="555555"/>
                  </a:solidFill>
                  <a:latin typeface="Arial"/>
                  <a:ea typeface="Arial"/>
                  <a:cs typeface="Arial"/>
                  <a:sym typeface="Arial"/>
                </a:rPr>
                <a:t>|  </a:t>
              </a:r>
              <a:r>
                <a:rPr b="0" lang="en-GB" sz="1000">
                  <a:solidFill>
                    <a:schemeClr val="dk1"/>
                  </a:solidFill>
                  <a:latin typeface="Arial"/>
                  <a:ea typeface="Arial"/>
                  <a:cs typeface="Arial"/>
                  <a:sym typeface="Arial"/>
                </a:rPr>
                <a:t>AM.SC.U4AIE</a:t>
              </a:r>
              <a:r>
                <a:rPr lang="en-GB" sz="1000">
                  <a:solidFill>
                    <a:schemeClr val="dk1"/>
                  </a:solidFill>
                </a:rPr>
                <a:t>23114</a:t>
              </a:r>
              <a:endParaRPr sz="1000">
                <a:solidFill>
                  <a:schemeClr val="dk1"/>
                </a:solidFill>
              </a:endParaRPr>
            </a:p>
            <a:p>
              <a:pPr indent="0" lvl="0" marL="0" rtl="0" algn="l">
                <a:spcBef>
                  <a:spcPts val="0"/>
                </a:spcBef>
                <a:spcAft>
                  <a:spcPts val="0"/>
                </a:spcAft>
                <a:buNone/>
              </a:pPr>
              <a:r>
                <a:rPr b="1" lang="en-GB" sz="1500">
                  <a:solidFill>
                    <a:schemeClr val="dk1"/>
                  </a:solidFill>
                  <a:latin typeface="Times New Roman"/>
                  <a:ea typeface="Times New Roman"/>
                  <a:cs typeface="Times New Roman"/>
                  <a:sym typeface="Times New Roman"/>
                </a:rPr>
                <a:t>KR Karthik      </a:t>
              </a:r>
              <a:r>
                <a:rPr lang="en-GB" sz="800">
                  <a:solidFill>
                    <a:srgbClr val="555555"/>
                  </a:solidFill>
                </a:rPr>
                <a:t>|  </a:t>
              </a:r>
              <a:r>
                <a:rPr lang="en-GB" sz="1000">
                  <a:solidFill>
                    <a:schemeClr val="dk1"/>
                  </a:solidFill>
                </a:rPr>
                <a:t>AM.SC.U4AIE23116</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p:txBody>
        </p:sp>
        <p:sp>
          <p:nvSpPr>
            <p:cNvPr id="91" name="Google Shape;91;p15"/>
            <p:cNvSpPr txBox="1"/>
            <p:nvPr/>
          </p:nvSpPr>
          <p:spPr>
            <a:xfrm>
              <a:off x="474975" y="3682975"/>
              <a:ext cx="2826600" cy="788400"/>
            </a:xfrm>
            <a:prstGeom prst="rect">
              <a:avLst/>
            </a:prstGeom>
            <a:solidFill>
              <a:srgbClr val="F5F4F3"/>
            </a:solidFill>
            <a:ln>
              <a:noFill/>
            </a:ln>
          </p:spPr>
          <p:txBody>
            <a:bodyPr anchorCtr="0" anchor="t" bIns="0" lIns="0" spcFirstLastPara="1" rIns="0" wrap="square" tIns="0">
              <a:noAutofit/>
            </a:bodyPr>
            <a:lstStyle/>
            <a:p>
              <a:pPr indent="0" lvl="0" marL="0" rtl="0" algn="just">
                <a:spcBef>
                  <a:spcPts val="0"/>
                </a:spcBef>
                <a:spcAft>
                  <a:spcPts val="0"/>
                </a:spcAft>
                <a:buNone/>
              </a:pPr>
              <a:r>
                <a:rPr b="0" lang="en-GB" sz="900">
                  <a:solidFill>
                    <a:schemeClr val="dk1"/>
                  </a:solidFill>
                  <a:latin typeface="Times New Roman"/>
                  <a:ea typeface="Times New Roman"/>
                  <a:cs typeface="Times New Roman"/>
                  <a:sym typeface="Times New Roman"/>
                </a:rPr>
                <a:t>U</a:t>
              </a:r>
              <a:r>
                <a:rPr b="0" lang="en-GB" sz="1100">
                  <a:solidFill>
                    <a:schemeClr val="dk1"/>
                  </a:solidFill>
                  <a:latin typeface="Times New Roman"/>
                  <a:ea typeface="Times New Roman"/>
                  <a:cs typeface="Times New Roman"/>
                  <a:sym typeface="Times New Roman"/>
                </a:rPr>
                <a:t>nder the supervision of</a:t>
              </a:r>
              <a:endParaRPr b="0" sz="1100">
                <a:solidFill>
                  <a:schemeClr val="dk1"/>
                </a:solidFill>
                <a:latin typeface="Times New Roman"/>
                <a:ea typeface="Times New Roman"/>
                <a:cs typeface="Times New Roman"/>
                <a:sym typeface="Times New Roman"/>
              </a:endParaRPr>
            </a:p>
            <a:p>
              <a:pPr indent="0" lvl="0" marL="0" rtl="0" algn="just">
                <a:spcBef>
                  <a:spcPts val="300"/>
                </a:spcBef>
                <a:spcAft>
                  <a:spcPts val="0"/>
                </a:spcAft>
                <a:buNone/>
              </a:pPr>
              <a:r>
                <a:rPr b="1" lang="en-GB" sz="1500">
                  <a:solidFill>
                    <a:srgbClr val="B50346"/>
                  </a:solidFill>
                  <a:latin typeface="Times New Roman"/>
                  <a:ea typeface="Times New Roman"/>
                  <a:cs typeface="Times New Roman"/>
                  <a:sym typeface="Times New Roman"/>
                </a:rPr>
                <a:t>Dr. Reshma Raj R.S.</a:t>
              </a:r>
              <a:endParaRPr b="1" sz="1500">
                <a:solidFill>
                  <a:srgbClr val="B50346"/>
                </a:solidFill>
                <a:latin typeface="Times New Roman"/>
                <a:ea typeface="Times New Roman"/>
                <a:cs typeface="Times New Roman"/>
                <a:sym typeface="Times New Roman"/>
              </a:endParaRPr>
            </a:p>
            <a:p>
              <a:pPr indent="0" lvl="0" marL="0" rtl="0" algn="just">
                <a:spcBef>
                  <a:spcPts val="150"/>
                </a:spcBef>
                <a:spcAft>
                  <a:spcPts val="0"/>
                </a:spcAft>
                <a:buNone/>
              </a:pPr>
              <a:r>
                <a:rPr b="0" lang="en-GB" sz="1100">
                  <a:solidFill>
                    <a:schemeClr val="dk1"/>
                  </a:solidFill>
                  <a:latin typeface="Times New Roman"/>
                  <a:ea typeface="Times New Roman"/>
                  <a:cs typeface="Times New Roman"/>
                  <a:sym typeface="Times New Roman"/>
                </a:rPr>
                <a:t>Department of Computer Science &amp; Engineering</a:t>
              </a:r>
              <a:endParaRPr b="0" sz="1100">
                <a:solidFill>
                  <a:schemeClr val="dk1"/>
                </a:solidFill>
                <a:latin typeface="Times New Roman"/>
                <a:ea typeface="Times New Roman"/>
                <a:cs typeface="Times New Roman"/>
                <a:sym typeface="Times New Roman"/>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6"/>
          <p:cNvSpPr txBox="1"/>
          <p:nvPr/>
        </p:nvSpPr>
        <p:spPr>
          <a:xfrm>
            <a:off x="1600200" y="488950"/>
            <a:ext cx="7149600" cy="44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000">
                <a:solidFill>
                  <a:srgbClr val="B50346"/>
                </a:solidFill>
                <a:latin typeface="Times New Roman"/>
                <a:ea typeface="Times New Roman"/>
                <a:cs typeface="Times New Roman"/>
                <a:sym typeface="Times New Roman"/>
              </a:rPr>
              <a:t>THE HIDDEN ENVIRONMENTAL COST OF DATACENTERS</a:t>
            </a:r>
            <a:endParaRPr b="1" sz="2000">
              <a:solidFill>
                <a:srgbClr val="B50346"/>
              </a:solidFill>
              <a:latin typeface="Times New Roman"/>
              <a:ea typeface="Times New Roman"/>
              <a:cs typeface="Times New Roman"/>
              <a:sym typeface="Times New Roman"/>
            </a:endParaRPr>
          </a:p>
        </p:txBody>
      </p:sp>
      <p:grpSp>
        <p:nvGrpSpPr>
          <p:cNvPr id="97" name="Google Shape;97;p16"/>
          <p:cNvGrpSpPr/>
          <p:nvPr/>
        </p:nvGrpSpPr>
        <p:grpSpPr>
          <a:xfrm>
            <a:off x="1600200" y="214313"/>
            <a:ext cx="2971800" cy="226800"/>
            <a:chOff x="1600200" y="214313"/>
            <a:chExt cx="2971800" cy="226800"/>
          </a:xfrm>
        </p:grpSpPr>
        <p:sp>
          <p:nvSpPr>
            <p:cNvPr id="98" name="Google Shape;98;p16"/>
            <p:cNvSpPr/>
            <p:nvPr/>
          </p:nvSpPr>
          <p:spPr>
            <a:xfrm>
              <a:off x="1600200" y="214313"/>
              <a:ext cx="2971800" cy="2268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6"/>
            <p:cNvSpPr txBox="1"/>
            <p:nvPr/>
          </p:nvSpPr>
          <p:spPr>
            <a:xfrm>
              <a:off x="1600200" y="214313"/>
              <a:ext cx="2971800" cy="226800"/>
            </a:xfrm>
            <a:prstGeom prst="rect">
              <a:avLst/>
            </a:prstGeom>
            <a:noFill/>
            <a:ln>
              <a:noFill/>
            </a:ln>
          </p:spPr>
          <p:txBody>
            <a:bodyPr anchorCtr="0" anchor="ctr" bIns="0" lIns="95250" spcFirstLastPara="1" rIns="0" wrap="square" tIns="0">
              <a:noAutofit/>
            </a:bodyPr>
            <a:lstStyle/>
            <a:p>
              <a:pPr indent="0" lvl="0" marL="0" rtl="0" algn="l">
                <a:spcBef>
                  <a:spcPts val="0"/>
                </a:spcBef>
                <a:spcAft>
                  <a:spcPts val="0"/>
                </a:spcAft>
                <a:buNone/>
              </a:pPr>
              <a:r>
                <a:rPr b="1" lang="en-GB" sz="1200">
                  <a:solidFill>
                    <a:srgbClr val="FFFFFF"/>
                  </a:solidFill>
                  <a:latin typeface="Times New Roman"/>
                  <a:ea typeface="Times New Roman"/>
                  <a:cs typeface="Times New Roman"/>
                  <a:sym typeface="Times New Roman"/>
                </a:rPr>
                <a:t>BACKGROUND AND MOTIVATION</a:t>
              </a:r>
              <a:endParaRPr b="1" sz="1200">
                <a:solidFill>
                  <a:srgbClr val="FFFFFF"/>
                </a:solidFill>
                <a:latin typeface="Times New Roman"/>
                <a:ea typeface="Times New Roman"/>
                <a:cs typeface="Times New Roman"/>
                <a:sym typeface="Times New Roman"/>
              </a:endParaRPr>
            </a:p>
          </p:txBody>
        </p:sp>
      </p:grpSp>
      <p:grpSp>
        <p:nvGrpSpPr>
          <p:cNvPr id="100" name="Google Shape;100;p16"/>
          <p:cNvGrpSpPr/>
          <p:nvPr/>
        </p:nvGrpSpPr>
        <p:grpSpPr>
          <a:xfrm>
            <a:off x="476228" y="1428750"/>
            <a:ext cx="7936192" cy="1000200"/>
            <a:chOff x="476250" y="1428750"/>
            <a:chExt cx="4953000" cy="1000200"/>
          </a:xfrm>
        </p:grpSpPr>
        <p:sp>
          <p:nvSpPr>
            <p:cNvPr id="101" name="Google Shape;101;p16"/>
            <p:cNvSpPr/>
            <p:nvPr/>
          </p:nvSpPr>
          <p:spPr>
            <a:xfrm>
              <a:off x="476250" y="1428750"/>
              <a:ext cx="4953000" cy="1000200"/>
            </a:xfrm>
            <a:prstGeom prst="rect">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6"/>
            <p:cNvSpPr/>
            <p:nvPr/>
          </p:nvSpPr>
          <p:spPr>
            <a:xfrm>
              <a:off x="476250" y="1428750"/>
              <a:ext cx="76200" cy="10002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6"/>
            <p:cNvSpPr txBox="1"/>
            <p:nvPr/>
          </p:nvSpPr>
          <p:spPr>
            <a:xfrm>
              <a:off x="666750" y="1476375"/>
              <a:ext cx="4619700" cy="9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200">
                  <a:solidFill>
                    <a:srgbClr val="B50346"/>
                  </a:solidFill>
                  <a:latin typeface="Times New Roman"/>
                  <a:ea typeface="Times New Roman"/>
                  <a:cs typeface="Times New Roman"/>
                  <a:sym typeface="Times New Roman"/>
                </a:rPr>
                <a:t>GLOBAL POWER DEMAND</a:t>
              </a:r>
              <a:endParaRPr b="1" sz="1200">
                <a:solidFill>
                  <a:srgbClr val="B50346"/>
                </a:solidFill>
                <a:latin typeface="Times New Roman"/>
                <a:ea typeface="Times New Roman"/>
                <a:cs typeface="Times New Roman"/>
                <a:sym typeface="Times New Roman"/>
              </a:endParaRPr>
            </a:p>
            <a:p>
              <a:pPr indent="0" lvl="0" marL="0" rtl="0" algn="l">
                <a:spcBef>
                  <a:spcPts val="225"/>
                </a:spcBef>
                <a:spcAft>
                  <a:spcPts val="0"/>
                </a:spcAft>
                <a:buNone/>
              </a:pPr>
              <a:r>
                <a:rPr lang="en-GB" sz="1200">
                  <a:solidFill>
                    <a:srgbClr val="000000"/>
                  </a:solidFill>
                  <a:latin typeface="Times New Roman"/>
                  <a:ea typeface="Times New Roman"/>
                  <a:cs typeface="Times New Roman"/>
                  <a:sym typeface="Times New Roman"/>
                </a:rPr>
                <a:t>Global data center electricity usage exceeded 200 TWh in 2022 and is projected to surpass 1,000 TWh by 2030, driven heavily by continuous AI and LLM workloads.</a:t>
              </a:r>
              <a:endParaRPr sz="1200">
                <a:solidFill>
                  <a:srgbClr val="000000"/>
                </a:solidFill>
                <a:latin typeface="Times New Roman"/>
                <a:ea typeface="Times New Roman"/>
                <a:cs typeface="Times New Roman"/>
                <a:sym typeface="Times New Roman"/>
              </a:endParaRPr>
            </a:p>
          </p:txBody>
        </p:sp>
      </p:grpSp>
      <p:grpSp>
        <p:nvGrpSpPr>
          <p:cNvPr id="104" name="Google Shape;104;p16"/>
          <p:cNvGrpSpPr/>
          <p:nvPr/>
        </p:nvGrpSpPr>
        <p:grpSpPr>
          <a:xfrm>
            <a:off x="476208" y="2524125"/>
            <a:ext cx="7029298" cy="1000200"/>
            <a:chOff x="476250" y="2524125"/>
            <a:chExt cx="4953000" cy="1000200"/>
          </a:xfrm>
        </p:grpSpPr>
        <p:sp>
          <p:nvSpPr>
            <p:cNvPr id="105" name="Google Shape;105;p16"/>
            <p:cNvSpPr/>
            <p:nvPr/>
          </p:nvSpPr>
          <p:spPr>
            <a:xfrm>
              <a:off x="476250" y="2524125"/>
              <a:ext cx="4953000" cy="1000200"/>
            </a:xfrm>
            <a:prstGeom prst="rect">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6"/>
            <p:cNvSpPr/>
            <p:nvPr/>
          </p:nvSpPr>
          <p:spPr>
            <a:xfrm>
              <a:off x="476250" y="2524125"/>
              <a:ext cx="76200" cy="10002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6"/>
            <p:cNvSpPr txBox="1"/>
            <p:nvPr/>
          </p:nvSpPr>
          <p:spPr>
            <a:xfrm>
              <a:off x="666750" y="2571750"/>
              <a:ext cx="4619700" cy="9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200">
                  <a:solidFill>
                    <a:srgbClr val="B50346"/>
                  </a:solidFill>
                  <a:latin typeface="Times New Roman"/>
                  <a:ea typeface="Times New Roman"/>
                  <a:cs typeface="Times New Roman"/>
                  <a:sym typeface="Times New Roman"/>
                </a:rPr>
                <a:t>ELECTRICITY CARBON INTENSITY VARIATION BY TIME AND REGION</a:t>
              </a:r>
              <a:endParaRPr b="1" sz="1200">
                <a:solidFill>
                  <a:srgbClr val="B50346"/>
                </a:solidFill>
                <a:latin typeface="Times New Roman"/>
                <a:ea typeface="Times New Roman"/>
                <a:cs typeface="Times New Roman"/>
                <a:sym typeface="Times New Roman"/>
              </a:endParaRPr>
            </a:p>
            <a:p>
              <a:pPr indent="0" lvl="0" marL="0" rtl="0" algn="l">
                <a:spcBef>
                  <a:spcPts val="225"/>
                </a:spcBef>
                <a:spcAft>
                  <a:spcPts val="0"/>
                </a:spcAft>
                <a:buNone/>
              </a:pPr>
              <a:r>
                <a:rPr lang="en-GB" sz="1200">
                  <a:latin typeface="Times New Roman"/>
                  <a:ea typeface="Times New Roman"/>
                  <a:cs typeface="Times New Roman"/>
                  <a:sym typeface="Times New Roman"/>
                </a:rPr>
                <a:t>The carbon footprint of electricity — measured in </a:t>
              </a:r>
              <a:r>
                <a:rPr b="1" lang="en-GB" sz="1200">
                  <a:latin typeface="Times New Roman"/>
                  <a:ea typeface="Times New Roman"/>
                  <a:cs typeface="Times New Roman"/>
                  <a:sym typeface="Times New Roman"/>
                </a:rPr>
                <a:t>gCO₂/kWh </a:t>
              </a:r>
              <a:r>
                <a:rPr lang="en-GB" sz="1200">
                  <a:latin typeface="Times New Roman"/>
                  <a:ea typeface="Times New Roman"/>
                  <a:cs typeface="Times New Roman"/>
                  <a:sym typeface="Times New Roman"/>
                </a:rPr>
                <a:t>—  is powered by different sources — sometimes solar or wind (clean), sometimes coal or gas (dirty). Despite this variation, current cloud scheduling systems treat all electricity as equivalent and make no attempt to prefer cleaner power windows.</a:t>
              </a:r>
              <a:endParaRPr sz="1200">
                <a:solidFill>
                  <a:srgbClr val="000000"/>
                </a:solidFill>
                <a:latin typeface="Times New Roman"/>
                <a:ea typeface="Times New Roman"/>
                <a:cs typeface="Times New Roman"/>
                <a:sym typeface="Times New Roman"/>
              </a:endParaRPr>
            </a:p>
          </p:txBody>
        </p:sp>
      </p:grpSp>
      <p:grpSp>
        <p:nvGrpSpPr>
          <p:cNvPr id="108" name="Google Shape;108;p16"/>
          <p:cNvGrpSpPr/>
          <p:nvPr/>
        </p:nvGrpSpPr>
        <p:grpSpPr>
          <a:xfrm>
            <a:off x="476289" y="3619500"/>
            <a:ext cx="5315064" cy="1143000"/>
            <a:chOff x="476250" y="3619500"/>
            <a:chExt cx="4953000" cy="1143000"/>
          </a:xfrm>
        </p:grpSpPr>
        <p:sp>
          <p:nvSpPr>
            <p:cNvPr id="109" name="Google Shape;109;p16"/>
            <p:cNvSpPr/>
            <p:nvPr/>
          </p:nvSpPr>
          <p:spPr>
            <a:xfrm>
              <a:off x="476250" y="3619500"/>
              <a:ext cx="4953000" cy="1143000"/>
            </a:xfrm>
            <a:prstGeom prst="rect">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6"/>
            <p:cNvSpPr/>
            <p:nvPr/>
          </p:nvSpPr>
          <p:spPr>
            <a:xfrm>
              <a:off x="476250" y="3619500"/>
              <a:ext cx="76200" cy="11430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6"/>
            <p:cNvSpPr txBox="1"/>
            <p:nvPr/>
          </p:nvSpPr>
          <p:spPr>
            <a:xfrm>
              <a:off x="666750" y="3667125"/>
              <a:ext cx="46197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200">
                  <a:solidFill>
                    <a:srgbClr val="B50346"/>
                  </a:solidFill>
                  <a:latin typeface="Times New Roman"/>
                  <a:ea typeface="Times New Roman"/>
                  <a:cs typeface="Times New Roman"/>
                  <a:sym typeface="Times New Roman"/>
                </a:rPr>
                <a:t>RUNNING TASKS ALSO OVERHEATS THE MACHINES</a:t>
              </a:r>
              <a:endParaRPr b="1" sz="1200">
                <a:solidFill>
                  <a:srgbClr val="B50346"/>
                </a:solidFill>
                <a:latin typeface="Times New Roman"/>
                <a:ea typeface="Times New Roman"/>
                <a:cs typeface="Times New Roman"/>
                <a:sym typeface="Times New Roman"/>
              </a:endParaRPr>
            </a:p>
            <a:p>
              <a:pPr indent="0" lvl="0" marL="0" rtl="0" algn="l">
                <a:spcBef>
                  <a:spcPts val="225"/>
                </a:spcBef>
                <a:spcAft>
                  <a:spcPts val="0"/>
                </a:spcAft>
                <a:buNone/>
              </a:pPr>
              <a:r>
                <a:rPr lang="en-GB" sz="1200">
                  <a:solidFill>
                    <a:schemeClr val="dk1"/>
                  </a:solidFill>
                  <a:latin typeface="Times New Roman"/>
                  <a:ea typeface="Times New Roman"/>
                  <a:cs typeface="Times New Roman"/>
                  <a:sym typeface="Times New Roman"/>
                </a:rPr>
                <a:t>When compute-intensive workloads run on already-loaded servers, they heat up. To cool them down, data centres run heavy-duty cooling systems </a:t>
              </a:r>
              <a:r>
                <a:rPr lang="en-GB" sz="1200">
                  <a:solidFill>
                    <a:schemeClr val="dk1"/>
                  </a:solidFill>
                  <a:latin typeface="Times New Roman"/>
                  <a:ea typeface="Times New Roman"/>
                  <a:cs typeface="Times New Roman"/>
                  <a:sym typeface="Times New Roman"/>
                </a:rPr>
                <a:t>— which burns even more electricity. </a:t>
              </a:r>
              <a:r>
                <a:rPr lang="en-GB" sz="1200">
                  <a:solidFill>
                    <a:schemeClr val="dk1"/>
                  </a:solidFill>
                  <a:latin typeface="Times New Roman"/>
                  <a:ea typeface="Times New Roman"/>
                  <a:cs typeface="Times New Roman"/>
                  <a:sym typeface="Times New Roman"/>
                </a:rPr>
                <a:t>This cancels out whatever energy savings we tried to achieve resulting in violation of SLO.</a:t>
              </a:r>
              <a:endParaRPr sz="1200">
                <a:solidFill>
                  <a:srgbClr val="000000"/>
                </a:solidFill>
                <a:latin typeface="Times New Roman"/>
                <a:ea typeface="Times New Roman"/>
                <a:cs typeface="Times New Roman"/>
                <a:sym typeface="Times New Roman"/>
              </a:endParaRPr>
            </a:p>
          </p:txBody>
        </p:sp>
      </p:grpSp>
      <p:pic>
        <p:nvPicPr>
          <p:cNvPr id="112" name="Google Shape;112;p16"/>
          <p:cNvPicPr preferRelativeResize="0"/>
          <p:nvPr/>
        </p:nvPicPr>
        <p:blipFill rotWithShape="1">
          <a:blip r:embed="rId3">
            <a:alphaModFix/>
          </a:blip>
          <a:srcRect b="11599" l="0" r="7792" t="-9150"/>
          <a:stretch/>
        </p:blipFill>
        <p:spPr>
          <a:xfrm>
            <a:off x="6057300" y="3449700"/>
            <a:ext cx="3086700" cy="1693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descr="$PPTXTitle" id="117" name="Google Shape;117;p17"/>
          <p:cNvSpPr txBox="1"/>
          <p:nvPr>
            <p:ph type="title"/>
          </p:nvPr>
        </p:nvSpPr>
        <p:spPr>
          <a:xfrm>
            <a:off x="1589725" y="479775"/>
            <a:ext cx="7218600" cy="320400"/>
          </a:xfrm>
          <a:prstGeom prst="rect">
            <a:avLst/>
          </a:prstGeom>
          <a:noFill/>
          <a:ln>
            <a:noFill/>
          </a:ln>
        </p:spPr>
        <p:txBody>
          <a:bodyPr anchorCtr="0" anchor="t" bIns="0" lIns="0" spcFirstLastPara="1" rIns="0" wrap="square" tIns="12375">
            <a:spAutoFit/>
          </a:bodyPr>
          <a:lstStyle/>
          <a:p>
            <a:pPr indent="0" lvl="0" marL="12700" rtl="0" algn="l">
              <a:lnSpc>
                <a:spcPct val="100000"/>
              </a:lnSpc>
              <a:spcBef>
                <a:spcPts val="0"/>
              </a:spcBef>
              <a:spcAft>
                <a:spcPts val="0"/>
              </a:spcAft>
              <a:buNone/>
            </a:pPr>
            <a:r>
              <a:rPr b="1" lang="en-GB" sz="2000">
                <a:latin typeface="Times New Roman"/>
                <a:ea typeface="Times New Roman"/>
                <a:cs typeface="Times New Roman"/>
                <a:sym typeface="Times New Roman"/>
              </a:rPr>
              <a:t>THE BLIND SPOT IN MODERN CLOUD SERVER</a:t>
            </a:r>
            <a:endParaRPr b="1" sz="2000">
              <a:latin typeface="Times New Roman"/>
              <a:ea typeface="Times New Roman"/>
              <a:cs typeface="Times New Roman"/>
              <a:sym typeface="Times New Roman"/>
            </a:endParaRPr>
          </a:p>
        </p:txBody>
      </p:sp>
      <p:grpSp>
        <p:nvGrpSpPr>
          <p:cNvPr id="118" name="Google Shape;118;p17"/>
          <p:cNvGrpSpPr/>
          <p:nvPr/>
        </p:nvGrpSpPr>
        <p:grpSpPr>
          <a:xfrm>
            <a:off x="685775" y="1066785"/>
            <a:ext cx="8026321" cy="1537881"/>
            <a:chOff x="476250" y="1042881"/>
            <a:chExt cx="4003153" cy="3080691"/>
          </a:xfrm>
        </p:grpSpPr>
        <p:sp>
          <p:nvSpPr>
            <p:cNvPr id="119" name="Google Shape;119;p17"/>
            <p:cNvSpPr/>
            <p:nvPr/>
          </p:nvSpPr>
          <p:spPr>
            <a:xfrm>
              <a:off x="478903" y="1042881"/>
              <a:ext cx="4000500" cy="3028200"/>
            </a:xfrm>
            <a:prstGeom prst="roundRect">
              <a:avLst>
                <a:gd fmla="val 1887" name="adj"/>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7"/>
            <p:cNvSpPr/>
            <p:nvPr/>
          </p:nvSpPr>
          <p:spPr>
            <a:xfrm>
              <a:off x="476250" y="1095371"/>
              <a:ext cx="57300" cy="3028200"/>
            </a:xfrm>
            <a:prstGeom prst="roundRect">
              <a:avLst>
                <a:gd fmla="val 33333" name="adj"/>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7"/>
            <p:cNvSpPr/>
            <p:nvPr/>
          </p:nvSpPr>
          <p:spPr>
            <a:xfrm>
              <a:off x="663422" y="1274789"/>
              <a:ext cx="187200" cy="448800"/>
            </a:xfrm>
            <a:prstGeom prst="roundRect">
              <a:avLst>
                <a:gd fmla="val 50000" name="adj"/>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7"/>
            <p:cNvSpPr txBox="1"/>
            <p:nvPr/>
          </p:nvSpPr>
          <p:spPr>
            <a:xfrm>
              <a:off x="663422" y="1274789"/>
              <a:ext cx="187200" cy="44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100">
                  <a:solidFill>
                    <a:srgbClr val="FFFFFF"/>
                  </a:solidFill>
                  <a:latin typeface="Georgia"/>
                  <a:ea typeface="Georgia"/>
                  <a:cs typeface="Georgia"/>
                  <a:sym typeface="Georgia"/>
                </a:rPr>
                <a:t>1</a:t>
              </a:r>
              <a:endParaRPr b="1" sz="1100">
                <a:solidFill>
                  <a:srgbClr val="FFFFFF"/>
                </a:solidFill>
                <a:latin typeface="Georgia"/>
                <a:ea typeface="Georgia"/>
                <a:cs typeface="Georgia"/>
                <a:sym typeface="Georgia"/>
              </a:endParaRPr>
            </a:p>
          </p:txBody>
        </p:sp>
        <p:sp>
          <p:nvSpPr>
            <p:cNvPr id="123" name="Google Shape;123;p17"/>
            <p:cNvSpPr txBox="1"/>
            <p:nvPr/>
          </p:nvSpPr>
          <p:spPr>
            <a:xfrm>
              <a:off x="920778" y="1274789"/>
              <a:ext cx="3295800" cy="44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200">
                  <a:solidFill>
                    <a:srgbClr val="B50346"/>
                  </a:solidFill>
                  <a:latin typeface="Times New Roman"/>
                  <a:ea typeface="Times New Roman"/>
                  <a:cs typeface="Times New Roman"/>
                  <a:sym typeface="Times New Roman"/>
                </a:rPr>
                <a:t>THE CORE PROBLEM</a:t>
              </a:r>
              <a:endParaRPr b="1" sz="1200">
                <a:solidFill>
                  <a:srgbClr val="B50346"/>
                </a:solidFill>
                <a:latin typeface="Times New Roman"/>
                <a:ea typeface="Times New Roman"/>
                <a:cs typeface="Times New Roman"/>
                <a:sym typeface="Times New Roman"/>
              </a:endParaRPr>
            </a:p>
          </p:txBody>
        </p:sp>
        <p:sp>
          <p:nvSpPr>
            <p:cNvPr id="124" name="Google Shape;124;p17"/>
            <p:cNvSpPr txBox="1"/>
            <p:nvPr/>
          </p:nvSpPr>
          <p:spPr>
            <a:xfrm>
              <a:off x="571281" y="1917236"/>
              <a:ext cx="3844800" cy="2153400"/>
            </a:xfrm>
            <a:prstGeom prst="rect">
              <a:avLst/>
            </a:prstGeom>
            <a:solidFill>
              <a:srgbClr val="000000">
                <a:alpha val="0"/>
              </a:srgbClr>
            </a:solidFill>
            <a:ln>
              <a:noFill/>
            </a:ln>
          </p:spPr>
          <p:txBody>
            <a:bodyPr anchorCtr="0" anchor="t" bIns="0" lIns="0" spcFirstLastPara="1" rIns="0" wrap="square" tIns="0">
              <a:noAutofit/>
            </a:bodyPr>
            <a:lstStyle/>
            <a:p>
              <a:pPr indent="-304800" lvl="0" marL="457200" rtl="0" algn="just">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Kubernetes schedules tasks based only on </a:t>
              </a:r>
              <a:r>
                <a:rPr b="1" lang="en-GB" sz="1200">
                  <a:solidFill>
                    <a:schemeClr val="dk1"/>
                  </a:solidFill>
                  <a:latin typeface="Times New Roman"/>
                  <a:ea typeface="Times New Roman"/>
                  <a:cs typeface="Times New Roman"/>
                  <a:sym typeface="Times New Roman"/>
                </a:rPr>
                <a:t>CPU, memory, and latency </a:t>
              </a:r>
              <a:r>
                <a:rPr lang="en-GB" sz="1200">
                  <a:solidFill>
                    <a:schemeClr val="dk1"/>
                  </a:solidFill>
                  <a:latin typeface="Times New Roman"/>
                  <a:ea typeface="Times New Roman"/>
                  <a:cs typeface="Times New Roman"/>
                  <a:sym typeface="Times New Roman"/>
                </a:rPr>
                <a:t>— never on electricity cleanliness.</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It treats all compute nodes as </a:t>
              </a:r>
              <a:r>
                <a:rPr b="1" lang="en-GB" sz="1200">
                  <a:solidFill>
                    <a:schemeClr val="dk1"/>
                  </a:solidFill>
                  <a:latin typeface="Times New Roman"/>
                  <a:ea typeface="Times New Roman"/>
                  <a:cs typeface="Times New Roman"/>
                  <a:sym typeface="Times New Roman"/>
                </a:rPr>
                <a:t>environmentally identical</a:t>
              </a:r>
              <a:r>
                <a:rPr lang="en-GB" sz="1200">
                  <a:solidFill>
                    <a:schemeClr val="dk1"/>
                  </a:solidFill>
                  <a:latin typeface="Times New Roman"/>
                  <a:ea typeface="Times New Roman"/>
                  <a:cs typeface="Times New Roman"/>
                  <a:sym typeface="Times New Roman"/>
                </a:rPr>
                <a:t>, regardless of when or where they run. </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Existing carbon-aware tools only shift work in </a:t>
              </a:r>
              <a:r>
                <a:rPr b="1" lang="en-GB" sz="1200">
                  <a:solidFill>
                    <a:schemeClr val="dk1"/>
                  </a:solidFill>
                  <a:latin typeface="Times New Roman"/>
                  <a:ea typeface="Times New Roman"/>
                  <a:cs typeface="Times New Roman"/>
                  <a:sym typeface="Times New Roman"/>
                </a:rPr>
                <a:t>time or location </a:t>
              </a:r>
              <a:r>
                <a:rPr lang="en-GB" sz="1200">
                  <a:solidFill>
                    <a:schemeClr val="dk1"/>
                  </a:solidFill>
                  <a:latin typeface="Times New Roman"/>
                  <a:ea typeface="Times New Roman"/>
                  <a:cs typeface="Times New Roman"/>
                  <a:sym typeface="Times New Roman"/>
                </a:rPr>
                <a:t>— they stop there. </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None of them monitor </a:t>
              </a:r>
              <a:r>
                <a:rPr b="1" lang="en-GB" sz="1200">
                  <a:solidFill>
                    <a:schemeClr val="dk1"/>
                  </a:solidFill>
                  <a:latin typeface="Times New Roman"/>
                  <a:ea typeface="Times New Roman"/>
                  <a:cs typeface="Times New Roman"/>
                  <a:sym typeface="Times New Roman"/>
                </a:rPr>
                <a:t>node temperature</a:t>
              </a:r>
              <a:r>
                <a:rPr lang="en-GB" sz="1200">
                  <a:solidFill>
                    <a:schemeClr val="dk1"/>
                  </a:solidFill>
                  <a:latin typeface="Times New Roman"/>
                  <a:ea typeface="Times New Roman"/>
                  <a:cs typeface="Times New Roman"/>
                  <a:sym typeface="Times New Roman"/>
                </a:rPr>
                <a:t>, so cooling systems kick in and cancel out the savings. </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AI workloads make this worse — they are </a:t>
              </a:r>
              <a:r>
                <a:rPr b="1" lang="en-GB" sz="1200">
                  <a:solidFill>
                    <a:schemeClr val="dk1"/>
                  </a:solidFill>
                  <a:latin typeface="Times New Roman"/>
                  <a:ea typeface="Times New Roman"/>
                  <a:cs typeface="Times New Roman"/>
                  <a:sym typeface="Times New Roman"/>
                </a:rPr>
                <a:t>heat-intensive and latency-sensitive </a:t>
              </a:r>
              <a:r>
                <a:rPr lang="en-GB" sz="1200">
                  <a:solidFill>
                    <a:schemeClr val="dk1"/>
                  </a:solidFill>
                  <a:latin typeface="Times New Roman"/>
                  <a:ea typeface="Times New Roman"/>
                  <a:cs typeface="Times New Roman"/>
                  <a:sym typeface="Times New Roman"/>
                </a:rPr>
                <a:t>at the same time.</a:t>
              </a:r>
              <a:endParaRPr b="0" sz="1200">
                <a:solidFill>
                  <a:schemeClr val="dk1"/>
                </a:solidFill>
                <a:latin typeface="Times New Roman"/>
                <a:ea typeface="Times New Roman"/>
                <a:cs typeface="Times New Roman"/>
                <a:sym typeface="Times New Roman"/>
              </a:endParaRPr>
            </a:p>
          </p:txBody>
        </p:sp>
      </p:grpSp>
      <p:sp>
        <p:nvSpPr>
          <p:cNvPr id="125" name="Google Shape;125;p17"/>
          <p:cNvSpPr txBox="1"/>
          <p:nvPr/>
        </p:nvSpPr>
        <p:spPr>
          <a:xfrm>
            <a:off x="1600200" y="207175"/>
            <a:ext cx="2079900" cy="231000"/>
          </a:xfrm>
          <a:prstGeom prst="rect">
            <a:avLst/>
          </a:prstGeom>
          <a:solidFill>
            <a:srgbClr val="B50346"/>
          </a:solidFill>
          <a:ln cap="flat" cmpd="sng" w="9525">
            <a:solidFill>
              <a:srgbClr val="B50346"/>
            </a:solidFill>
            <a:prstDash val="solid"/>
            <a:round/>
            <a:headEnd len="sm" w="sm" type="none"/>
            <a:tailEnd len="sm" w="sm" type="none"/>
          </a:ln>
        </p:spPr>
        <p:txBody>
          <a:bodyPr anchorCtr="0" anchor="t" bIns="0" lIns="0" spcFirstLastPara="1" rIns="0" wrap="square" tIns="45725">
            <a:spAutoFit/>
          </a:bodyPr>
          <a:lstStyle/>
          <a:p>
            <a:pPr indent="0" lvl="0" marL="76200" rtl="0" algn="l">
              <a:lnSpc>
                <a:spcPct val="100000"/>
              </a:lnSpc>
              <a:spcBef>
                <a:spcPts val="0"/>
              </a:spcBef>
              <a:spcAft>
                <a:spcPts val="0"/>
              </a:spcAft>
              <a:buNone/>
            </a:pPr>
            <a:r>
              <a:rPr b="1" lang="en-GB" sz="1200">
                <a:solidFill>
                  <a:srgbClr val="FFFFFF"/>
                </a:solidFill>
                <a:latin typeface="Times New Roman"/>
                <a:ea typeface="Times New Roman"/>
                <a:cs typeface="Times New Roman"/>
                <a:sym typeface="Times New Roman"/>
              </a:rPr>
              <a:t>PROBLEM </a:t>
            </a:r>
            <a:r>
              <a:rPr b="1" lang="en-GB" sz="1200" cap="small">
                <a:solidFill>
                  <a:srgbClr val="FFFFFF"/>
                </a:solidFill>
                <a:latin typeface="Times New Roman"/>
                <a:ea typeface="Times New Roman"/>
                <a:cs typeface="Times New Roman"/>
                <a:sym typeface="Times New Roman"/>
              </a:rPr>
              <a:t>S</a:t>
            </a:r>
            <a:r>
              <a:rPr b="1" lang="en-GB" sz="1200">
                <a:solidFill>
                  <a:srgbClr val="FFFFFF"/>
                </a:solidFill>
                <a:latin typeface="Times New Roman"/>
                <a:ea typeface="Times New Roman"/>
                <a:cs typeface="Times New Roman"/>
                <a:sym typeface="Times New Roman"/>
              </a:rPr>
              <a:t>TATEMENT</a:t>
            </a:r>
            <a:endParaRPr sz="1200">
              <a:latin typeface="Times New Roman"/>
              <a:ea typeface="Times New Roman"/>
              <a:cs typeface="Times New Roman"/>
              <a:sym typeface="Times New Roman"/>
            </a:endParaRPr>
          </a:p>
        </p:txBody>
      </p:sp>
      <p:grpSp>
        <p:nvGrpSpPr>
          <p:cNvPr id="126" name="Google Shape;126;p17"/>
          <p:cNvGrpSpPr/>
          <p:nvPr/>
        </p:nvGrpSpPr>
        <p:grpSpPr>
          <a:xfrm>
            <a:off x="399950" y="2670205"/>
            <a:ext cx="8597953" cy="683392"/>
            <a:chOff x="350864" y="4429124"/>
            <a:chExt cx="8453400" cy="428701"/>
          </a:xfrm>
        </p:grpSpPr>
        <p:sp>
          <p:nvSpPr>
            <p:cNvPr id="127" name="Google Shape;127;p17"/>
            <p:cNvSpPr/>
            <p:nvPr/>
          </p:nvSpPr>
          <p:spPr>
            <a:xfrm>
              <a:off x="350864" y="4429124"/>
              <a:ext cx="8453400" cy="428700"/>
            </a:xfrm>
            <a:prstGeom prst="roundRect">
              <a:avLst>
                <a:gd fmla="val 8888" name="adj"/>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7"/>
            <p:cNvSpPr txBox="1"/>
            <p:nvPr/>
          </p:nvSpPr>
          <p:spPr>
            <a:xfrm>
              <a:off x="619125" y="4429125"/>
              <a:ext cx="79059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150">
                  <a:solidFill>
                    <a:srgbClr val="FFFFFF"/>
                  </a:solidFill>
                  <a:latin typeface="Times New Roman"/>
                  <a:ea typeface="Times New Roman"/>
                  <a:cs typeface="Times New Roman"/>
                  <a:sym typeface="Times New Roman"/>
                </a:rPr>
                <a:t>A critical gap exists: No existing system simultaneously minimises grid-level carbon emissions, accounts for internal thermal overhead, and preserves the latency requirements of AI workloads. This project directly addresses that gap.</a:t>
              </a:r>
              <a:endParaRPr b="1" sz="1150">
                <a:solidFill>
                  <a:srgbClr val="FFFFFF"/>
                </a:solidFill>
                <a:latin typeface="Times New Roman"/>
                <a:ea typeface="Times New Roman"/>
                <a:cs typeface="Times New Roman"/>
                <a:sym typeface="Times New Roman"/>
              </a:endParaRPr>
            </a:p>
          </p:txBody>
        </p:sp>
      </p:grpSp>
      <p:grpSp>
        <p:nvGrpSpPr>
          <p:cNvPr id="129" name="Google Shape;129;p17"/>
          <p:cNvGrpSpPr/>
          <p:nvPr/>
        </p:nvGrpSpPr>
        <p:grpSpPr>
          <a:xfrm>
            <a:off x="685775" y="3440668"/>
            <a:ext cx="8026321" cy="1626605"/>
            <a:chOff x="476250" y="1042881"/>
            <a:chExt cx="4003153" cy="3080691"/>
          </a:xfrm>
        </p:grpSpPr>
        <p:sp>
          <p:nvSpPr>
            <p:cNvPr id="130" name="Google Shape;130;p17"/>
            <p:cNvSpPr/>
            <p:nvPr/>
          </p:nvSpPr>
          <p:spPr>
            <a:xfrm>
              <a:off x="478903" y="1042881"/>
              <a:ext cx="4000500" cy="3028200"/>
            </a:xfrm>
            <a:prstGeom prst="roundRect">
              <a:avLst>
                <a:gd fmla="val 1887" name="adj"/>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7"/>
            <p:cNvSpPr/>
            <p:nvPr/>
          </p:nvSpPr>
          <p:spPr>
            <a:xfrm>
              <a:off x="476250" y="1095371"/>
              <a:ext cx="57300" cy="3028200"/>
            </a:xfrm>
            <a:prstGeom prst="roundRect">
              <a:avLst>
                <a:gd fmla="val 50000" name="adj"/>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7"/>
            <p:cNvSpPr/>
            <p:nvPr/>
          </p:nvSpPr>
          <p:spPr>
            <a:xfrm>
              <a:off x="663422" y="1274789"/>
              <a:ext cx="187200" cy="448800"/>
            </a:xfrm>
            <a:prstGeom prst="roundRect">
              <a:avLst>
                <a:gd fmla="val 50000" name="adj"/>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7"/>
            <p:cNvSpPr txBox="1"/>
            <p:nvPr/>
          </p:nvSpPr>
          <p:spPr>
            <a:xfrm>
              <a:off x="663422" y="1274789"/>
              <a:ext cx="187200" cy="44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100">
                  <a:solidFill>
                    <a:srgbClr val="FFFFFF"/>
                  </a:solidFill>
                  <a:latin typeface="Georgia"/>
                  <a:ea typeface="Georgia"/>
                  <a:cs typeface="Georgia"/>
                  <a:sym typeface="Georgia"/>
                </a:rPr>
                <a:t>2</a:t>
              </a:r>
              <a:endParaRPr b="1" sz="1100">
                <a:solidFill>
                  <a:srgbClr val="FFFFFF"/>
                </a:solidFill>
                <a:latin typeface="Georgia"/>
                <a:ea typeface="Georgia"/>
                <a:cs typeface="Georgia"/>
                <a:sym typeface="Georgia"/>
              </a:endParaRPr>
            </a:p>
          </p:txBody>
        </p:sp>
        <p:sp>
          <p:nvSpPr>
            <p:cNvPr id="134" name="Google Shape;134;p17"/>
            <p:cNvSpPr txBox="1"/>
            <p:nvPr/>
          </p:nvSpPr>
          <p:spPr>
            <a:xfrm>
              <a:off x="920778" y="1274789"/>
              <a:ext cx="3295800" cy="44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200">
                  <a:solidFill>
                    <a:srgbClr val="B50346"/>
                  </a:solidFill>
                  <a:latin typeface="Times New Roman"/>
                  <a:ea typeface="Times New Roman"/>
                  <a:cs typeface="Times New Roman"/>
                  <a:sym typeface="Times New Roman"/>
                </a:rPr>
                <a:t>OUR APPROACH</a:t>
              </a:r>
              <a:endParaRPr b="1" sz="1200">
                <a:solidFill>
                  <a:srgbClr val="B50346"/>
                </a:solidFill>
                <a:latin typeface="Times New Roman"/>
                <a:ea typeface="Times New Roman"/>
                <a:cs typeface="Times New Roman"/>
                <a:sym typeface="Times New Roman"/>
              </a:endParaRPr>
            </a:p>
          </p:txBody>
        </p:sp>
        <p:sp>
          <p:nvSpPr>
            <p:cNvPr id="135" name="Google Shape;135;p17"/>
            <p:cNvSpPr txBox="1"/>
            <p:nvPr/>
          </p:nvSpPr>
          <p:spPr>
            <a:xfrm>
              <a:off x="571275" y="1723614"/>
              <a:ext cx="3844800" cy="2237100"/>
            </a:xfrm>
            <a:prstGeom prst="rect">
              <a:avLst/>
            </a:prstGeom>
            <a:solidFill>
              <a:srgbClr val="000000">
                <a:alpha val="0"/>
              </a:srgbClr>
            </a:solidFill>
            <a:ln>
              <a:noFill/>
            </a:ln>
          </p:spPr>
          <p:txBody>
            <a:bodyPr anchorCtr="0" anchor="t" bIns="0" lIns="0" spcFirstLastPara="1" rIns="0" wrap="square" tIns="0">
              <a:noAutofit/>
            </a:bodyPr>
            <a:lstStyle/>
            <a:p>
              <a:pPr indent="-304800" lvl="0" marL="457200" rtl="0" algn="just">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Monitor </a:t>
              </a:r>
              <a:r>
                <a:rPr b="1" lang="en-GB" sz="1200">
                  <a:solidFill>
                    <a:schemeClr val="dk1"/>
                  </a:solidFill>
                  <a:latin typeface="Times New Roman"/>
                  <a:ea typeface="Times New Roman"/>
                  <a:cs typeface="Times New Roman"/>
                  <a:sym typeface="Times New Roman"/>
                </a:rPr>
                <a:t>live grid carbon intensity</a:t>
              </a:r>
              <a:r>
                <a:rPr lang="en-GB" sz="1200">
                  <a:solidFill>
                    <a:schemeClr val="dk1"/>
                  </a:solidFill>
                  <a:latin typeface="Times New Roman"/>
                  <a:ea typeface="Times New Roman"/>
                  <a:cs typeface="Times New Roman"/>
                  <a:sym typeface="Times New Roman"/>
                </a:rPr>
                <a:t> and predict the next 24 hours using an LSTM model.</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Defer non-critical tasks to </a:t>
              </a:r>
              <a:r>
                <a:rPr b="1" lang="en-GB" sz="1200">
                  <a:solidFill>
                    <a:schemeClr val="dk1"/>
                  </a:solidFill>
                  <a:latin typeface="Times New Roman"/>
                  <a:ea typeface="Times New Roman"/>
                  <a:cs typeface="Times New Roman"/>
                  <a:sym typeface="Times New Roman"/>
                </a:rPr>
                <a:t>low-carbon time windows</a:t>
              </a:r>
              <a:r>
                <a:rPr lang="en-GB" sz="1200">
                  <a:solidFill>
                    <a:schemeClr val="dk1"/>
                  </a:solidFill>
                  <a:latin typeface="Times New Roman"/>
                  <a:ea typeface="Times New Roman"/>
                  <a:cs typeface="Times New Roman"/>
                  <a:sym typeface="Times New Roman"/>
                </a:rPr>
                <a:t> automatically.</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Track </a:t>
              </a:r>
              <a:r>
                <a:rPr b="1" lang="en-GB" sz="1200">
                  <a:solidFill>
                    <a:schemeClr val="dk1"/>
                  </a:solidFill>
                  <a:latin typeface="Times New Roman"/>
                  <a:ea typeface="Times New Roman"/>
                  <a:cs typeface="Times New Roman"/>
                  <a:sym typeface="Times New Roman"/>
                </a:rPr>
                <a:t>node-level CPU temperatures </a:t>
              </a:r>
              <a:r>
                <a:rPr lang="en-GB" sz="1200">
                  <a:solidFill>
                    <a:schemeClr val="dk1"/>
                  </a:solidFill>
                  <a:latin typeface="Times New Roman"/>
                  <a:ea typeface="Times New Roman"/>
                  <a:cs typeface="Times New Roman"/>
                  <a:sym typeface="Times New Roman"/>
                </a:rPr>
                <a:t>in real time and route workloads away from hot nodes.</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Dynamically </a:t>
              </a:r>
              <a:r>
                <a:rPr b="1" lang="en-GB" sz="1200">
                  <a:solidFill>
                    <a:schemeClr val="dk1"/>
                  </a:solidFill>
                  <a:latin typeface="Times New Roman"/>
                  <a:ea typeface="Times New Roman"/>
                  <a:cs typeface="Times New Roman"/>
                  <a:sym typeface="Times New Roman"/>
                </a:rPr>
                <a:t>reduce AI model precision</a:t>
              </a:r>
              <a:r>
                <a:rPr lang="en-GB" sz="1200">
                  <a:solidFill>
                    <a:schemeClr val="dk1"/>
                  </a:solidFill>
                  <a:latin typeface="Times New Roman"/>
                  <a:ea typeface="Times New Roman"/>
                  <a:cs typeface="Times New Roman"/>
                  <a:sym typeface="Times New Roman"/>
                </a:rPr>
                <a:t> when carbon or heat thresholds are exceeded</a:t>
              </a:r>
              <a:r>
                <a:rPr lang="en-GB"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Validate everything on a </a:t>
              </a:r>
              <a:r>
                <a:rPr b="1" lang="en-GB" sz="1200">
                  <a:solidFill>
                    <a:schemeClr val="dk1"/>
                  </a:solidFill>
                  <a:latin typeface="Times New Roman"/>
                  <a:ea typeface="Times New Roman"/>
                  <a:cs typeface="Times New Roman"/>
                  <a:sym typeface="Times New Roman"/>
                </a:rPr>
                <a:t>physical Raspberry Pi 5 K3s cluster</a:t>
              </a:r>
              <a:r>
                <a:rPr lang="en-GB" sz="1200">
                  <a:solidFill>
                    <a:schemeClr val="dk1"/>
                  </a:solidFill>
                  <a:latin typeface="Times New Roman"/>
                  <a:ea typeface="Times New Roman"/>
                  <a:cs typeface="Times New Roman"/>
                  <a:sym typeface="Times New Roman"/>
                </a:rPr>
                <a:t> — not in simulation</a:t>
              </a:r>
              <a:r>
                <a:rPr lang="en-GB" sz="1200">
                  <a:solidFill>
                    <a:schemeClr val="dk1"/>
                  </a:solidFill>
                  <a:latin typeface="Times New Roman"/>
                  <a:ea typeface="Times New Roman"/>
                  <a:cs typeface="Times New Roman"/>
                  <a:sym typeface="Times New Roman"/>
                </a:rPr>
                <a:t>.</a:t>
              </a:r>
              <a:endParaRPr b="0" sz="1200">
                <a:solidFill>
                  <a:schemeClr val="dk1"/>
                </a:solidFill>
                <a:latin typeface="Times New Roman"/>
                <a:ea typeface="Times New Roman"/>
                <a:cs typeface="Times New Roman"/>
                <a:sym typeface="Times New Roman"/>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8"/>
          <p:cNvSpPr txBox="1"/>
          <p:nvPr/>
        </p:nvSpPr>
        <p:spPr>
          <a:xfrm>
            <a:off x="1055318" y="1351311"/>
            <a:ext cx="68400" cy="150600"/>
          </a:xfrm>
          <a:prstGeom prst="rect">
            <a:avLst/>
          </a:prstGeom>
          <a:noFill/>
          <a:ln>
            <a:noFill/>
          </a:ln>
        </p:spPr>
        <p:txBody>
          <a:bodyPr anchorCtr="0" anchor="t" bIns="0" lIns="0" spcFirstLastPara="1" rIns="0" wrap="square" tIns="11900">
            <a:spAutoFit/>
          </a:bodyPr>
          <a:lstStyle/>
          <a:p>
            <a:pPr indent="0" lvl="0" marL="0" rtl="0" algn="l">
              <a:lnSpc>
                <a:spcPct val="100000"/>
              </a:lnSpc>
              <a:spcBef>
                <a:spcPts val="0"/>
              </a:spcBef>
              <a:spcAft>
                <a:spcPts val="0"/>
              </a:spcAft>
              <a:buNone/>
            </a:pPr>
            <a:r>
              <a:rPr b="1" lang="en-GB" sz="900">
                <a:solidFill>
                  <a:srgbClr val="FFFFFF"/>
                </a:solidFill>
                <a:latin typeface="Calibri"/>
                <a:ea typeface="Calibri"/>
                <a:cs typeface="Calibri"/>
                <a:sym typeface="Calibri"/>
              </a:rPr>
              <a:t>3</a:t>
            </a:r>
            <a:endParaRPr sz="900">
              <a:latin typeface="Calibri"/>
              <a:ea typeface="Calibri"/>
              <a:cs typeface="Calibri"/>
              <a:sym typeface="Calibri"/>
            </a:endParaRPr>
          </a:p>
        </p:txBody>
      </p:sp>
      <p:sp>
        <p:nvSpPr>
          <p:cNvPr id="141" name="Google Shape;141;p18"/>
          <p:cNvSpPr txBox="1"/>
          <p:nvPr/>
        </p:nvSpPr>
        <p:spPr>
          <a:xfrm>
            <a:off x="1055318" y="2463832"/>
            <a:ext cx="68400" cy="150600"/>
          </a:xfrm>
          <a:prstGeom prst="rect">
            <a:avLst/>
          </a:prstGeom>
          <a:noFill/>
          <a:ln>
            <a:noFill/>
          </a:ln>
        </p:spPr>
        <p:txBody>
          <a:bodyPr anchorCtr="0" anchor="t" bIns="0" lIns="0" spcFirstLastPara="1" rIns="0" wrap="square" tIns="11900">
            <a:spAutoFit/>
          </a:bodyPr>
          <a:lstStyle/>
          <a:p>
            <a:pPr indent="0" lvl="0" marL="0" rtl="0" algn="l">
              <a:lnSpc>
                <a:spcPct val="100000"/>
              </a:lnSpc>
              <a:spcBef>
                <a:spcPts val="0"/>
              </a:spcBef>
              <a:spcAft>
                <a:spcPts val="0"/>
              </a:spcAft>
              <a:buNone/>
            </a:pPr>
            <a:r>
              <a:rPr b="1" lang="en-GB" sz="900">
                <a:solidFill>
                  <a:srgbClr val="FFFFFF"/>
                </a:solidFill>
                <a:latin typeface="Calibri"/>
                <a:ea typeface="Calibri"/>
                <a:cs typeface="Calibri"/>
                <a:sym typeface="Calibri"/>
              </a:rPr>
              <a:t>6</a:t>
            </a:r>
            <a:endParaRPr sz="900">
              <a:latin typeface="Calibri"/>
              <a:ea typeface="Calibri"/>
              <a:cs typeface="Calibri"/>
              <a:sym typeface="Calibri"/>
            </a:endParaRPr>
          </a:p>
        </p:txBody>
      </p:sp>
      <p:sp>
        <p:nvSpPr>
          <p:cNvPr id="142" name="Google Shape;142;p18"/>
          <p:cNvSpPr txBox="1"/>
          <p:nvPr/>
        </p:nvSpPr>
        <p:spPr>
          <a:xfrm>
            <a:off x="1055318" y="3576446"/>
            <a:ext cx="68400" cy="150600"/>
          </a:xfrm>
          <a:prstGeom prst="rect">
            <a:avLst/>
          </a:prstGeom>
          <a:noFill/>
          <a:ln>
            <a:noFill/>
          </a:ln>
        </p:spPr>
        <p:txBody>
          <a:bodyPr anchorCtr="0" anchor="t" bIns="0" lIns="0" spcFirstLastPara="1" rIns="0" wrap="square" tIns="11900">
            <a:spAutoFit/>
          </a:bodyPr>
          <a:lstStyle/>
          <a:p>
            <a:pPr indent="0" lvl="0" marL="0" rtl="0" algn="l">
              <a:lnSpc>
                <a:spcPct val="100000"/>
              </a:lnSpc>
              <a:spcBef>
                <a:spcPts val="0"/>
              </a:spcBef>
              <a:spcAft>
                <a:spcPts val="0"/>
              </a:spcAft>
              <a:buNone/>
            </a:pPr>
            <a:r>
              <a:rPr b="1" lang="en-GB" sz="900">
                <a:solidFill>
                  <a:srgbClr val="FFFFFF"/>
                </a:solidFill>
                <a:latin typeface="Calibri"/>
                <a:ea typeface="Calibri"/>
                <a:cs typeface="Calibri"/>
                <a:sym typeface="Calibri"/>
              </a:rPr>
              <a:t>8</a:t>
            </a:r>
            <a:endParaRPr sz="900">
              <a:latin typeface="Calibri"/>
              <a:ea typeface="Calibri"/>
              <a:cs typeface="Calibri"/>
              <a:sym typeface="Calibri"/>
            </a:endParaRPr>
          </a:p>
        </p:txBody>
      </p:sp>
      <p:sp>
        <p:nvSpPr>
          <p:cNvPr id="143" name="Google Shape;143;p18"/>
          <p:cNvSpPr txBox="1"/>
          <p:nvPr/>
        </p:nvSpPr>
        <p:spPr>
          <a:xfrm>
            <a:off x="1461725" y="295175"/>
            <a:ext cx="7380600" cy="36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000">
                <a:solidFill>
                  <a:srgbClr val="B50346"/>
                </a:solidFill>
                <a:latin typeface="Times New Roman"/>
                <a:ea typeface="Times New Roman"/>
                <a:cs typeface="Times New Roman"/>
                <a:sym typeface="Times New Roman"/>
              </a:rPr>
              <a:t>EXISTING SYSTEM / LITERATURE REVIEW</a:t>
            </a:r>
            <a:endParaRPr b="1" sz="2000">
              <a:solidFill>
                <a:srgbClr val="B50346"/>
              </a:solidFill>
              <a:latin typeface="Times New Roman"/>
              <a:ea typeface="Times New Roman"/>
              <a:cs typeface="Times New Roman"/>
              <a:sym typeface="Times New Roman"/>
            </a:endParaRPr>
          </a:p>
        </p:txBody>
      </p:sp>
      <p:grpSp>
        <p:nvGrpSpPr>
          <p:cNvPr id="144" name="Google Shape;144;p18"/>
          <p:cNvGrpSpPr/>
          <p:nvPr/>
        </p:nvGrpSpPr>
        <p:grpSpPr>
          <a:xfrm>
            <a:off x="499250" y="2906978"/>
            <a:ext cx="8456706" cy="2142506"/>
            <a:chOff x="495300" y="2952750"/>
            <a:chExt cx="8153400" cy="1733700"/>
          </a:xfrm>
        </p:grpSpPr>
        <p:sp>
          <p:nvSpPr>
            <p:cNvPr id="145" name="Google Shape;145;p18"/>
            <p:cNvSpPr/>
            <p:nvPr/>
          </p:nvSpPr>
          <p:spPr>
            <a:xfrm>
              <a:off x="495300" y="2952750"/>
              <a:ext cx="8153400" cy="1733700"/>
            </a:xfrm>
            <a:prstGeom prst="roundRect">
              <a:avLst>
                <a:gd fmla="val 2197" name="adj"/>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8"/>
            <p:cNvSpPr/>
            <p:nvPr/>
          </p:nvSpPr>
          <p:spPr>
            <a:xfrm>
              <a:off x="495300" y="2952750"/>
              <a:ext cx="8153400" cy="228600"/>
            </a:xfrm>
            <a:prstGeom prst="roundRect">
              <a:avLst>
                <a:gd fmla="val 16666" name="adj"/>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8"/>
            <p:cNvSpPr/>
            <p:nvPr/>
          </p:nvSpPr>
          <p:spPr>
            <a:xfrm>
              <a:off x="495300" y="3086100"/>
              <a:ext cx="8153400" cy="954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8"/>
            <p:cNvSpPr/>
            <p:nvPr/>
          </p:nvSpPr>
          <p:spPr>
            <a:xfrm>
              <a:off x="600075" y="2981325"/>
              <a:ext cx="171600" cy="171600"/>
            </a:xfrm>
            <a:prstGeom prst="ellipse">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000">
                  <a:solidFill>
                    <a:schemeClr val="lt1"/>
                  </a:solidFill>
                  <a:latin typeface="Georgia"/>
                  <a:ea typeface="Georgia"/>
                  <a:cs typeface="Georgia"/>
                  <a:sym typeface="Georgia"/>
                </a:rPr>
                <a:t>2.</a:t>
              </a:r>
              <a:endParaRPr b="1" sz="1000">
                <a:solidFill>
                  <a:schemeClr val="lt1"/>
                </a:solidFill>
                <a:latin typeface="Georgia"/>
                <a:ea typeface="Georgia"/>
                <a:cs typeface="Georgia"/>
                <a:sym typeface="Georgia"/>
              </a:endParaRPr>
            </a:p>
          </p:txBody>
        </p:sp>
        <p:sp>
          <p:nvSpPr>
            <p:cNvPr id="149" name="Google Shape;149;p18"/>
            <p:cNvSpPr txBox="1"/>
            <p:nvPr/>
          </p:nvSpPr>
          <p:spPr>
            <a:xfrm>
              <a:off x="876300" y="2981325"/>
              <a:ext cx="76773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50">
                  <a:solidFill>
                    <a:srgbClr val="FFFFFF"/>
                  </a:solidFill>
                  <a:latin typeface="Georgia"/>
                  <a:ea typeface="Georgia"/>
                  <a:cs typeface="Georgia"/>
                  <a:sym typeface="Georgia"/>
                </a:rPr>
                <a:t>Zhou, Chan, Zhang, Lin &amp; Ni — "A Kubernetes Custom Scheduler Based on Reinforcement Learning"</a:t>
              </a:r>
              <a:endParaRPr b="1" sz="950">
                <a:solidFill>
                  <a:srgbClr val="FFFFFF"/>
                </a:solidFill>
                <a:latin typeface="Georgia"/>
                <a:ea typeface="Georgia"/>
                <a:cs typeface="Georgia"/>
                <a:sym typeface="Georgia"/>
              </a:endParaRPr>
            </a:p>
          </p:txBody>
        </p:sp>
        <p:sp>
          <p:nvSpPr>
            <p:cNvPr id="150" name="Google Shape;150;p18"/>
            <p:cNvSpPr txBox="1"/>
            <p:nvPr/>
          </p:nvSpPr>
          <p:spPr>
            <a:xfrm>
              <a:off x="599860" y="3247807"/>
              <a:ext cx="3953100" cy="12543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1200"/>
                </a:spcBef>
                <a:spcAft>
                  <a:spcPts val="0"/>
                </a:spcAft>
                <a:buClr>
                  <a:srgbClr val="212121"/>
                </a:buClr>
                <a:buSzPts val="1000"/>
                <a:buFont typeface="Times New Roman"/>
                <a:buChar char="●"/>
              </a:pPr>
              <a:r>
                <a:rPr lang="en-GB" sz="1100">
                  <a:solidFill>
                    <a:schemeClr val="dk1"/>
                  </a:solidFill>
                  <a:latin typeface="Times New Roman"/>
                  <a:ea typeface="Times New Roman"/>
                  <a:cs typeface="Times New Roman"/>
                  <a:sym typeface="Times New Roman"/>
                </a:rPr>
                <a:t>Uses DQN-based Kubernetes schedulers to dynamically select nodes for compute-intensive workloads, reducing CPU utilization by 10–20% compared with the default scheduler.</a:t>
              </a:r>
              <a:endParaRPr sz="1100">
                <a:solidFill>
                  <a:schemeClr val="dk1"/>
                </a:solidFill>
                <a:latin typeface="Times New Roman"/>
                <a:ea typeface="Times New Roman"/>
                <a:cs typeface="Times New Roman"/>
                <a:sym typeface="Times New Roman"/>
              </a:endParaRPr>
            </a:p>
            <a:p>
              <a:pPr indent="0" lvl="0" marL="0" rtl="0" algn="just">
                <a:lnSpc>
                  <a:spcPct val="6000"/>
                </a:lnSpc>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298450" lvl="0" marL="457200" rtl="0" algn="just">
                <a:lnSpc>
                  <a:spcPct val="115000"/>
                </a:lnSpc>
                <a:spcBef>
                  <a:spcPts val="1200"/>
                </a:spcBef>
                <a:spcAft>
                  <a:spcPts val="0"/>
                </a:spcAft>
                <a:buClr>
                  <a:schemeClr val="dk1"/>
                </a:buClr>
                <a:buSzPts val="1100"/>
                <a:buFont typeface="Times New Roman"/>
                <a:buChar char="●"/>
              </a:pPr>
              <a:r>
                <a:rPr lang="en-GB" sz="1100">
                  <a:solidFill>
                    <a:schemeClr val="dk1"/>
                  </a:solidFill>
                  <a:latin typeface="Times New Roman"/>
                  <a:ea typeface="Times New Roman"/>
                  <a:cs typeface="Times New Roman"/>
                  <a:sym typeface="Times New Roman"/>
                </a:rPr>
                <a:t>Shows that reinforcement learning can significantly improve scheduling decisions without manual rule engineering, allowing the system to adapt to changing cluster conditions over time.</a:t>
              </a:r>
              <a:endParaRPr sz="11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b="1" lang="en-GB" sz="900">
                  <a:solidFill>
                    <a:srgbClr val="B50346"/>
                  </a:solidFill>
                  <a:latin typeface="Times New Roman"/>
                  <a:ea typeface="Times New Roman"/>
                  <a:cs typeface="Times New Roman"/>
                  <a:sym typeface="Times New Roman"/>
                </a:rPr>
                <a:t>Dataset Used:</a:t>
              </a:r>
              <a:r>
                <a:rPr b="1" lang="en-GB" sz="900">
                  <a:solidFill>
                    <a:srgbClr val="212121"/>
                  </a:solidFill>
                  <a:latin typeface="Times New Roman"/>
                  <a:ea typeface="Times New Roman"/>
                  <a:cs typeface="Times New Roman"/>
                  <a:sym typeface="Times New Roman"/>
                </a:rPr>
                <a:t> Simulated compute-intensive ML training workloads in containers.</a:t>
              </a:r>
              <a:endParaRPr b="1" sz="900">
                <a:solidFill>
                  <a:srgbClr val="212121"/>
                </a:solidFill>
                <a:latin typeface="Times New Roman"/>
                <a:ea typeface="Times New Roman"/>
                <a:cs typeface="Times New Roman"/>
                <a:sym typeface="Times New Roman"/>
              </a:endParaRPr>
            </a:p>
          </p:txBody>
        </p:sp>
        <p:sp>
          <p:nvSpPr>
            <p:cNvPr id="151" name="Google Shape;151;p18"/>
            <p:cNvSpPr txBox="1"/>
            <p:nvPr/>
          </p:nvSpPr>
          <p:spPr>
            <a:xfrm>
              <a:off x="4781551" y="3371848"/>
              <a:ext cx="3810000" cy="1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50">
                  <a:solidFill>
                    <a:srgbClr val="B50346"/>
                  </a:solidFill>
                  <a:latin typeface="Times New Roman"/>
                  <a:ea typeface="Times New Roman"/>
                  <a:cs typeface="Times New Roman"/>
                  <a:sym typeface="Times New Roman"/>
                </a:rPr>
                <a:t>LIMITATIONS &amp; FUTURE SCOPE:</a:t>
              </a:r>
              <a:endParaRPr b="1" sz="850">
                <a:solidFill>
                  <a:srgbClr val="B50346"/>
                </a:solidFill>
                <a:latin typeface="Times New Roman"/>
                <a:ea typeface="Times New Roman"/>
                <a:cs typeface="Times New Roman"/>
                <a:sym typeface="Times New Roman"/>
              </a:endParaRPr>
            </a:p>
          </p:txBody>
        </p:sp>
        <p:grpSp>
          <p:nvGrpSpPr>
            <p:cNvPr id="152" name="Google Shape;152;p18"/>
            <p:cNvGrpSpPr/>
            <p:nvPr/>
          </p:nvGrpSpPr>
          <p:grpSpPr>
            <a:xfrm>
              <a:off x="4686300" y="3543300"/>
              <a:ext cx="2076600" cy="285900"/>
              <a:chOff x="4686300" y="3543300"/>
              <a:chExt cx="2076600" cy="285900"/>
            </a:xfrm>
          </p:grpSpPr>
          <p:sp>
            <p:nvSpPr>
              <p:cNvPr id="153" name="Google Shape;153;p18"/>
              <p:cNvSpPr/>
              <p:nvPr/>
            </p:nvSpPr>
            <p:spPr>
              <a:xfrm>
                <a:off x="4686300" y="3543300"/>
                <a:ext cx="20766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18"/>
              <p:cNvSpPr/>
              <p:nvPr/>
            </p:nvSpPr>
            <p:spPr>
              <a:xfrm>
                <a:off x="4686300" y="3543300"/>
                <a:ext cx="381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8"/>
              <p:cNvSpPr txBox="1"/>
              <p:nvPr/>
            </p:nvSpPr>
            <p:spPr>
              <a:xfrm>
                <a:off x="4781550" y="3543300"/>
                <a:ext cx="19431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Times New Roman"/>
                    <a:ea typeface="Times New Roman"/>
                    <a:cs typeface="Times New Roman"/>
                    <a:sym typeface="Times New Roman"/>
                  </a:rPr>
                  <a:t>No Carbon or Renewable Awareness</a:t>
                </a:r>
                <a:endParaRPr b="1" sz="838">
                  <a:solidFill>
                    <a:srgbClr val="212121"/>
                  </a:solidFill>
                  <a:latin typeface="Times New Roman"/>
                  <a:ea typeface="Times New Roman"/>
                  <a:cs typeface="Times New Roman"/>
                  <a:sym typeface="Times New Roman"/>
                </a:endParaRPr>
              </a:p>
            </p:txBody>
          </p:sp>
        </p:grpSp>
        <p:grpSp>
          <p:nvGrpSpPr>
            <p:cNvPr id="156" name="Google Shape;156;p18"/>
            <p:cNvGrpSpPr/>
            <p:nvPr/>
          </p:nvGrpSpPr>
          <p:grpSpPr>
            <a:xfrm>
              <a:off x="6858000" y="3543300"/>
              <a:ext cx="1695600" cy="285900"/>
              <a:chOff x="6858000" y="3543300"/>
              <a:chExt cx="1695600" cy="285900"/>
            </a:xfrm>
          </p:grpSpPr>
          <p:sp>
            <p:nvSpPr>
              <p:cNvPr id="157" name="Google Shape;157;p18"/>
              <p:cNvSpPr/>
              <p:nvPr/>
            </p:nvSpPr>
            <p:spPr>
              <a:xfrm>
                <a:off x="6858000" y="3543300"/>
                <a:ext cx="16956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8"/>
              <p:cNvSpPr/>
              <p:nvPr/>
            </p:nvSpPr>
            <p:spPr>
              <a:xfrm>
                <a:off x="6858000" y="3543300"/>
                <a:ext cx="381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8"/>
              <p:cNvSpPr txBox="1"/>
              <p:nvPr/>
            </p:nvSpPr>
            <p:spPr>
              <a:xfrm>
                <a:off x="6953250" y="3543300"/>
                <a:ext cx="15621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Times New Roman"/>
                    <a:ea typeface="Times New Roman"/>
                    <a:cs typeface="Times New Roman"/>
                    <a:sym typeface="Times New Roman"/>
                  </a:rPr>
                  <a:t>HPA Requires Custom Adapters</a:t>
                </a:r>
                <a:endParaRPr b="1" sz="838">
                  <a:solidFill>
                    <a:srgbClr val="212121"/>
                  </a:solidFill>
                  <a:latin typeface="Times New Roman"/>
                  <a:ea typeface="Times New Roman"/>
                  <a:cs typeface="Times New Roman"/>
                  <a:sym typeface="Times New Roman"/>
                </a:endParaRPr>
              </a:p>
            </p:txBody>
          </p:sp>
        </p:grpSp>
        <p:grpSp>
          <p:nvGrpSpPr>
            <p:cNvPr id="160" name="Google Shape;160;p18"/>
            <p:cNvGrpSpPr/>
            <p:nvPr/>
          </p:nvGrpSpPr>
          <p:grpSpPr>
            <a:xfrm>
              <a:off x="4686300" y="3886199"/>
              <a:ext cx="3867300" cy="285901"/>
              <a:chOff x="4686300" y="3886199"/>
              <a:chExt cx="3867300" cy="285901"/>
            </a:xfrm>
          </p:grpSpPr>
          <p:sp>
            <p:nvSpPr>
              <p:cNvPr id="161" name="Google Shape;161;p18"/>
              <p:cNvSpPr/>
              <p:nvPr/>
            </p:nvSpPr>
            <p:spPr>
              <a:xfrm>
                <a:off x="4686300" y="3886200"/>
                <a:ext cx="38673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8"/>
              <p:cNvSpPr/>
              <p:nvPr/>
            </p:nvSpPr>
            <p:spPr>
              <a:xfrm>
                <a:off x="4686300" y="3886200"/>
                <a:ext cx="381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8"/>
              <p:cNvSpPr txBox="1"/>
              <p:nvPr/>
            </p:nvSpPr>
            <p:spPr>
              <a:xfrm>
                <a:off x="4874478" y="3886199"/>
                <a:ext cx="36426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Times New Roman"/>
                    <a:ea typeface="Times New Roman"/>
                    <a:cs typeface="Times New Roman"/>
                    <a:sym typeface="Times New Roman"/>
                  </a:rPr>
                  <a:t>Ignores Node Thermal State in Scheduling Decisions</a:t>
                </a:r>
                <a:endParaRPr b="1" sz="838">
                  <a:solidFill>
                    <a:srgbClr val="212121"/>
                  </a:solidFill>
                  <a:latin typeface="Times New Roman"/>
                  <a:ea typeface="Times New Roman"/>
                  <a:cs typeface="Times New Roman"/>
                  <a:sym typeface="Times New Roman"/>
                </a:endParaRPr>
              </a:p>
            </p:txBody>
          </p:sp>
        </p:grpSp>
      </p:grpSp>
      <p:grpSp>
        <p:nvGrpSpPr>
          <p:cNvPr id="164" name="Google Shape;164;p18"/>
          <p:cNvGrpSpPr/>
          <p:nvPr/>
        </p:nvGrpSpPr>
        <p:grpSpPr>
          <a:xfrm>
            <a:off x="499254" y="1066800"/>
            <a:ext cx="8481946" cy="1733700"/>
            <a:chOff x="148351" y="1066800"/>
            <a:chExt cx="8832600" cy="1733700"/>
          </a:xfrm>
        </p:grpSpPr>
        <p:sp>
          <p:nvSpPr>
            <p:cNvPr id="165" name="Google Shape;165;p18"/>
            <p:cNvSpPr/>
            <p:nvPr/>
          </p:nvSpPr>
          <p:spPr>
            <a:xfrm>
              <a:off x="148351" y="1066800"/>
              <a:ext cx="8832600" cy="1733700"/>
            </a:xfrm>
            <a:prstGeom prst="roundRect">
              <a:avLst>
                <a:gd fmla="val 2196" name="adj"/>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8"/>
            <p:cNvSpPr/>
            <p:nvPr/>
          </p:nvSpPr>
          <p:spPr>
            <a:xfrm>
              <a:off x="148351" y="1066800"/>
              <a:ext cx="8832600" cy="228600"/>
            </a:xfrm>
            <a:prstGeom prst="roundRect">
              <a:avLst>
                <a:gd fmla="val 16666" name="adj"/>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8"/>
            <p:cNvSpPr/>
            <p:nvPr/>
          </p:nvSpPr>
          <p:spPr>
            <a:xfrm>
              <a:off x="148351" y="1200150"/>
              <a:ext cx="8832600" cy="954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8"/>
            <p:cNvSpPr/>
            <p:nvPr/>
          </p:nvSpPr>
          <p:spPr>
            <a:xfrm>
              <a:off x="287211" y="1071286"/>
              <a:ext cx="178800" cy="178800"/>
            </a:xfrm>
            <a:prstGeom prst="ellipse">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8"/>
            <p:cNvSpPr txBox="1"/>
            <p:nvPr/>
          </p:nvSpPr>
          <p:spPr>
            <a:xfrm>
              <a:off x="310842" y="1100004"/>
              <a:ext cx="131400" cy="121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775">
                  <a:solidFill>
                    <a:srgbClr val="FFFFFF"/>
                  </a:solidFill>
                  <a:latin typeface="Georgia"/>
                  <a:ea typeface="Georgia"/>
                  <a:cs typeface="Georgia"/>
                  <a:sym typeface="Georgia"/>
                </a:rPr>
                <a:t>1</a:t>
              </a:r>
              <a:r>
                <a:rPr b="1" lang="en-GB" sz="775">
                  <a:solidFill>
                    <a:srgbClr val="FFFFFF"/>
                  </a:solidFill>
                  <a:latin typeface="Georgia"/>
                  <a:ea typeface="Georgia"/>
                  <a:cs typeface="Georgia"/>
                  <a:sym typeface="Georgia"/>
                </a:rPr>
                <a:t>.</a:t>
              </a:r>
              <a:endParaRPr b="1" sz="775">
                <a:solidFill>
                  <a:srgbClr val="FFFFFF"/>
                </a:solidFill>
                <a:latin typeface="Georgia"/>
                <a:ea typeface="Georgia"/>
                <a:cs typeface="Georgia"/>
                <a:sym typeface="Georgia"/>
              </a:endParaRPr>
            </a:p>
          </p:txBody>
        </p:sp>
        <p:sp>
          <p:nvSpPr>
            <p:cNvPr id="170" name="Google Shape;170;p18"/>
            <p:cNvSpPr txBox="1"/>
            <p:nvPr/>
          </p:nvSpPr>
          <p:spPr>
            <a:xfrm>
              <a:off x="550675" y="1083173"/>
              <a:ext cx="8316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50">
                  <a:solidFill>
                    <a:srgbClr val="FFFFFF"/>
                  </a:solidFill>
                  <a:latin typeface="Georgia"/>
                  <a:ea typeface="Georgia"/>
                  <a:cs typeface="Georgia"/>
                  <a:sym typeface="Georgia"/>
                </a:rPr>
                <a:t>Piontek, Haghshenas &amp; Aiello — "Carbon Emission-Aware Job Scheduling for Kubernetes Deployments"</a:t>
              </a:r>
              <a:endParaRPr b="1" sz="950">
                <a:solidFill>
                  <a:srgbClr val="FFFFFF"/>
                </a:solidFill>
                <a:latin typeface="Georgia"/>
                <a:ea typeface="Georgia"/>
                <a:cs typeface="Georgia"/>
                <a:sym typeface="Georgia"/>
              </a:endParaRPr>
            </a:p>
          </p:txBody>
        </p:sp>
        <p:sp>
          <p:nvSpPr>
            <p:cNvPr id="171" name="Google Shape;171;p18"/>
            <p:cNvSpPr txBox="1"/>
            <p:nvPr/>
          </p:nvSpPr>
          <p:spPr>
            <a:xfrm>
              <a:off x="251544" y="1485900"/>
              <a:ext cx="4230600" cy="1174500"/>
            </a:xfrm>
            <a:prstGeom prst="rect">
              <a:avLst/>
            </a:prstGeom>
            <a:noFill/>
            <a:ln>
              <a:noFill/>
            </a:ln>
          </p:spPr>
          <p:txBody>
            <a:bodyPr anchorCtr="0" anchor="ctr" bIns="0" lIns="0" spcFirstLastPara="1" rIns="0" wrap="square" tIns="0">
              <a:noAutofit/>
            </a:bodyPr>
            <a:lstStyle/>
            <a:p>
              <a:pPr indent="-294640" lvl="0" marL="457200" rtl="0" algn="just">
                <a:spcBef>
                  <a:spcPts val="0"/>
                </a:spcBef>
                <a:spcAft>
                  <a:spcPts val="0"/>
                </a:spcAft>
                <a:buClr>
                  <a:srgbClr val="212121"/>
                </a:buClr>
                <a:buSzPts val="1040"/>
                <a:buFont typeface="Times New Roman"/>
                <a:buChar char="●"/>
              </a:pPr>
              <a:r>
                <a:rPr lang="en-GB" sz="1100">
                  <a:solidFill>
                    <a:schemeClr val="dk1"/>
                  </a:solidFill>
                  <a:latin typeface="Times New Roman"/>
                  <a:ea typeface="Times New Roman"/>
                  <a:cs typeface="Times New Roman"/>
                  <a:sym typeface="Times New Roman"/>
                </a:rPr>
                <a:t>Uses a custom Kubernetes scheduler with live Electricity Maps carbon data to schedule workloads during low-carbon periods.</a:t>
              </a:r>
              <a:endParaRPr sz="1100">
                <a:solidFill>
                  <a:schemeClr val="dk1"/>
                </a:solidFill>
                <a:latin typeface="Times New Roman"/>
                <a:ea typeface="Times New Roman"/>
                <a:cs typeface="Times New Roman"/>
                <a:sym typeface="Times New Roman"/>
              </a:endParaRPr>
            </a:p>
            <a:p>
              <a:pPr indent="0" lvl="0" marL="457200" rtl="0" algn="just">
                <a:spcBef>
                  <a:spcPts val="150"/>
                </a:spcBef>
                <a:spcAft>
                  <a:spcPts val="0"/>
                </a:spcAft>
                <a:buNone/>
              </a:pPr>
              <a:r>
                <a:t/>
              </a:r>
              <a:endParaRPr sz="1100">
                <a:solidFill>
                  <a:schemeClr val="dk1"/>
                </a:solidFill>
                <a:latin typeface="Times New Roman"/>
                <a:ea typeface="Times New Roman"/>
                <a:cs typeface="Times New Roman"/>
                <a:sym typeface="Times New Roman"/>
              </a:endParaRPr>
            </a:p>
            <a:p>
              <a:pPr indent="-294640" lvl="0" marL="457200" rtl="0" algn="just">
                <a:spcBef>
                  <a:spcPts val="150"/>
                </a:spcBef>
                <a:spcAft>
                  <a:spcPts val="0"/>
                </a:spcAft>
                <a:buClr>
                  <a:srgbClr val="212121"/>
                </a:buClr>
                <a:buSzPts val="1040"/>
                <a:buFont typeface="Times New Roman"/>
                <a:buChar char="●"/>
              </a:pPr>
              <a:r>
                <a:rPr lang="en-GB" sz="1100">
                  <a:solidFill>
                    <a:schemeClr val="dk1"/>
                  </a:solidFill>
                  <a:latin typeface="Times New Roman"/>
                  <a:ea typeface="Times New Roman"/>
                  <a:cs typeface="Times New Roman"/>
                  <a:sym typeface="Times New Roman"/>
                </a:rPr>
                <a:t>Delays non-critical jobs to reduce carbon emissions while maintaining zero SLA violations.</a:t>
              </a:r>
              <a:endParaRPr sz="1040">
                <a:solidFill>
                  <a:srgbClr val="212121"/>
                </a:solidFill>
                <a:latin typeface="Times New Roman"/>
                <a:ea typeface="Times New Roman"/>
                <a:cs typeface="Times New Roman"/>
                <a:sym typeface="Times New Roman"/>
              </a:endParaRPr>
            </a:p>
            <a:p>
              <a:pPr indent="0" lvl="0" marL="457200" rtl="0" algn="just">
                <a:spcBef>
                  <a:spcPts val="150"/>
                </a:spcBef>
                <a:spcAft>
                  <a:spcPts val="0"/>
                </a:spcAft>
                <a:buNone/>
              </a:pPr>
              <a:r>
                <a:t/>
              </a:r>
              <a:endParaRPr sz="1040">
                <a:solidFill>
                  <a:srgbClr val="212121"/>
                </a:solidFill>
                <a:latin typeface="Times New Roman"/>
                <a:ea typeface="Times New Roman"/>
                <a:cs typeface="Times New Roman"/>
                <a:sym typeface="Times New Roman"/>
              </a:endParaRPr>
            </a:p>
            <a:p>
              <a:pPr indent="0" lvl="0" marL="0" rtl="0" algn="just">
                <a:spcBef>
                  <a:spcPts val="225"/>
                </a:spcBef>
                <a:spcAft>
                  <a:spcPts val="0"/>
                </a:spcAft>
                <a:buNone/>
              </a:pPr>
              <a:r>
                <a:rPr b="1" lang="en-GB" sz="938">
                  <a:solidFill>
                    <a:srgbClr val="B50346"/>
                  </a:solidFill>
                  <a:latin typeface="Times New Roman"/>
                  <a:ea typeface="Times New Roman"/>
                  <a:cs typeface="Times New Roman"/>
                  <a:sym typeface="Times New Roman"/>
                </a:rPr>
                <a:t>Dataset Used:</a:t>
              </a:r>
              <a:r>
                <a:rPr b="1" lang="en-GB" sz="938">
                  <a:solidFill>
                    <a:srgbClr val="212121"/>
                  </a:solidFill>
                  <a:latin typeface="Times New Roman"/>
                  <a:ea typeface="Times New Roman"/>
                  <a:cs typeface="Times New Roman"/>
                  <a:sym typeface="Times New Roman"/>
                </a:rPr>
                <a:t> Historical grid-emission data (ElectricityMap traces) and virtualized SLA-constrained web server traces</a:t>
              </a:r>
              <a:r>
                <a:rPr b="1" lang="en-GB" sz="838">
                  <a:solidFill>
                    <a:srgbClr val="212121"/>
                  </a:solidFill>
                  <a:latin typeface="Times New Roman"/>
                  <a:ea typeface="Times New Roman"/>
                  <a:cs typeface="Times New Roman"/>
                  <a:sym typeface="Times New Roman"/>
                </a:rPr>
                <a:t>.</a:t>
              </a:r>
              <a:endParaRPr b="1" sz="838">
                <a:solidFill>
                  <a:srgbClr val="212121"/>
                </a:solidFill>
                <a:latin typeface="Times New Roman"/>
                <a:ea typeface="Times New Roman"/>
                <a:cs typeface="Times New Roman"/>
                <a:sym typeface="Times New Roman"/>
              </a:endParaRPr>
            </a:p>
          </p:txBody>
        </p:sp>
        <p:sp>
          <p:nvSpPr>
            <p:cNvPr id="172" name="Google Shape;172;p18"/>
            <p:cNvSpPr txBox="1"/>
            <p:nvPr/>
          </p:nvSpPr>
          <p:spPr>
            <a:xfrm>
              <a:off x="4688462" y="1485900"/>
              <a:ext cx="4230600" cy="1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50">
                  <a:solidFill>
                    <a:srgbClr val="B50346"/>
                  </a:solidFill>
                  <a:latin typeface="Georgia"/>
                  <a:ea typeface="Georgia"/>
                  <a:cs typeface="Georgia"/>
                  <a:sym typeface="Georgia"/>
                </a:rPr>
                <a:t>LIMITATIONS &amp; FUTURE SCOPE:</a:t>
              </a:r>
              <a:endParaRPr b="1" sz="850">
                <a:solidFill>
                  <a:srgbClr val="B50346"/>
                </a:solidFill>
                <a:latin typeface="Georgia"/>
                <a:ea typeface="Georgia"/>
                <a:cs typeface="Georgia"/>
                <a:sym typeface="Georgia"/>
              </a:endParaRPr>
            </a:p>
          </p:txBody>
        </p:sp>
        <p:grpSp>
          <p:nvGrpSpPr>
            <p:cNvPr id="173" name="Google Shape;173;p18"/>
            <p:cNvGrpSpPr/>
            <p:nvPr/>
          </p:nvGrpSpPr>
          <p:grpSpPr>
            <a:xfrm>
              <a:off x="4688462" y="1657350"/>
              <a:ext cx="2095500" cy="285900"/>
              <a:chOff x="4688462" y="1657350"/>
              <a:chExt cx="2095500" cy="285900"/>
            </a:xfrm>
          </p:grpSpPr>
          <p:sp>
            <p:nvSpPr>
              <p:cNvPr id="174" name="Google Shape;174;p18"/>
              <p:cNvSpPr/>
              <p:nvPr/>
            </p:nvSpPr>
            <p:spPr>
              <a:xfrm>
                <a:off x="4688462" y="1657350"/>
                <a:ext cx="20955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18"/>
              <p:cNvSpPr/>
              <p:nvPr/>
            </p:nvSpPr>
            <p:spPr>
              <a:xfrm>
                <a:off x="4688462" y="1657350"/>
                <a:ext cx="414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8"/>
              <p:cNvSpPr txBox="1"/>
              <p:nvPr/>
            </p:nvSpPr>
            <p:spPr>
              <a:xfrm>
                <a:off x="4791647" y="1657350"/>
                <a:ext cx="19527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Georgia"/>
                    <a:ea typeface="Georgia"/>
                    <a:cs typeface="Georgia"/>
                    <a:sym typeface="Georgia"/>
                  </a:rPr>
                  <a:t>W</a:t>
                </a:r>
                <a:r>
                  <a:rPr b="1" lang="en-GB" sz="838">
                    <a:solidFill>
                      <a:srgbClr val="212121"/>
                    </a:solidFill>
                    <a:latin typeface="Times New Roman"/>
                    <a:ea typeface="Times New Roman"/>
                    <a:cs typeface="Times New Roman"/>
                    <a:sym typeface="Times New Roman"/>
                  </a:rPr>
                  <a:t>eb Apps Only — No AI or ML Workload Support</a:t>
                </a:r>
                <a:endParaRPr b="1" sz="838">
                  <a:solidFill>
                    <a:srgbClr val="212121"/>
                  </a:solidFill>
                  <a:latin typeface="Times New Roman"/>
                  <a:ea typeface="Times New Roman"/>
                  <a:cs typeface="Times New Roman"/>
                  <a:sym typeface="Times New Roman"/>
                </a:endParaRPr>
              </a:p>
            </p:txBody>
          </p:sp>
        </p:grpSp>
        <p:grpSp>
          <p:nvGrpSpPr>
            <p:cNvPr id="177" name="Google Shape;177;p18"/>
            <p:cNvGrpSpPr/>
            <p:nvPr/>
          </p:nvGrpSpPr>
          <p:grpSpPr>
            <a:xfrm>
              <a:off x="6886575" y="1657350"/>
              <a:ext cx="1990800" cy="285900"/>
              <a:chOff x="6886575" y="1657350"/>
              <a:chExt cx="1990800" cy="285900"/>
            </a:xfrm>
          </p:grpSpPr>
          <p:sp>
            <p:nvSpPr>
              <p:cNvPr id="178" name="Google Shape;178;p18"/>
              <p:cNvSpPr/>
              <p:nvPr/>
            </p:nvSpPr>
            <p:spPr>
              <a:xfrm>
                <a:off x="6886575" y="1657350"/>
                <a:ext cx="19908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8"/>
              <p:cNvSpPr/>
              <p:nvPr/>
            </p:nvSpPr>
            <p:spPr>
              <a:xfrm>
                <a:off x="6886575" y="1657350"/>
                <a:ext cx="414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8"/>
              <p:cNvSpPr txBox="1"/>
              <p:nvPr/>
            </p:nvSpPr>
            <p:spPr>
              <a:xfrm>
                <a:off x="6989445" y="1657350"/>
                <a:ext cx="18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Times New Roman"/>
                    <a:ea typeface="Times New Roman"/>
                    <a:cs typeface="Times New Roman"/>
                    <a:sym typeface="Times New Roman"/>
                  </a:rPr>
                  <a:t>Temporal Shifting Only — No Spatial Node Migration</a:t>
                </a:r>
                <a:endParaRPr b="1" sz="838">
                  <a:solidFill>
                    <a:srgbClr val="212121"/>
                  </a:solidFill>
                  <a:latin typeface="Times New Roman"/>
                  <a:ea typeface="Times New Roman"/>
                  <a:cs typeface="Times New Roman"/>
                  <a:sym typeface="Times New Roman"/>
                </a:endParaRPr>
              </a:p>
            </p:txBody>
          </p:sp>
        </p:grpSp>
        <p:grpSp>
          <p:nvGrpSpPr>
            <p:cNvPr id="181" name="Google Shape;181;p18"/>
            <p:cNvGrpSpPr/>
            <p:nvPr/>
          </p:nvGrpSpPr>
          <p:grpSpPr>
            <a:xfrm>
              <a:off x="4688462" y="2000250"/>
              <a:ext cx="4189500" cy="285900"/>
              <a:chOff x="4688462" y="2000250"/>
              <a:chExt cx="4189500" cy="285900"/>
            </a:xfrm>
          </p:grpSpPr>
          <p:sp>
            <p:nvSpPr>
              <p:cNvPr id="182" name="Google Shape;182;p18"/>
              <p:cNvSpPr/>
              <p:nvPr/>
            </p:nvSpPr>
            <p:spPr>
              <a:xfrm>
                <a:off x="4688462" y="2000250"/>
                <a:ext cx="41895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18"/>
              <p:cNvSpPr/>
              <p:nvPr/>
            </p:nvSpPr>
            <p:spPr>
              <a:xfrm>
                <a:off x="4688462" y="2000250"/>
                <a:ext cx="414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18"/>
              <p:cNvSpPr txBox="1"/>
              <p:nvPr/>
            </p:nvSpPr>
            <p:spPr>
              <a:xfrm>
                <a:off x="4791647" y="2000250"/>
                <a:ext cx="4044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Times New Roman"/>
                    <a:ea typeface="Times New Roman"/>
                    <a:cs typeface="Times New Roman"/>
                    <a:sym typeface="Times New Roman"/>
                  </a:rPr>
                  <a:t>Thermal Node Constraints Not Modeled in Scheduler</a:t>
                </a:r>
                <a:endParaRPr b="1" sz="838">
                  <a:solidFill>
                    <a:srgbClr val="212121"/>
                  </a:solidFill>
                  <a:latin typeface="Times New Roman"/>
                  <a:ea typeface="Times New Roman"/>
                  <a:cs typeface="Times New Roman"/>
                  <a:sym typeface="Times New Roman"/>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 name="Shape 188"/>
        <p:cNvGrpSpPr/>
        <p:nvPr/>
      </p:nvGrpSpPr>
      <p:grpSpPr>
        <a:xfrm>
          <a:off x="0" y="0"/>
          <a:ext cx="0" cy="0"/>
          <a:chOff x="0" y="0"/>
          <a:chExt cx="0" cy="0"/>
        </a:xfrm>
      </p:grpSpPr>
      <p:sp>
        <p:nvSpPr>
          <p:cNvPr id="189" name="Google Shape;189;p19"/>
          <p:cNvSpPr txBox="1"/>
          <p:nvPr/>
        </p:nvSpPr>
        <p:spPr>
          <a:xfrm>
            <a:off x="1461725" y="295175"/>
            <a:ext cx="7380600" cy="36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000">
                <a:solidFill>
                  <a:srgbClr val="B50346"/>
                </a:solidFill>
                <a:latin typeface="Times New Roman"/>
                <a:ea typeface="Times New Roman"/>
                <a:cs typeface="Times New Roman"/>
                <a:sym typeface="Times New Roman"/>
              </a:rPr>
              <a:t>EXISTING SYSTEM / LITERATURE REVIEW</a:t>
            </a:r>
            <a:endParaRPr b="1" sz="2000">
              <a:solidFill>
                <a:srgbClr val="B50346"/>
              </a:solidFill>
              <a:latin typeface="Times New Roman"/>
              <a:ea typeface="Times New Roman"/>
              <a:cs typeface="Times New Roman"/>
              <a:sym typeface="Times New Roman"/>
            </a:endParaRPr>
          </a:p>
        </p:txBody>
      </p:sp>
      <p:grpSp>
        <p:nvGrpSpPr>
          <p:cNvPr id="190" name="Google Shape;190;p19"/>
          <p:cNvGrpSpPr/>
          <p:nvPr/>
        </p:nvGrpSpPr>
        <p:grpSpPr>
          <a:xfrm>
            <a:off x="499249" y="1066800"/>
            <a:ext cx="8482791" cy="1733700"/>
            <a:chOff x="147638" y="1066800"/>
            <a:chExt cx="8834400" cy="1733700"/>
          </a:xfrm>
        </p:grpSpPr>
        <p:sp>
          <p:nvSpPr>
            <p:cNvPr id="191" name="Google Shape;191;p19"/>
            <p:cNvSpPr/>
            <p:nvPr/>
          </p:nvSpPr>
          <p:spPr>
            <a:xfrm>
              <a:off x="148351" y="1066800"/>
              <a:ext cx="8832600" cy="1733700"/>
            </a:xfrm>
            <a:prstGeom prst="roundRect">
              <a:avLst>
                <a:gd fmla="val 2195" name="adj"/>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2" name="Google Shape;192;p19"/>
            <p:cNvPicPr preferRelativeResize="0"/>
            <p:nvPr/>
          </p:nvPicPr>
          <p:blipFill rotWithShape="1">
            <a:blip r:embed="rId3">
              <a:alphaModFix/>
            </a:blip>
            <a:srcRect b="0" l="0" r="0" t="0"/>
            <a:stretch/>
          </p:blipFill>
          <p:spPr>
            <a:xfrm>
              <a:off x="147638" y="1066800"/>
              <a:ext cx="8834400" cy="228600"/>
            </a:xfrm>
            <a:prstGeom prst="rect">
              <a:avLst/>
            </a:prstGeom>
            <a:noFill/>
            <a:ln>
              <a:noFill/>
            </a:ln>
          </p:spPr>
        </p:pic>
        <p:sp>
          <p:nvSpPr>
            <p:cNvPr id="193" name="Google Shape;193;p19"/>
            <p:cNvSpPr/>
            <p:nvPr/>
          </p:nvSpPr>
          <p:spPr>
            <a:xfrm>
              <a:off x="287211" y="1071288"/>
              <a:ext cx="178800" cy="178800"/>
            </a:xfrm>
            <a:prstGeom prst="ellipse">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9"/>
            <p:cNvSpPr txBox="1"/>
            <p:nvPr/>
          </p:nvSpPr>
          <p:spPr>
            <a:xfrm>
              <a:off x="310842" y="1100004"/>
              <a:ext cx="131400" cy="121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75">
                  <a:solidFill>
                    <a:srgbClr val="FFFFFF"/>
                  </a:solidFill>
                  <a:latin typeface="Georgia"/>
                  <a:ea typeface="Georgia"/>
                  <a:cs typeface="Georgia"/>
                  <a:sym typeface="Georgia"/>
                </a:rPr>
                <a:t>3</a:t>
              </a:r>
              <a:r>
                <a:rPr b="1" lang="en-GB" sz="775">
                  <a:solidFill>
                    <a:srgbClr val="FFFFFF"/>
                  </a:solidFill>
                  <a:latin typeface="Georgia"/>
                  <a:ea typeface="Georgia"/>
                  <a:cs typeface="Georgia"/>
                  <a:sym typeface="Georgia"/>
                </a:rPr>
                <a:t>.</a:t>
              </a:r>
              <a:endParaRPr b="1" sz="775">
                <a:solidFill>
                  <a:srgbClr val="FFFFFF"/>
                </a:solidFill>
                <a:latin typeface="Georgia"/>
                <a:ea typeface="Georgia"/>
                <a:cs typeface="Georgia"/>
                <a:sym typeface="Georgia"/>
              </a:endParaRPr>
            </a:p>
          </p:txBody>
        </p:sp>
        <p:sp>
          <p:nvSpPr>
            <p:cNvPr id="195" name="Google Shape;195;p19"/>
            <p:cNvSpPr txBox="1"/>
            <p:nvPr/>
          </p:nvSpPr>
          <p:spPr>
            <a:xfrm>
              <a:off x="550675" y="1083173"/>
              <a:ext cx="8316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50">
                  <a:solidFill>
                    <a:srgbClr val="FFFFFF"/>
                  </a:solidFill>
                  <a:latin typeface="Georgia"/>
                  <a:ea typeface="Georgia"/>
                  <a:cs typeface="Georgia"/>
                  <a:sym typeface="Georgia"/>
                </a:rPr>
                <a:t>Souza, Jasoria et al. — "CASPER: Carbon-Aware Scheduling and Provisioning for Distributed Web Services"</a:t>
              </a:r>
              <a:endParaRPr b="1" sz="950">
                <a:solidFill>
                  <a:srgbClr val="FFFFFF"/>
                </a:solidFill>
                <a:latin typeface="Georgia"/>
                <a:ea typeface="Georgia"/>
                <a:cs typeface="Georgia"/>
                <a:sym typeface="Georgia"/>
              </a:endParaRPr>
            </a:p>
          </p:txBody>
        </p:sp>
        <p:sp>
          <p:nvSpPr>
            <p:cNvPr id="196" name="Google Shape;196;p19"/>
            <p:cNvSpPr txBox="1"/>
            <p:nvPr/>
          </p:nvSpPr>
          <p:spPr>
            <a:xfrm>
              <a:off x="251523" y="1485900"/>
              <a:ext cx="4137600" cy="1174500"/>
            </a:xfrm>
            <a:prstGeom prst="rect">
              <a:avLst/>
            </a:prstGeom>
            <a:noFill/>
            <a:ln>
              <a:noFill/>
            </a:ln>
          </p:spPr>
          <p:txBody>
            <a:bodyPr anchorCtr="0" anchor="ctr" bIns="0" lIns="0" spcFirstLastPara="1" rIns="0" wrap="square" tIns="0">
              <a:noAutofit/>
            </a:bodyPr>
            <a:lstStyle/>
            <a:p>
              <a:pPr indent="-290163" lvl="0" marL="457200" rtl="0" algn="just">
                <a:spcBef>
                  <a:spcPts val="0"/>
                </a:spcBef>
                <a:spcAft>
                  <a:spcPts val="0"/>
                </a:spcAft>
                <a:buClr>
                  <a:srgbClr val="212121"/>
                </a:buClr>
                <a:buSzPts val="970"/>
                <a:buFont typeface="Times New Roman"/>
                <a:buChar char="●"/>
              </a:pPr>
              <a:r>
                <a:rPr lang="en-GB" sz="1100">
                  <a:solidFill>
                    <a:schemeClr val="dk1"/>
                  </a:solidFill>
                  <a:latin typeface="Times New Roman"/>
                  <a:ea typeface="Times New Roman"/>
                  <a:cs typeface="Times New Roman"/>
                  <a:sym typeface="Times New Roman"/>
                </a:rPr>
                <a:t>Uses multi-objective optimization to route web requests to regions with higher renewable energy availability.</a:t>
              </a:r>
              <a:endParaRPr sz="1100">
                <a:solidFill>
                  <a:schemeClr val="dk1"/>
                </a:solidFill>
                <a:latin typeface="Times New Roman"/>
                <a:ea typeface="Times New Roman"/>
                <a:cs typeface="Times New Roman"/>
                <a:sym typeface="Times New Roman"/>
              </a:endParaRPr>
            </a:p>
            <a:p>
              <a:pPr indent="0" lvl="0" marL="457200" rtl="0" algn="just">
                <a:spcBef>
                  <a:spcPts val="150"/>
                </a:spcBef>
                <a:spcAft>
                  <a:spcPts val="0"/>
                </a:spcAft>
                <a:buNone/>
              </a:pPr>
              <a:r>
                <a:t/>
              </a:r>
              <a:endParaRPr sz="1100">
                <a:solidFill>
                  <a:schemeClr val="dk1"/>
                </a:solidFill>
                <a:latin typeface="Times New Roman"/>
                <a:ea typeface="Times New Roman"/>
                <a:cs typeface="Times New Roman"/>
                <a:sym typeface="Times New Roman"/>
              </a:endParaRPr>
            </a:p>
            <a:p>
              <a:pPr indent="-290163" lvl="0" marL="457200" rtl="0" algn="just">
                <a:spcBef>
                  <a:spcPts val="150"/>
                </a:spcBef>
                <a:spcAft>
                  <a:spcPts val="0"/>
                </a:spcAft>
                <a:buClr>
                  <a:srgbClr val="212121"/>
                </a:buClr>
                <a:buSzPts val="970"/>
                <a:buFont typeface="Times New Roman"/>
                <a:buChar char="●"/>
              </a:pPr>
              <a:r>
                <a:rPr lang="en-GB" sz="1100">
                  <a:solidFill>
                    <a:schemeClr val="dk1"/>
                  </a:solidFill>
                  <a:latin typeface="Times New Roman"/>
                  <a:ea typeface="Times New Roman"/>
                  <a:cs typeface="Times New Roman"/>
                  <a:sym typeface="Times New Roman"/>
                </a:rPr>
                <a:t>Balances by achieving measurable carbon emissions without degrading latency, reducing emissions without affecting SLA performance. </a:t>
              </a:r>
              <a:endParaRPr sz="970">
                <a:solidFill>
                  <a:srgbClr val="212121"/>
                </a:solidFill>
                <a:latin typeface="Times New Roman"/>
                <a:ea typeface="Times New Roman"/>
                <a:cs typeface="Times New Roman"/>
                <a:sym typeface="Times New Roman"/>
              </a:endParaRPr>
            </a:p>
            <a:p>
              <a:pPr indent="0" lvl="0" marL="457200" rtl="0" algn="l">
                <a:spcBef>
                  <a:spcPts val="150"/>
                </a:spcBef>
                <a:spcAft>
                  <a:spcPts val="0"/>
                </a:spcAft>
                <a:buNone/>
              </a:pPr>
              <a:r>
                <a:t/>
              </a:r>
              <a:endParaRPr sz="970">
                <a:solidFill>
                  <a:srgbClr val="212121"/>
                </a:solidFill>
                <a:latin typeface="Times New Roman"/>
                <a:ea typeface="Times New Roman"/>
                <a:cs typeface="Times New Roman"/>
                <a:sym typeface="Times New Roman"/>
              </a:endParaRPr>
            </a:p>
            <a:p>
              <a:pPr indent="0" lvl="0" marL="0" rtl="0" algn="l">
                <a:spcBef>
                  <a:spcPts val="300"/>
                </a:spcBef>
                <a:spcAft>
                  <a:spcPts val="0"/>
                </a:spcAft>
                <a:buNone/>
              </a:pPr>
              <a:r>
                <a:rPr b="1" lang="en-GB" sz="900">
                  <a:solidFill>
                    <a:srgbClr val="B50346"/>
                  </a:solidFill>
                  <a:latin typeface="Times New Roman"/>
                  <a:ea typeface="Times New Roman"/>
                  <a:cs typeface="Times New Roman"/>
                  <a:sym typeface="Times New Roman"/>
                </a:rPr>
                <a:t>Dataset Used: </a:t>
              </a:r>
              <a:r>
                <a:rPr b="1" lang="en-GB" sz="900">
                  <a:solidFill>
                    <a:srgbClr val="212121"/>
                  </a:solidFill>
                  <a:latin typeface="Times New Roman"/>
                  <a:ea typeface="Times New Roman"/>
                  <a:cs typeface="Times New Roman"/>
                  <a:sym typeface="Times New Roman"/>
                </a:rPr>
                <a:t>Production trace logs from geo-distributed web service instances.</a:t>
              </a:r>
              <a:endParaRPr b="1" sz="900">
                <a:solidFill>
                  <a:srgbClr val="212121"/>
                </a:solidFill>
                <a:latin typeface="Times New Roman"/>
                <a:ea typeface="Times New Roman"/>
                <a:cs typeface="Times New Roman"/>
                <a:sym typeface="Times New Roman"/>
              </a:endParaRPr>
            </a:p>
          </p:txBody>
        </p:sp>
        <p:sp>
          <p:nvSpPr>
            <p:cNvPr id="197" name="Google Shape;197;p19"/>
            <p:cNvSpPr txBox="1"/>
            <p:nvPr/>
          </p:nvSpPr>
          <p:spPr>
            <a:xfrm>
              <a:off x="4688462" y="1485900"/>
              <a:ext cx="4230600" cy="1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50">
                  <a:solidFill>
                    <a:srgbClr val="B50346"/>
                  </a:solidFill>
                  <a:latin typeface="Times New Roman"/>
                  <a:ea typeface="Times New Roman"/>
                  <a:cs typeface="Times New Roman"/>
                  <a:sym typeface="Times New Roman"/>
                </a:rPr>
                <a:t>LIMITATIONS &amp; FUTURE SCOPE:</a:t>
              </a:r>
              <a:endParaRPr b="1" sz="850">
                <a:solidFill>
                  <a:srgbClr val="B50346"/>
                </a:solidFill>
                <a:latin typeface="Times New Roman"/>
                <a:ea typeface="Times New Roman"/>
                <a:cs typeface="Times New Roman"/>
                <a:sym typeface="Times New Roman"/>
              </a:endParaRPr>
            </a:p>
          </p:txBody>
        </p:sp>
        <p:grpSp>
          <p:nvGrpSpPr>
            <p:cNvPr id="198" name="Google Shape;198;p19"/>
            <p:cNvGrpSpPr/>
            <p:nvPr/>
          </p:nvGrpSpPr>
          <p:grpSpPr>
            <a:xfrm>
              <a:off x="4688462" y="1657350"/>
              <a:ext cx="2095500" cy="285900"/>
              <a:chOff x="4688462" y="1657350"/>
              <a:chExt cx="2095500" cy="285900"/>
            </a:xfrm>
          </p:grpSpPr>
          <p:sp>
            <p:nvSpPr>
              <p:cNvPr id="199" name="Google Shape;199;p19"/>
              <p:cNvSpPr/>
              <p:nvPr/>
            </p:nvSpPr>
            <p:spPr>
              <a:xfrm>
                <a:off x="4688462" y="1657350"/>
                <a:ext cx="20955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9"/>
              <p:cNvSpPr/>
              <p:nvPr/>
            </p:nvSpPr>
            <p:spPr>
              <a:xfrm>
                <a:off x="4688462" y="1657350"/>
                <a:ext cx="414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19"/>
              <p:cNvSpPr txBox="1"/>
              <p:nvPr/>
            </p:nvSpPr>
            <p:spPr>
              <a:xfrm>
                <a:off x="4791647" y="1657350"/>
                <a:ext cx="19527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Times New Roman"/>
                    <a:ea typeface="Times New Roman"/>
                    <a:cs typeface="Times New Roman"/>
                    <a:sym typeface="Times New Roman"/>
                  </a:rPr>
                  <a:t>Data Gravity Limits Large-Scale Dataset Migration</a:t>
                </a:r>
                <a:endParaRPr b="1" sz="838">
                  <a:solidFill>
                    <a:srgbClr val="212121"/>
                  </a:solidFill>
                  <a:latin typeface="Times New Roman"/>
                  <a:ea typeface="Times New Roman"/>
                  <a:cs typeface="Times New Roman"/>
                  <a:sym typeface="Times New Roman"/>
                </a:endParaRPr>
              </a:p>
            </p:txBody>
          </p:sp>
        </p:grpSp>
        <p:grpSp>
          <p:nvGrpSpPr>
            <p:cNvPr id="202" name="Google Shape;202;p19"/>
            <p:cNvGrpSpPr/>
            <p:nvPr/>
          </p:nvGrpSpPr>
          <p:grpSpPr>
            <a:xfrm>
              <a:off x="6886575" y="1657350"/>
              <a:ext cx="1990800" cy="285900"/>
              <a:chOff x="6886575" y="1657350"/>
              <a:chExt cx="1990800" cy="285900"/>
            </a:xfrm>
          </p:grpSpPr>
          <p:sp>
            <p:nvSpPr>
              <p:cNvPr id="203" name="Google Shape;203;p19"/>
              <p:cNvSpPr/>
              <p:nvPr/>
            </p:nvSpPr>
            <p:spPr>
              <a:xfrm>
                <a:off x="6886575" y="1657350"/>
                <a:ext cx="19908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19"/>
              <p:cNvSpPr/>
              <p:nvPr/>
            </p:nvSpPr>
            <p:spPr>
              <a:xfrm>
                <a:off x="6886575" y="1657350"/>
                <a:ext cx="414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19"/>
              <p:cNvSpPr txBox="1"/>
              <p:nvPr/>
            </p:nvSpPr>
            <p:spPr>
              <a:xfrm>
                <a:off x="6989445" y="1657350"/>
                <a:ext cx="18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738">
                    <a:solidFill>
                      <a:srgbClr val="212121"/>
                    </a:solidFill>
                    <a:latin typeface="Times New Roman"/>
                    <a:ea typeface="Times New Roman"/>
                    <a:cs typeface="Times New Roman"/>
                    <a:sym typeface="Times New Roman"/>
                  </a:rPr>
                  <a:t>Web Traffic Only — No Container-Granularity Scheduling</a:t>
                </a:r>
                <a:endParaRPr b="1" sz="738">
                  <a:solidFill>
                    <a:srgbClr val="212121"/>
                  </a:solidFill>
                  <a:latin typeface="Times New Roman"/>
                  <a:ea typeface="Times New Roman"/>
                  <a:cs typeface="Times New Roman"/>
                  <a:sym typeface="Times New Roman"/>
                </a:endParaRPr>
              </a:p>
            </p:txBody>
          </p:sp>
        </p:grpSp>
        <p:grpSp>
          <p:nvGrpSpPr>
            <p:cNvPr id="206" name="Google Shape;206;p19"/>
            <p:cNvGrpSpPr/>
            <p:nvPr/>
          </p:nvGrpSpPr>
          <p:grpSpPr>
            <a:xfrm>
              <a:off x="4688462" y="2000250"/>
              <a:ext cx="4189500" cy="285900"/>
              <a:chOff x="4688462" y="2000250"/>
              <a:chExt cx="4189500" cy="285900"/>
            </a:xfrm>
          </p:grpSpPr>
          <p:sp>
            <p:nvSpPr>
              <p:cNvPr id="207" name="Google Shape;207;p19"/>
              <p:cNvSpPr/>
              <p:nvPr/>
            </p:nvSpPr>
            <p:spPr>
              <a:xfrm>
                <a:off x="4688462" y="2000250"/>
                <a:ext cx="41895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19"/>
              <p:cNvSpPr/>
              <p:nvPr/>
            </p:nvSpPr>
            <p:spPr>
              <a:xfrm>
                <a:off x="4688462" y="2000250"/>
                <a:ext cx="414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19"/>
              <p:cNvSpPr txBox="1"/>
              <p:nvPr/>
            </p:nvSpPr>
            <p:spPr>
              <a:xfrm>
                <a:off x="4791647" y="2000250"/>
                <a:ext cx="4044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Times New Roman"/>
                    <a:ea typeface="Times New Roman"/>
                    <a:cs typeface="Times New Roman"/>
                    <a:sym typeface="Times New Roman"/>
                  </a:rPr>
                  <a:t>No Facility-Level Thermal or Cooling Overhead Modeled</a:t>
                </a:r>
                <a:endParaRPr b="1" sz="838">
                  <a:solidFill>
                    <a:srgbClr val="212121"/>
                  </a:solidFill>
                  <a:latin typeface="Times New Roman"/>
                  <a:ea typeface="Times New Roman"/>
                  <a:cs typeface="Times New Roman"/>
                  <a:sym typeface="Times New Roman"/>
                </a:endParaRPr>
              </a:p>
            </p:txBody>
          </p:sp>
        </p:grpSp>
      </p:grpSp>
      <p:grpSp>
        <p:nvGrpSpPr>
          <p:cNvPr id="210" name="Google Shape;210;p19"/>
          <p:cNvGrpSpPr/>
          <p:nvPr/>
        </p:nvGrpSpPr>
        <p:grpSpPr>
          <a:xfrm>
            <a:off x="507667" y="2952750"/>
            <a:ext cx="8473956" cy="1733700"/>
            <a:chOff x="147638" y="2952750"/>
            <a:chExt cx="8834400" cy="1733700"/>
          </a:xfrm>
        </p:grpSpPr>
        <p:sp>
          <p:nvSpPr>
            <p:cNvPr id="211" name="Google Shape;211;p19"/>
            <p:cNvSpPr/>
            <p:nvPr/>
          </p:nvSpPr>
          <p:spPr>
            <a:xfrm>
              <a:off x="148376" y="2952750"/>
              <a:ext cx="8832600" cy="1733700"/>
            </a:xfrm>
            <a:prstGeom prst="roundRect">
              <a:avLst>
                <a:gd fmla="val 2195" name="adj"/>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2" name="Google Shape;212;p19"/>
            <p:cNvPicPr preferRelativeResize="0"/>
            <p:nvPr/>
          </p:nvPicPr>
          <p:blipFill rotWithShape="1">
            <a:blip r:embed="rId4">
              <a:alphaModFix/>
            </a:blip>
            <a:srcRect b="0" l="0" r="0" t="0"/>
            <a:stretch/>
          </p:blipFill>
          <p:spPr>
            <a:xfrm>
              <a:off x="147638" y="2952750"/>
              <a:ext cx="8834400" cy="228600"/>
            </a:xfrm>
            <a:prstGeom prst="rect">
              <a:avLst/>
            </a:prstGeom>
            <a:noFill/>
            <a:ln>
              <a:noFill/>
            </a:ln>
          </p:spPr>
        </p:pic>
        <p:sp>
          <p:nvSpPr>
            <p:cNvPr id="213" name="Google Shape;213;p19"/>
            <p:cNvSpPr/>
            <p:nvPr/>
          </p:nvSpPr>
          <p:spPr>
            <a:xfrm>
              <a:off x="265433" y="2977735"/>
              <a:ext cx="178800" cy="178800"/>
            </a:xfrm>
            <a:prstGeom prst="ellipse">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19"/>
            <p:cNvSpPr txBox="1"/>
            <p:nvPr/>
          </p:nvSpPr>
          <p:spPr>
            <a:xfrm>
              <a:off x="561113" y="2981325"/>
              <a:ext cx="8316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50">
                  <a:solidFill>
                    <a:srgbClr val="FFFFFF"/>
                  </a:solidFill>
                  <a:latin typeface="Georgia"/>
                  <a:ea typeface="Georgia"/>
                  <a:cs typeface="Georgia"/>
                  <a:sym typeface="Georgia"/>
                </a:rPr>
                <a:t>Zhang, Guo, Tan &amp; Jiang — "CarbonEdge: Carbon-Aware Deep Learning Inference Framework for Sustainable Edge Computing"</a:t>
              </a:r>
              <a:endParaRPr b="1" sz="950">
                <a:solidFill>
                  <a:srgbClr val="FFFFFF"/>
                </a:solidFill>
                <a:latin typeface="Georgia"/>
                <a:ea typeface="Georgia"/>
                <a:cs typeface="Georgia"/>
                <a:sym typeface="Georgia"/>
              </a:endParaRPr>
            </a:p>
          </p:txBody>
        </p:sp>
        <p:sp>
          <p:nvSpPr>
            <p:cNvPr id="215" name="Google Shape;215;p19"/>
            <p:cNvSpPr txBox="1"/>
            <p:nvPr/>
          </p:nvSpPr>
          <p:spPr>
            <a:xfrm>
              <a:off x="148375" y="3293500"/>
              <a:ext cx="4291500" cy="1259700"/>
            </a:xfrm>
            <a:prstGeom prst="rect">
              <a:avLst/>
            </a:prstGeom>
            <a:noFill/>
            <a:ln>
              <a:noFill/>
            </a:ln>
          </p:spPr>
          <p:txBody>
            <a:bodyPr anchorCtr="0" anchor="ctr" bIns="0" lIns="95250" spcFirstLastPara="1" rIns="0" wrap="square" tIns="0">
              <a:noAutofit/>
            </a:bodyPr>
            <a:lstStyle/>
            <a:p>
              <a:pPr indent="-290163" lvl="0" marL="457200" rtl="0" algn="just">
                <a:lnSpc>
                  <a:spcPct val="115000"/>
                </a:lnSpc>
                <a:spcBef>
                  <a:spcPts val="1200"/>
                </a:spcBef>
                <a:spcAft>
                  <a:spcPts val="0"/>
                </a:spcAft>
                <a:buClr>
                  <a:srgbClr val="212121"/>
                </a:buClr>
                <a:buSzPts val="970"/>
                <a:buFont typeface="Times New Roman"/>
                <a:buChar char="●"/>
              </a:pPr>
              <a:r>
                <a:rPr lang="en-GB" sz="1100">
                  <a:solidFill>
                    <a:schemeClr val="dk1"/>
                  </a:solidFill>
                  <a:latin typeface="Times New Roman"/>
                  <a:ea typeface="Times New Roman"/>
                  <a:cs typeface="Times New Roman"/>
                  <a:sym typeface="Times New Roman"/>
                </a:rPr>
                <a:t>Uses real-time carbon intensity to dynamically adjust AI model precision, reducing energy consumption during high-carbon periods while maintaining efficient edge inference.</a:t>
              </a:r>
              <a:endParaRPr sz="970">
                <a:solidFill>
                  <a:srgbClr val="212121"/>
                </a:solidFill>
                <a:latin typeface="Times New Roman"/>
                <a:ea typeface="Times New Roman"/>
                <a:cs typeface="Times New Roman"/>
                <a:sym typeface="Times New Roman"/>
              </a:endParaRPr>
            </a:p>
            <a:p>
              <a:pPr indent="0" lvl="0" marL="0" rtl="0" algn="l">
                <a:spcBef>
                  <a:spcPts val="1200"/>
                </a:spcBef>
                <a:spcAft>
                  <a:spcPts val="0"/>
                </a:spcAft>
                <a:buNone/>
              </a:pPr>
              <a:r>
                <a:rPr b="1" lang="en-GB" sz="900">
                  <a:solidFill>
                    <a:srgbClr val="B50346"/>
                  </a:solidFill>
                  <a:latin typeface="Times New Roman"/>
                  <a:ea typeface="Times New Roman"/>
                  <a:cs typeface="Times New Roman"/>
                  <a:sym typeface="Times New Roman"/>
                </a:rPr>
                <a:t>Dataset Used: </a:t>
              </a:r>
              <a:r>
                <a:rPr b="1" lang="en-GB" sz="900">
                  <a:solidFill>
                    <a:srgbClr val="212121"/>
                  </a:solidFill>
                  <a:latin typeface="Times New Roman"/>
                  <a:ea typeface="Times New Roman"/>
                  <a:cs typeface="Times New Roman"/>
                  <a:sym typeface="Times New Roman"/>
                </a:rPr>
                <a:t>ImageNet ILSVRC2012 validation set; MobileNetV2, MobileNetV4, and EfficientNet-B0 model benchmarks.</a:t>
              </a:r>
              <a:endParaRPr b="1" sz="900">
                <a:solidFill>
                  <a:srgbClr val="212121"/>
                </a:solidFill>
                <a:latin typeface="Times New Roman"/>
                <a:ea typeface="Times New Roman"/>
                <a:cs typeface="Times New Roman"/>
                <a:sym typeface="Times New Roman"/>
              </a:endParaRPr>
            </a:p>
          </p:txBody>
        </p:sp>
        <p:sp>
          <p:nvSpPr>
            <p:cNvPr id="216" name="Google Shape;216;p19"/>
            <p:cNvSpPr txBox="1"/>
            <p:nvPr/>
          </p:nvSpPr>
          <p:spPr>
            <a:xfrm>
              <a:off x="4688481" y="3371850"/>
              <a:ext cx="4230600" cy="1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50">
                  <a:solidFill>
                    <a:srgbClr val="B50346"/>
                  </a:solidFill>
                  <a:latin typeface="Times New Roman"/>
                  <a:ea typeface="Times New Roman"/>
                  <a:cs typeface="Times New Roman"/>
                  <a:sym typeface="Times New Roman"/>
                </a:rPr>
                <a:t>LIMITATIONS &amp; FUTURE SCOPE:</a:t>
              </a:r>
              <a:endParaRPr b="1" sz="850">
                <a:solidFill>
                  <a:srgbClr val="B50346"/>
                </a:solidFill>
                <a:latin typeface="Times New Roman"/>
                <a:ea typeface="Times New Roman"/>
                <a:cs typeface="Times New Roman"/>
                <a:sym typeface="Times New Roman"/>
              </a:endParaRPr>
            </a:p>
          </p:txBody>
        </p:sp>
        <p:grpSp>
          <p:nvGrpSpPr>
            <p:cNvPr id="217" name="Google Shape;217;p19"/>
            <p:cNvGrpSpPr/>
            <p:nvPr/>
          </p:nvGrpSpPr>
          <p:grpSpPr>
            <a:xfrm>
              <a:off x="4688481" y="3543300"/>
              <a:ext cx="2249700" cy="285900"/>
              <a:chOff x="4688481" y="3543300"/>
              <a:chExt cx="2249700" cy="285900"/>
            </a:xfrm>
          </p:grpSpPr>
          <p:sp>
            <p:nvSpPr>
              <p:cNvPr id="218" name="Google Shape;218;p19"/>
              <p:cNvSpPr/>
              <p:nvPr/>
            </p:nvSpPr>
            <p:spPr>
              <a:xfrm>
                <a:off x="4688481" y="3543300"/>
                <a:ext cx="22497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19"/>
              <p:cNvSpPr/>
              <p:nvPr/>
            </p:nvSpPr>
            <p:spPr>
              <a:xfrm>
                <a:off x="4688481" y="3543300"/>
                <a:ext cx="414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p19"/>
              <p:cNvSpPr txBox="1"/>
              <p:nvPr/>
            </p:nvSpPr>
            <p:spPr>
              <a:xfrm>
                <a:off x="4791666" y="3543300"/>
                <a:ext cx="21051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Times New Roman"/>
                    <a:ea typeface="Times New Roman"/>
                    <a:cs typeface="Times New Roman"/>
                    <a:sym typeface="Times New Roman"/>
                  </a:rPr>
                  <a:t>Quantization Degrades AI Accuracy Under Carbon Pressure</a:t>
                </a:r>
                <a:endParaRPr b="1" sz="838">
                  <a:solidFill>
                    <a:srgbClr val="212121"/>
                  </a:solidFill>
                  <a:latin typeface="Times New Roman"/>
                  <a:ea typeface="Times New Roman"/>
                  <a:cs typeface="Times New Roman"/>
                  <a:sym typeface="Times New Roman"/>
                </a:endParaRPr>
              </a:p>
            </p:txBody>
          </p:sp>
        </p:grpSp>
        <p:grpSp>
          <p:nvGrpSpPr>
            <p:cNvPr id="221" name="Google Shape;221;p19"/>
            <p:cNvGrpSpPr/>
            <p:nvPr/>
          </p:nvGrpSpPr>
          <p:grpSpPr>
            <a:xfrm>
              <a:off x="7041090" y="3543300"/>
              <a:ext cx="1836900" cy="285900"/>
              <a:chOff x="7041090" y="3543300"/>
              <a:chExt cx="1836900" cy="285900"/>
            </a:xfrm>
          </p:grpSpPr>
          <p:sp>
            <p:nvSpPr>
              <p:cNvPr id="222" name="Google Shape;222;p19"/>
              <p:cNvSpPr/>
              <p:nvPr/>
            </p:nvSpPr>
            <p:spPr>
              <a:xfrm>
                <a:off x="7041090" y="3543300"/>
                <a:ext cx="18369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19"/>
              <p:cNvSpPr/>
              <p:nvPr/>
            </p:nvSpPr>
            <p:spPr>
              <a:xfrm>
                <a:off x="7041090" y="3543300"/>
                <a:ext cx="414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19"/>
              <p:cNvSpPr txBox="1"/>
              <p:nvPr/>
            </p:nvSpPr>
            <p:spPr>
              <a:xfrm>
                <a:off x="7144274" y="3543300"/>
                <a:ext cx="16923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Times New Roman"/>
                    <a:ea typeface="Times New Roman"/>
                    <a:cs typeface="Times New Roman"/>
                    <a:sym typeface="Times New Roman"/>
                  </a:rPr>
                  <a:t>No Adaptive Threshold to Protect Mission-Critical AI</a:t>
                </a:r>
                <a:endParaRPr b="1" sz="838">
                  <a:solidFill>
                    <a:srgbClr val="212121"/>
                  </a:solidFill>
                  <a:latin typeface="Times New Roman"/>
                  <a:ea typeface="Times New Roman"/>
                  <a:cs typeface="Times New Roman"/>
                  <a:sym typeface="Times New Roman"/>
                </a:endParaRPr>
              </a:p>
            </p:txBody>
          </p:sp>
        </p:grpSp>
        <p:grpSp>
          <p:nvGrpSpPr>
            <p:cNvPr id="225" name="Google Shape;225;p19"/>
            <p:cNvGrpSpPr/>
            <p:nvPr/>
          </p:nvGrpSpPr>
          <p:grpSpPr>
            <a:xfrm>
              <a:off x="4688481" y="3886200"/>
              <a:ext cx="4189500" cy="285900"/>
              <a:chOff x="4688481" y="3886200"/>
              <a:chExt cx="4189500" cy="285900"/>
            </a:xfrm>
          </p:grpSpPr>
          <p:sp>
            <p:nvSpPr>
              <p:cNvPr id="226" name="Google Shape;226;p19"/>
              <p:cNvSpPr/>
              <p:nvPr/>
            </p:nvSpPr>
            <p:spPr>
              <a:xfrm>
                <a:off x="4688481" y="3886200"/>
                <a:ext cx="41895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19"/>
              <p:cNvSpPr/>
              <p:nvPr/>
            </p:nvSpPr>
            <p:spPr>
              <a:xfrm>
                <a:off x="4688481" y="3886200"/>
                <a:ext cx="414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19"/>
              <p:cNvSpPr txBox="1"/>
              <p:nvPr/>
            </p:nvSpPr>
            <p:spPr>
              <a:xfrm>
                <a:off x="4791666" y="3886200"/>
                <a:ext cx="4044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Times New Roman"/>
                    <a:ea typeface="Times New Roman"/>
                    <a:cs typeface="Times New Roman"/>
                    <a:sym typeface="Times New Roman"/>
                  </a:rPr>
                  <a:t>Single-Device Only — No Cluster-Level Kubernetes Orchestration</a:t>
                </a:r>
                <a:endParaRPr b="1" sz="838">
                  <a:solidFill>
                    <a:srgbClr val="212121"/>
                  </a:solidFill>
                  <a:latin typeface="Times New Roman"/>
                  <a:ea typeface="Times New Roman"/>
                  <a:cs typeface="Times New Roman"/>
                  <a:sym typeface="Times New Roman"/>
                </a:endParaRPr>
              </a:p>
            </p:txBody>
          </p:sp>
        </p:grpSp>
        <p:sp>
          <p:nvSpPr>
            <p:cNvPr id="229" name="Google Shape;229;p19"/>
            <p:cNvSpPr txBox="1"/>
            <p:nvPr/>
          </p:nvSpPr>
          <p:spPr>
            <a:xfrm>
              <a:off x="289100" y="3006450"/>
              <a:ext cx="155100" cy="121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75">
                  <a:solidFill>
                    <a:srgbClr val="FFFFFF"/>
                  </a:solidFill>
                  <a:latin typeface="Georgia"/>
                  <a:ea typeface="Georgia"/>
                  <a:cs typeface="Georgia"/>
                  <a:sym typeface="Georgia"/>
                </a:rPr>
                <a:t>4.</a:t>
              </a:r>
              <a:endParaRPr b="1" sz="775">
                <a:solidFill>
                  <a:srgbClr val="FFFFFF"/>
                </a:solidFill>
                <a:latin typeface="Georgia"/>
                <a:ea typeface="Georgia"/>
                <a:cs typeface="Georgia"/>
                <a:sym typeface="Georgia"/>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0"/>
          <p:cNvSpPr txBox="1"/>
          <p:nvPr/>
        </p:nvSpPr>
        <p:spPr>
          <a:xfrm>
            <a:off x="1461725" y="295175"/>
            <a:ext cx="7380600" cy="36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000">
                <a:solidFill>
                  <a:srgbClr val="B50346"/>
                </a:solidFill>
                <a:latin typeface="Times New Roman"/>
                <a:ea typeface="Times New Roman"/>
                <a:cs typeface="Times New Roman"/>
                <a:sym typeface="Times New Roman"/>
              </a:rPr>
              <a:t>EXISTING SYSTEM / LITERATURE REVIEW</a:t>
            </a:r>
            <a:endParaRPr b="1" sz="2000">
              <a:solidFill>
                <a:srgbClr val="B50346"/>
              </a:solidFill>
              <a:latin typeface="Times New Roman"/>
              <a:ea typeface="Times New Roman"/>
              <a:cs typeface="Times New Roman"/>
              <a:sym typeface="Times New Roman"/>
            </a:endParaRPr>
          </a:p>
        </p:txBody>
      </p:sp>
      <p:grpSp>
        <p:nvGrpSpPr>
          <p:cNvPr id="235" name="Google Shape;235;p20"/>
          <p:cNvGrpSpPr/>
          <p:nvPr/>
        </p:nvGrpSpPr>
        <p:grpSpPr>
          <a:xfrm>
            <a:off x="507667" y="1038367"/>
            <a:ext cx="8473956" cy="1733700"/>
            <a:chOff x="147638" y="1066800"/>
            <a:chExt cx="8834400" cy="1733700"/>
          </a:xfrm>
        </p:grpSpPr>
        <p:sp>
          <p:nvSpPr>
            <p:cNvPr id="236" name="Google Shape;236;p20"/>
            <p:cNvSpPr/>
            <p:nvPr/>
          </p:nvSpPr>
          <p:spPr>
            <a:xfrm>
              <a:off x="148351" y="1066800"/>
              <a:ext cx="8832600" cy="1733700"/>
            </a:xfrm>
            <a:prstGeom prst="roundRect">
              <a:avLst>
                <a:gd fmla="val 2195" name="adj"/>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37" name="Google Shape;237;p20"/>
            <p:cNvPicPr preferRelativeResize="0"/>
            <p:nvPr/>
          </p:nvPicPr>
          <p:blipFill rotWithShape="1">
            <a:blip r:embed="rId3">
              <a:alphaModFix/>
            </a:blip>
            <a:srcRect b="0" l="0" r="0" t="0"/>
            <a:stretch/>
          </p:blipFill>
          <p:spPr>
            <a:xfrm>
              <a:off x="147638" y="1066800"/>
              <a:ext cx="8834400" cy="228600"/>
            </a:xfrm>
            <a:prstGeom prst="rect">
              <a:avLst/>
            </a:prstGeom>
            <a:noFill/>
            <a:ln>
              <a:noFill/>
            </a:ln>
          </p:spPr>
        </p:pic>
        <p:sp>
          <p:nvSpPr>
            <p:cNvPr id="238" name="Google Shape;238;p20"/>
            <p:cNvSpPr/>
            <p:nvPr/>
          </p:nvSpPr>
          <p:spPr>
            <a:xfrm>
              <a:off x="287211" y="1071288"/>
              <a:ext cx="178800" cy="178800"/>
            </a:xfrm>
            <a:prstGeom prst="ellipse">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20"/>
            <p:cNvSpPr txBox="1"/>
            <p:nvPr/>
          </p:nvSpPr>
          <p:spPr>
            <a:xfrm>
              <a:off x="310842" y="1100004"/>
              <a:ext cx="131400" cy="121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75">
                  <a:solidFill>
                    <a:srgbClr val="FFFFFF"/>
                  </a:solidFill>
                  <a:latin typeface="Georgia"/>
                  <a:ea typeface="Georgia"/>
                  <a:cs typeface="Georgia"/>
                  <a:sym typeface="Georgia"/>
                </a:rPr>
                <a:t>5.</a:t>
              </a:r>
              <a:endParaRPr b="1" sz="775">
                <a:solidFill>
                  <a:srgbClr val="FFFFFF"/>
                </a:solidFill>
                <a:latin typeface="Georgia"/>
                <a:ea typeface="Georgia"/>
                <a:cs typeface="Georgia"/>
                <a:sym typeface="Georgia"/>
              </a:endParaRPr>
            </a:p>
          </p:txBody>
        </p:sp>
        <p:sp>
          <p:nvSpPr>
            <p:cNvPr id="240" name="Google Shape;240;p20"/>
            <p:cNvSpPr txBox="1"/>
            <p:nvPr/>
          </p:nvSpPr>
          <p:spPr>
            <a:xfrm>
              <a:off x="550675" y="1083173"/>
              <a:ext cx="8316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50">
                  <a:solidFill>
                    <a:srgbClr val="FFFFFF"/>
                  </a:solidFill>
                  <a:latin typeface="Georgia"/>
                  <a:ea typeface="Georgia"/>
                  <a:cs typeface="Georgia"/>
                  <a:sym typeface="Georgia"/>
                </a:rPr>
                <a:t>Amaral et al. (IBM Research) — "Kepler: A Framework to Calculate the Energy Consumption of Containerized Applications"</a:t>
              </a:r>
              <a:endParaRPr b="1" sz="950">
                <a:solidFill>
                  <a:srgbClr val="FFFFFF"/>
                </a:solidFill>
                <a:latin typeface="Georgia"/>
                <a:ea typeface="Georgia"/>
                <a:cs typeface="Georgia"/>
                <a:sym typeface="Georgia"/>
              </a:endParaRPr>
            </a:p>
          </p:txBody>
        </p:sp>
        <p:sp>
          <p:nvSpPr>
            <p:cNvPr id="241" name="Google Shape;241;p20"/>
            <p:cNvSpPr txBox="1"/>
            <p:nvPr/>
          </p:nvSpPr>
          <p:spPr>
            <a:xfrm>
              <a:off x="251534" y="1423158"/>
              <a:ext cx="4344000" cy="1237200"/>
            </a:xfrm>
            <a:prstGeom prst="rect">
              <a:avLst/>
            </a:prstGeom>
            <a:noFill/>
            <a:ln>
              <a:noFill/>
            </a:ln>
          </p:spPr>
          <p:txBody>
            <a:bodyPr anchorCtr="0" anchor="ctr" bIns="0" lIns="0" spcFirstLastPara="1" rIns="0" wrap="square" tIns="0">
              <a:noAutofit/>
            </a:bodyPr>
            <a:lstStyle/>
            <a:p>
              <a:pPr indent="-290163" lvl="0" marL="457200" rtl="0" algn="l">
                <a:spcBef>
                  <a:spcPts val="0"/>
                </a:spcBef>
                <a:spcAft>
                  <a:spcPts val="0"/>
                </a:spcAft>
                <a:buClr>
                  <a:srgbClr val="212121"/>
                </a:buClr>
                <a:buSzPts val="970"/>
                <a:buFont typeface="Times New Roman"/>
                <a:buChar char="●"/>
              </a:pPr>
              <a:r>
                <a:rPr lang="en-GB" sz="1100">
                  <a:solidFill>
                    <a:schemeClr val="dk1"/>
                  </a:solidFill>
                  <a:latin typeface="Times New Roman"/>
                  <a:ea typeface="Times New Roman"/>
                  <a:cs typeface="Times New Roman"/>
                  <a:sym typeface="Times New Roman"/>
                </a:rPr>
                <a:t>Uses eBPF and hardware sensors to measure energy usage at the individual pod level with less than 5% overhead.</a:t>
              </a:r>
              <a:endParaRPr sz="1100">
                <a:solidFill>
                  <a:schemeClr val="dk1"/>
                </a:solidFill>
                <a:latin typeface="Times New Roman"/>
                <a:ea typeface="Times New Roman"/>
                <a:cs typeface="Times New Roman"/>
                <a:sym typeface="Times New Roman"/>
              </a:endParaRPr>
            </a:p>
            <a:p>
              <a:pPr indent="0" lvl="0" marL="457200" rtl="0" algn="l">
                <a:spcBef>
                  <a:spcPts val="150"/>
                </a:spcBef>
                <a:spcAft>
                  <a:spcPts val="0"/>
                </a:spcAft>
                <a:buNone/>
              </a:pPr>
              <a:r>
                <a:t/>
              </a:r>
              <a:endParaRPr sz="1100">
                <a:solidFill>
                  <a:schemeClr val="dk1"/>
                </a:solidFill>
                <a:latin typeface="Times New Roman"/>
                <a:ea typeface="Times New Roman"/>
                <a:cs typeface="Times New Roman"/>
                <a:sym typeface="Times New Roman"/>
              </a:endParaRPr>
            </a:p>
            <a:p>
              <a:pPr indent="-290163" lvl="0" marL="457200" rtl="0" algn="l">
                <a:spcBef>
                  <a:spcPts val="150"/>
                </a:spcBef>
                <a:spcAft>
                  <a:spcPts val="0"/>
                </a:spcAft>
                <a:buClr>
                  <a:srgbClr val="212121"/>
                </a:buClr>
                <a:buSzPts val="970"/>
                <a:buFont typeface="Times New Roman"/>
                <a:buChar char="●"/>
              </a:pPr>
              <a:r>
                <a:rPr lang="en-GB" sz="1100">
                  <a:solidFill>
                    <a:schemeClr val="dk1"/>
                  </a:solidFill>
                  <a:latin typeface="Times New Roman"/>
                  <a:ea typeface="Times New Roman"/>
                  <a:cs typeface="Times New Roman"/>
                  <a:sym typeface="Times New Roman"/>
                </a:rPr>
                <a:t>Provides</a:t>
              </a:r>
              <a:r>
                <a:rPr lang="en-GB" sz="1100">
                  <a:solidFill>
                    <a:schemeClr val="dk1"/>
                  </a:solidFill>
                  <a:latin typeface="Times New Roman"/>
                  <a:ea typeface="Times New Roman"/>
                  <a:cs typeface="Times New Roman"/>
                  <a:sym typeface="Times New Roman"/>
                </a:rPr>
                <a:t> accurate energy data for carbon- and thermal-aware Kubernetes scheduling. </a:t>
              </a:r>
              <a:endParaRPr sz="970">
                <a:solidFill>
                  <a:srgbClr val="212121"/>
                </a:solidFill>
                <a:latin typeface="Times New Roman"/>
                <a:ea typeface="Times New Roman"/>
                <a:cs typeface="Times New Roman"/>
                <a:sym typeface="Times New Roman"/>
              </a:endParaRPr>
            </a:p>
            <a:p>
              <a:pPr indent="0" lvl="0" marL="457200" rtl="0" algn="l">
                <a:spcBef>
                  <a:spcPts val="150"/>
                </a:spcBef>
                <a:spcAft>
                  <a:spcPts val="0"/>
                </a:spcAft>
                <a:buNone/>
              </a:pPr>
              <a:r>
                <a:t/>
              </a:r>
              <a:endParaRPr sz="970">
                <a:solidFill>
                  <a:srgbClr val="212121"/>
                </a:solidFill>
                <a:latin typeface="Times New Roman"/>
                <a:ea typeface="Times New Roman"/>
                <a:cs typeface="Times New Roman"/>
                <a:sym typeface="Times New Roman"/>
              </a:endParaRPr>
            </a:p>
            <a:p>
              <a:pPr indent="0" lvl="0" marL="0" rtl="0" algn="l">
                <a:spcBef>
                  <a:spcPts val="300"/>
                </a:spcBef>
                <a:spcAft>
                  <a:spcPts val="0"/>
                </a:spcAft>
                <a:buNone/>
              </a:pPr>
              <a:r>
                <a:rPr b="1" lang="en-GB" sz="900">
                  <a:solidFill>
                    <a:srgbClr val="B50346"/>
                  </a:solidFill>
                  <a:latin typeface="Times New Roman"/>
                  <a:ea typeface="Times New Roman"/>
                  <a:cs typeface="Times New Roman"/>
                  <a:sym typeface="Times New Roman"/>
                </a:rPr>
                <a:t>Dataset Used: </a:t>
              </a:r>
              <a:r>
                <a:rPr b="1" lang="en-GB" sz="900">
                  <a:solidFill>
                    <a:srgbClr val="212121"/>
                  </a:solidFill>
                  <a:latin typeface="Times New Roman"/>
                  <a:ea typeface="Times New Roman"/>
                  <a:cs typeface="Times New Roman"/>
                  <a:sym typeface="Times New Roman"/>
                </a:rPr>
                <a:t>SPEC CPU benchmarks and synthetic Kubernetes cluster load traces.</a:t>
              </a:r>
              <a:endParaRPr b="1" sz="900">
                <a:solidFill>
                  <a:srgbClr val="212121"/>
                </a:solidFill>
                <a:latin typeface="Times New Roman"/>
                <a:ea typeface="Times New Roman"/>
                <a:cs typeface="Times New Roman"/>
                <a:sym typeface="Times New Roman"/>
              </a:endParaRPr>
            </a:p>
          </p:txBody>
        </p:sp>
        <p:sp>
          <p:nvSpPr>
            <p:cNvPr id="242" name="Google Shape;242;p20"/>
            <p:cNvSpPr txBox="1"/>
            <p:nvPr/>
          </p:nvSpPr>
          <p:spPr>
            <a:xfrm>
              <a:off x="4688462" y="1485900"/>
              <a:ext cx="4230600" cy="1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50">
                  <a:solidFill>
                    <a:srgbClr val="B50346"/>
                  </a:solidFill>
                  <a:latin typeface="Times New Roman"/>
                  <a:ea typeface="Times New Roman"/>
                  <a:cs typeface="Times New Roman"/>
                  <a:sym typeface="Times New Roman"/>
                </a:rPr>
                <a:t>LIMITATIONS &amp; FUTURE SCOPE:</a:t>
              </a:r>
              <a:endParaRPr b="1" sz="850">
                <a:solidFill>
                  <a:srgbClr val="B50346"/>
                </a:solidFill>
                <a:latin typeface="Times New Roman"/>
                <a:ea typeface="Times New Roman"/>
                <a:cs typeface="Times New Roman"/>
                <a:sym typeface="Times New Roman"/>
              </a:endParaRPr>
            </a:p>
          </p:txBody>
        </p:sp>
        <p:grpSp>
          <p:nvGrpSpPr>
            <p:cNvPr id="243" name="Google Shape;243;p20"/>
            <p:cNvGrpSpPr/>
            <p:nvPr/>
          </p:nvGrpSpPr>
          <p:grpSpPr>
            <a:xfrm>
              <a:off x="4688462" y="1657350"/>
              <a:ext cx="2095500" cy="285900"/>
              <a:chOff x="4688462" y="1657350"/>
              <a:chExt cx="2095500" cy="285900"/>
            </a:xfrm>
          </p:grpSpPr>
          <p:sp>
            <p:nvSpPr>
              <p:cNvPr id="244" name="Google Shape;244;p20"/>
              <p:cNvSpPr/>
              <p:nvPr/>
            </p:nvSpPr>
            <p:spPr>
              <a:xfrm>
                <a:off x="4688462" y="1657350"/>
                <a:ext cx="20955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20"/>
              <p:cNvSpPr/>
              <p:nvPr/>
            </p:nvSpPr>
            <p:spPr>
              <a:xfrm>
                <a:off x="4688462" y="1657350"/>
                <a:ext cx="414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20"/>
              <p:cNvSpPr txBox="1"/>
              <p:nvPr/>
            </p:nvSpPr>
            <p:spPr>
              <a:xfrm>
                <a:off x="4791647" y="1657350"/>
                <a:ext cx="19527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Times New Roman"/>
                    <a:ea typeface="Times New Roman"/>
                    <a:cs typeface="Times New Roman"/>
                    <a:sym typeface="Times New Roman"/>
                  </a:rPr>
                  <a:t>Hardware Counters Are Vendor-Specific (x86-Centric)</a:t>
                </a:r>
                <a:endParaRPr b="1" sz="838">
                  <a:solidFill>
                    <a:srgbClr val="212121"/>
                  </a:solidFill>
                  <a:latin typeface="Times New Roman"/>
                  <a:ea typeface="Times New Roman"/>
                  <a:cs typeface="Times New Roman"/>
                  <a:sym typeface="Times New Roman"/>
                </a:endParaRPr>
              </a:p>
            </p:txBody>
          </p:sp>
        </p:grpSp>
        <p:grpSp>
          <p:nvGrpSpPr>
            <p:cNvPr id="247" name="Google Shape;247;p20"/>
            <p:cNvGrpSpPr/>
            <p:nvPr/>
          </p:nvGrpSpPr>
          <p:grpSpPr>
            <a:xfrm>
              <a:off x="6886575" y="1657350"/>
              <a:ext cx="1990800" cy="285900"/>
              <a:chOff x="6886575" y="1657350"/>
              <a:chExt cx="1990800" cy="285900"/>
            </a:xfrm>
          </p:grpSpPr>
          <p:sp>
            <p:nvSpPr>
              <p:cNvPr id="248" name="Google Shape;248;p20"/>
              <p:cNvSpPr/>
              <p:nvPr/>
            </p:nvSpPr>
            <p:spPr>
              <a:xfrm>
                <a:off x="6886575" y="1657350"/>
                <a:ext cx="19908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20"/>
              <p:cNvSpPr/>
              <p:nvPr/>
            </p:nvSpPr>
            <p:spPr>
              <a:xfrm>
                <a:off x="6886575" y="1657350"/>
                <a:ext cx="414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20"/>
              <p:cNvSpPr txBox="1"/>
              <p:nvPr/>
            </p:nvSpPr>
            <p:spPr>
              <a:xfrm>
                <a:off x="6989445" y="1657350"/>
                <a:ext cx="18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Times New Roman"/>
                    <a:ea typeface="Times New Roman"/>
                    <a:cs typeface="Times New Roman"/>
                    <a:sym typeface="Times New Roman"/>
                  </a:rPr>
                  <a:t>ARM and Edge Architecture Standardization Missing</a:t>
                </a:r>
                <a:endParaRPr b="1" sz="838">
                  <a:solidFill>
                    <a:srgbClr val="212121"/>
                  </a:solidFill>
                  <a:latin typeface="Times New Roman"/>
                  <a:ea typeface="Times New Roman"/>
                  <a:cs typeface="Times New Roman"/>
                  <a:sym typeface="Times New Roman"/>
                </a:endParaRPr>
              </a:p>
            </p:txBody>
          </p:sp>
        </p:grpSp>
        <p:grpSp>
          <p:nvGrpSpPr>
            <p:cNvPr id="251" name="Google Shape;251;p20"/>
            <p:cNvGrpSpPr/>
            <p:nvPr/>
          </p:nvGrpSpPr>
          <p:grpSpPr>
            <a:xfrm>
              <a:off x="4688462" y="2000250"/>
              <a:ext cx="4189500" cy="285900"/>
              <a:chOff x="4688462" y="2000250"/>
              <a:chExt cx="4189500" cy="285900"/>
            </a:xfrm>
          </p:grpSpPr>
          <p:sp>
            <p:nvSpPr>
              <p:cNvPr id="252" name="Google Shape;252;p20"/>
              <p:cNvSpPr/>
              <p:nvPr/>
            </p:nvSpPr>
            <p:spPr>
              <a:xfrm>
                <a:off x="4688462" y="2000250"/>
                <a:ext cx="41895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0"/>
              <p:cNvSpPr/>
              <p:nvPr/>
            </p:nvSpPr>
            <p:spPr>
              <a:xfrm>
                <a:off x="4688462" y="2000250"/>
                <a:ext cx="414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20"/>
              <p:cNvSpPr txBox="1"/>
              <p:nvPr/>
            </p:nvSpPr>
            <p:spPr>
              <a:xfrm>
                <a:off x="4791647" y="2000250"/>
                <a:ext cx="4044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Times New Roman"/>
                    <a:ea typeface="Times New Roman"/>
                    <a:cs typeface="Times New Roman"/>
                    <a:sym typeface="Times New Roman"/>
                  </a:rPr>
                  <a:t>Pod Energy Scores Not Linked to Grid Carbon Signals</a:t>
                </a:r>
                <a:endParaRPr b="1" sz="838">
                  <a:solidFill>
                    <a:srgbClr val="212121"/>
                  </a:solidFill>
                  <a:latin typeface="Times New Roman"/>
                  <a:ea typeface="Times New Roman"/>
                  <a:cs typeface="Times New Roman"/>
                  <a:sym typeface="Times New Roman"/>
                </a:endParaRPr>
              </a:p>
            </p:txBody>
          </p:sp>
        </p:grpSp>
      </p:grpSp>
      <p:grpSp>
        <p:nvGrpSpPr>
          <p:cNvPr id="255" name="Google Shape;255;p20"/>
          <p:cNvGrpSpPr/>
          <p:nvPr/>
        </p:nvGrpSpPr>
        <p:grpSpPr>
          <a:xfrm>
            <a:off x="507667" y="2952750"/>
            <a:ext cx="8473956" cy="1733700"/>
            <a:chOff x="147638" y="2952750"/>
            <a:chExt cx="8834400" cy="1733700"/>
          </a:xfrm>
        </p:grpSpPr>
        <p:sp>
          <p:nvSpPr>
            <p:cNvPr id="256" name="Google Shape;256;p20"/>
            <p:cNvSpPr/>
            <p:nvPr/>
          </p:nvSpPr>
          <p:spPr>
            <a:xfrm>
              <a:off x="148376" y="2952750"/>
              <a:ext cx="8832600" cy="1733700"/>
            </a:xfrm>
            <a:prstGeom prst="roundRect">
              <a:avLst>
                <a:gd fmla="val 2195" name="adj"/>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57" name="Google Shape;257;p20"/>
            <p:cNvPicPr preferRelativeResize="0"/>
            <p:nvPr/>
          </p:nvPicPr>
          <p:blipFill rotWithShape="1">
            <a:blip r:embed="rId4">
              <a:alphaModFix/>
            </a:blip>
            <a:srcRect b="0" l="0" r="0" t="0"/>
            <a:stretch/>
          </p:blipFill>
          <p:spPr>
            <a:xfrm>
              <a:off x="147638" y="2952750"/>
              <a:ext cx="8834400" cy="228600"/>
            </a:xfrm>
            <a:prstGeom prst="rect">
              <a:avLst/>
            </a:prstGeom>
            <a:noFill/>
            <a:ln>
              <a:noFill/>
            </a:ln>
          </p:spPr>
        </p:pic>
        <p:sp>
          <p:nvSpPr>
            <p:cNvPr id="258" name="Google Shape;258;p20"/>
            <p:cNvSpPr/>
            <p:nvPr/>
          </p:nvSpPr>
          <p:spPr>
            <a:xfrm>
              <a:off x="265433" y="2977735"/>
              <a:ext cx="178800" cy="178800"/>
            </a:xfrm>
            <a:prstGeom prst="ellipse">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9" name="Google Shape;259;p20"/>
            <p:cNvSpPr txBox="1"/>
            <p:nvPr/>
          </p:nvSpPr>
          <p:spPr>
            <a:xfrm>
              <a:off x="289100" y="3006450"/>
              <a:ext cx="155100" cy="121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75">
                  <a:solidFill>
                    <a:srgbClr val="FFFFFF"/>
                  </a:solidFill>
                  <a:latin typeface="Georgia"/>
                  <a:ea typeface="Georgia"/>
                  <a:cs typeface="Georgia"/>
                  <a:sym typeface="Georgia"/>
                </a:rPr>
                <a:t>6</a:t>
              </a:r>
              <a:r>
                <a:rPr b="1" lang="en-GB" sz="775">
                  <a:solidFill>
                    <a:srgbClr val="FFFFFF"/>
                  </a:solidFill>
                  <a:latin typeface="Georgia"/>
                  <a:ea typeface="Georgia"/>
                  <a:cs typeface="Georgia"/>
                  <a:sym typeface="Georgia"/>
                </a:rPr>
                <a:t>.</a:t>
              </a:r>
              <a:endParaRPr b="1" sz="775">
                <a:solidFill>
                  <a:srgbClr val="FFFFFF"/>
                </a:solidFill>
                <a:latin typeface="Georgia"/>
                <a:ea typeface="Georgia"/>
                <a:cs typeface="Georgia"/>
                <a:sym typeface="Georgia"/>
              </a:endParaRPr>
            </a:p>
          </p:txBody>
        </p:sp>
        <p:sp>
          <p:nvSpPr>
            <p:cNvPr id="260" name="Google Shape;260;p20"/>
            <p:cNvSpPr txBox="1"/>
            <p:nvPr/>
          </p:nvSpPr>
          <p:spPr>
            <a:xfrm>
              <a:off x="561113" y="2981325"/>
              <a:ext cx="8316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50">
                  <a:solidFill>
                    <a:srgbClr val="FFFFFF"/>
                  </a:solidFill>
                  <a:latin typeface="Georgia"/>
                  <a:ea typeface="Georgia"/>
                  <a:cs typeface="Georgia"/>
                  <a:sym typeface="Georgia"/>
                </a:rPr>
                <a:t>Sankiti, Punniyamoorthy et al. — "Cost-Effective Kubernetes at the Edge: K3s on Raspberry Pi versus Cloud Deployments"</a:t>
              </a:r>
              <a:endParaRPr b="1" sz="950">
                <a:solidFill>
                  <a:srgbClr val="FFFFFF"/>
                </a:solidFill>
                <a:latin typeface="Georgia"/>
                <a:ea typeface="Georgia"/>
                <a:cs typeface="Georgia"/>
                <a:sym typeface="Georgia"/>
              </a:endParaRPr>
            </a:p>
          </p:txBody>
        </p:sp>
        <p:sp>
          <p:nvSpPr>
            <p:cNvPr id="261" name="Google Shape;261;p20"/>
            <p:cNvSpPr txBox="1"/>
            <p:nvPr/>
          </p:nvSpPr>
          <p:spPr>
            <a:xfrm>
              <a:off x="148375" y="3333600"/>
              <a:ext cx="4333800" cy="1219800"/>
            </a:xfrm>
            <a:prstGeom prst="rect">
              <a:avLst/>
            </a:prstGeom>
            <a:noFill/>
            <a:ln>
              <a:noFill/>
            </a:ln>
          </p:spPr>
          <p:txBody>
            <a:bodyPr anchorCtr="0" anchor="ctr" bIns="0" lIns="95250" spcFirstLastPara="1" rIns="0" wrap="square" tIns="0">
              <a:noAutofit/>
            </a:bodyPr>
            <a:lstStyle/>
            <a:p>
              <a:pPr indent="-290163" lvl="0" marL="457200" rtl="0" algn="l">
                <a:lnSpc>
                  <a:spcPct val="115000"/>
                </a:lnSpc>
                <a:spcBef>
                  <a:spcPts val="1200"/>
                </a:spcBef>
                <a:spcAft>
                  <a:spcPts val="0"/>
                </a:spcAft>
                <a:buClr>
                  <a:srgbClr val="212121"/>
                </a:buClr>
                <a:buSzPts val="970"/>
                <a:buFont typeface="Times New Roman"/>
                <a:buChar char="●"/>
              </a:pPr>
              <a:r>
                <a:rPr lang="en-GB" sz="1100">
                  <a:solidFill>
                    <a:schemeClr val="dk1"/>
                  </a:solidFill>
                  <a:latin typeface="Times New Roman"/>
                  <a:ea typeface="Times New Roman"/>
                  <a:cs typeface="Times New Roman"/>
                  <a:sym typeface="Times New Roman"/>
                </a:rPr>
                <a:t>Benchmarks K3s on Raspberry Pi 5 with Prometheus, Grafana, and Loki, showing that it is a low-cost and capable platform for Kubernetes scheduling experiments.</a:t>
              </a:r>
              <a:endParaRPr sz="970">
                <a:solidFill>
                  <a:srgbClr val="212121"/>
                </a:solidFill>
                <a:latin typeface="Times New Roman"/>
                <a:ea typeface="Times New Roman"/>
                <a:cs typeface="Times New Roman"/>
                <a:sym typeface="Times New Roman"/>
              </a:endParaRPr>
            </a:p>
            <a:p>
              <a:pPr indent="0" lvl="0" marL="0" rtl="0" algn="l">
                <a:spcBef>
                  <a:spcPts val="1200"/>
                </a:spcBef>
                <a:spcAft>
                  <a:spcPts val="0"/>
                </a:spcAft>
                <a:buNone/>
              </a:pPr>
              <a:r>
                <a:rPr b="1" lang="en-GB" sz="900">
                  <a:solidFill>
                    <a:srgbClr val="B50346"/>
                  </a:solidFill>
                  <a:latin typeface="Times New Roman"/>
                  <a:ea typeface="Times New Roman"/>
                  <a:cs typeface="Times New Roman"/>
                  <a:sym typeface="Times New Roman"/>
                </a:rPr>
                <a:t>Dataset Used: </a:t>
              </a:r>
              <a:r>
                <a:rPr b="1" lang="en-GB" sz="900">
                  <a:solidFill>
                    <a:srgbClr val="212121"/>
                  </a:solidFill>
                  <a:latin typeface="Times New Roman"/>
                  <a:ea typeface="Times New Roman"/>
                  <a:cs typeface="Times New Roman"/>
                  <a:sym typeface="Times New Roman"/>
                </a:rPr>
                <a:t>K3s deployment logs plus Prometheus/Grafana/Loki telemetry on a Raspberry Pi 5 cluster.</a:t>
              </a:r>
              <a:endParaRPr b="1" sz="900">
                <a:solidFill>
                  <a:srgbClr val="212121"/>
                </a:solidFill>
                <a:latin typeface="Times New Roman"/>
                <a:ea typeface="Times New Roman"/>
                <a:cs typeface="Times New Roman"/>
                <a:sym typeface="Times New Roman"/>
              </a:endParaRPr>
            </a:p>
          </p:txBody>
        </p:sp>
        <p:sp>
          <p:nvSpPr>
            <p:cNvPr id="262" name="Google Shape;262;p20"/>
            <p:cNvSpPr txBox="1"/>
            <p:nvPr/>
          </p:nvSpPr>
          <p:spPr>
            <a:xfrm>
              <a:off x="4688481" y="3371850"/>
              <a:ext cx="4230600" cy="1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50">
                  <a:solidFill>
                    <a:srgbClr val="B50346"/>
                  </a:solidFill>
                  <a:latin typeface="Times New Roman"/>
                  <a:ea typeface="Times New Roman"/>
                  <a:cs typeface="Times New Roman"/>
                  <a:sym typeface="Times New Roman"/>
                </a:rPr>
                <a:t>LIMITATIONS &amp; FUTURE SCOPE:</a:t>
              </a:r>
              <a:endParaRPr b="1" sz="850">
                <a:solidFill>
                  <a:srgbClr val="B50346"/>
                </a:solidFill>
                <a:latin typeface="Times New Roman"/>
                <a:ea typeface="Times New Roman"/>
                <a:cs typeface="Times New Roman"/>
                <a:sym typeface="Times New Roman"/>
              </a:endParaRPr>
            </a:p>
          </p:txBody>
        </p:sp>
        <p:grpSp>
          <p:nvGrpSpPr>
            <p:cNvPr id="263" name="Google Shape;263;p20"/>
            <p:cNvGrpSpPr/>
            <p:nvPr/>
          </p:nvGrpSpPr>
          <p:grpSpPr>
            <a:xfrm>
              <a:off x="4688481" y="3543300"/>
              <a:ext cx="2249700" cy="285900"/>
              <a:chOff x="4688481" y="3543300"/>
              <a:chExt cx="2249700" cy="285900"/>
            </a:xfrm>
          </p:grpSpPr>
          <p:sp>
            <p:nvSpPr>
              <p:cNvPr id="264" name="Google Shape;264;p20"/>
              <p:cNvSpPr/>
              <p:nvPr/>
            </p:nvSpPr>
            <p:spPr>
              <a:xfrm>
                <a:off x="4688481" y="3543300"/>
                <a:ext cx="22497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20"/>
              <p:cNvSpPr/>
              <p:nvPr/>
            </p:nvSpPr>
            <p:spPr>
              <a:xfrm>
                <a:off x="4688481" y="3543300"/>
                <a:ext cx="414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0"/>
              <p:cNvSpPr txBox="1"/>
              <p:nvPr/>
            </p:nvSpPr>
            <p:spPr>
              <a:xfrm>
                <a:off x="4791666" y="3543300"/>
                <a:ext cx="21051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Times New Roman"/>
                    <a:ea typeface="Times New Roman"/>
                    <a:cs typeface="Times New Roman"/>
                    <a:sym typeface="Times New Roman"/>
                  </a:rPr>
                  <a:t>Thermal Throttling on Sustained High-Load Workloads</a:t>
                </a:r>
                <a:endParaRPr b="1" sz="838">
                  <a:solidFill>
                    <a:srgbClr val="212121"/>
                  </a:solidFill>
                  <a:latin typeface="Times New Roman"/>
                  <a:ea typeface="Times New Roman"/>
                  <a:cs typeface="Times New Roman"/>
                  <a:sym typeface="Times New Roman"/>
                </a:endParaRPr>
              </a:p>
            </p:txBody>
          </p:sp>
        </p:grpSp>
        <p:grpSp>
          <p:nvGrpSpPr>
            <p:cNvPr id="267" name="Google Shape;267;p20"/>
            <p:cNvGrpSpPr/>
            <p:nvPr/>
          </p:nvGrpSpPr>
          <p:grpSpPr>
            <a:xfrm>
              <a:off x="7041090" y="3543300"/>
              <a:ext cx="1836900" cy="285900"/>
              <a:chOff x="7041090" y="3543300"/>
              <a:chExt cx="1836900" cy="285900"/>
            </a:xfrm>
          </p:grpSpPr>
          <p:sp>
            <p:nvSpPr>
              <p:cNvPr id="268" name="Google Shape;268;p20"/>
              <p:cNvSpPr/>
              <p:nvPr/>
            </p:nvSpPr>
            <p:spPr>
              <a:xfrm>
                <a:off x="7041090" y="3543300"/>
                <a:ext cx="18369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20"/>
              <p:cNvSpPr/>
              <p:nvPr/>
            </p:nvSpPr>
            <p:spPr>
              <a:xfrm>
                <a:off x="7041090" y="3543300"/>
                <a:ext cx="414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20"/>
              <p:cNvSpPr txBox="1"/>
              <p:nvPr/>
            </p:nvSpPr>
            <p:spPr>
              <a:xfrm>
                <a:off x="7144274" y="3543300"/>
                <a:ext cx="16923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Times New Roman"/>
                    <a:ea typeface="Times New Roman"/>
                    <a:cs typeface="Times New Roman"/>
                    <a:sym typeface="Times New Roman"/>
                  </a:rPr>
                  <a:t>SD Card I/O Bottleneck for Heavy AI Dataset Workloads</a:t>
                </a:r>
                <a:endParaRPr b="1" sz="838">
                  <a:solidFill>
                    <a:srgbClr val="212121"/>
                  </a:solidFill>
                  <a:latin typeface="Times New Roman"/>
                  <a:ea typeface="Times New Roman"/>
                  <a:cs typeface="Times New Roman"/>
                  <a:sym typeface="Times New Roman"/>
                </a:endParaRPr>
              </a:p>
            </p:txBody>
          </p:sp>
        </p:grpSp>
        <p:grpSp>
          <p:nvGrpSpPr>
            <p:cNvPr id="271" name="Google Shape;271;p20"/>
            <p:cNvGrpSpPr/>
            <p:nvPr/>
          </p:nvGrpSpPr>
          <p:grpSpPr>
            <a:xfrm>
              <a:off x="4688481" y="3886200"/>
              <a:ext cx="4189500" cy="285900"/>
              <a:chOff x="4688481" y="3886200"/>
              <a:chExt cx="4189500" cy="285900"/>
            </a:xfrm>
          </p:grpSpPr>
          <p:sp>
            <p:nvSpPr>
              <p:cNvPr id="272" name="Google Shape;272;p20"/>
              <p:cNvSpPr/>
              <p:nvPr/>
            </p:nvSpPr>
            <p:spPr>
              <a:xfrm>
                <a:off x="4688481" y="3886200"/>
                <a:ext cx="4189500" cy="285900"/>
              </a:xfrm>
              <a:prstGeom prst="roundRect">
                <a:avLst>
                  <a:gd fmla="val 6666" name="adj"/>
                </a:avLst>
              </a:prstGeom>
              <a:solidFill>
                <a:srgbClr val="FFFFFF"/>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20"/>
              <p:cNvSpPr/>
              <p:nvPr/>
            </p:nvSpPr>
            <p:spPr>
              <a:xfrm>
                <a:off x="4688481" y="3886200"/>
                <a:ext cx="41400" cy="2859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 name="Google Shape;274;p20"/>
              <p:cNvSpPr txBox="1"/>
              <p:nvPr/>
            </p:nvSpPr>
            <p:spPr>
              <a:xfrm>
                <a:off x="4791666" y="3886200"/>
                <a:ext cx="4044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38">
                    <a:solidFill>
                      <a:srgbClr val="212121"/>
                    </a:solidFill>
                    <a:latin typeface="Times New Roman"/>
                    <a:ea typeface="Times New Roman"/>
                    <a:cs typeface="Times New Roman"/>
                    <a:sym typeface="Times New Roman"/>
                  </a:rPr>
                  <a:t>No Carbon-Aware Scheduling Layer Evaluated or Proposed</a:t>
                </a:r>
                <a:endParaRPr b="1" sz="838">
                  <a:solidFill>
                    <a:srgbClr val="212121"/>
                  </a:solidFill>
                  <a:latin typeface="Times New Roman"/>
                  <a:ea typeface="Times New Roman"/>
                  <a:cs typeface="Times New Roman"/>
                  <a:sym typeface="Times New Roman"/>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descr="$PPTXTitle" id="279" name="Google Shape;279;p21"/>
          <p:cNvSpPr txBox="1"/>
          <p:nvPr>
            <p:ph type="title"/>
          </p:nvPr>
        </p:nvSpPr>
        <p:spPr>
          <a:xfrm>
            <a:off x="1463250" y="231025"/>
            <a:ext cx="6217500" cy="320400"/>
          </a:xfrm>
          <a:prstGeom prst="rect">
            <a:avLst/>
          </a:prstGeom>
          <a:solidFill>
            <a:srgbClr val="000000">
              <a:alpha val="0"/>
            </a:srgbClr>
          </a:solidFill>
          <a:ln>
            <a:noFill/>
          </a:ln>
        </p:spPr>
        <p:txBody>
          <a:bodyPr anchorCtr="0" anchor="t" bIns="0" lIns="0" spcFirstLastPara="1" rIns="0" wrap="square" tIns="12350">
            <a:spAutoFit/>
          </a:bodyPr>
          <a:lstStyle/>
          <a:p>
            <a:pPr indent="0" lvl="0" marL="12700" marR="0" rtl="0" algn="l">
              <a:spcBef>
                <a:spcPts val="0"/>
              </a:spcBef>
              <a:spcAft>
                <a:spcPts val="0"/>
              </a:spcAft>
              <a:buNone/>
            </a:pPr>
            <a:r>
              <a:rPr b="1" lang="en-GB" sz="2000">
                <a:solidFill>
                  <a:srgbClr val="B50346"/>
                </a:solidFill>
                <a:latin typeface="Times New Roman"/>
                <a:ea typeface="Times New Roman"/>
                <a:cs typeface="Times New Roman"/>
                <a:sym typeface="Times New Roman"/>
              </a:rPr>
              <a:t>RESEARCH GAPS </a:t>
            </a:r>
            <a:r>
              <a:rPr b="1" lang="en-GB" sz="2000">
                <a:solidFill>
                  <a:srgbClr val="B50346"/>
                </a:solidFill>
                <a:latin typeface="Times New Roman"/>
                <a:ea typeface="Times New Roman"/>
                <a:cs typeface="Times New Roman"/>
                <a:sym typeface="Times New Roman"/>
              </a:rPr>
              <a:t>&amp; NOVELTY</a:t>
            </a:r>
            <a:endParaRPr b="1" sz="2000">
              <a:solidFill>
                <a:srgbClr val="B50346"/>
              </a:solidFill>
              <a:latin typeface="Times New Roman"/>
              <a:ea typeface="Times New Roman"/>
              <a:cs typeface="Times New Roman"/>
              <a:sym typeface="Times New Roman"/>
            </a:endParaRPr>
          </a:p>
        </p:txBody>
      </p:sp>
      <p:graphicFrame>
        <p:nvGraphicFramePr>
          <p:cNvPr id="280" name="Google Shape;280;p21"/>
          <p:cNvGraphicFramePr/>
          <p:nvPr/>
        </p:nvGraphicFramePr>
        <p:xfrm>
          <a:off x="686575" y="1069388"/>
          <a:ext cx="3000000" cy="3000000"/>
        </p:xfrm>
        <a:graphic>
          <a:graphicData uri="http://schemas.openxmlformats.org/drawingml/2006/table">
            <a:tbl>
              <a:tblPr>
                <a:noFill/>
                <a:tableStyleId>{8E960A22-BE07-4F97-8DFD-1A2EE5CAC9EF}</a:tableStyleId>
              </a:tblPr>
              <a:tblGrid>
                <a:gridCol w="949925"/>
                <a:gridCol w="1230700"/>
                <a:gridCol w="1046450"/>
                <a:gridCol w="1554475"/>
                <a:gridCol w="999625"/>
                <a:gridCol w="1091600"/>
                <a:gridCol w="1101325"/>
              </a:tblGrid>
              <a:tr h="839300">
                <a:tc>
                  <a:txBody>
                    <a:bodyPr/>
                    <a:lstStyle/>
                    <a:p>
                      <a:pPr indent="0" lvl="0" marL="0" rtl="0" algn="l">
                        <a:spcBef>
                          <a:spcPts val="0"/>
                        </a:spcBef>
                        <a:spcAft>
                          <a:spcPts val="0"/>
                        </a:spcAft>
                        <a:buNone/>
                      </a:pPr>
                      <a:r>
                        <a:t/>
                      </a:r>
                      <a:endParaRPr b="1" sz="1000">
                        <a:solidFill>
                          <a:srgbClr val="FFFFFF"/>
                        </a:solidFill>
                        <a:highlight>
                          <a:srgbClr val="B50346"/>
                        </a:highlight>
                        <a:latin typeface="Times New Roman"/>
                        <a:ea typeface="Times New Roman"/>
                        <a:cs typeface="Times New Roman"/>
                        <a:sym typeface="Times New Roman"/>
                      </a:endParaRPr>
                    </a:p>
                    <a:p>
                      <a:pPr indent="0" lvl="0" marL="0" rtl="0" algn="l">
                        <a:spcBef>
                          <a:spcPts val="0"/>
                        </a:spcBef>
                        <a:spcAft>
                          <a:spcPts val="0"/>
                        </a:spcAft>
                        <a:buNone/>
                      </a:pPr>
                      <a:r>
                        <a:rPr b="1" lang="en-GB" sz="1000">
                          <a:solidFill>
                            <a:srgbClr val="FFFFFF"/>
                          </a:solidFill>
                          <a:highlight>
                            <a:srgbClr val="B50346"/>
                          </a:highlight>
                          <a:latin typeface="Times New Roman"/>
                          <a:ea typeface="Times New Roman"/>
                          <a:cs typeface="Times New Roman"/>
                          <a:sym typeface="Times New Roman"/>
                        </a:rPr>
                        <a:t>SYSTEM/</a:t>
                      </a:r>
                      <a:endParaRPr b="1" sz="1000">
                        <a:solidFill>
                          <a:srgbClr val="FFFFFF"/>
                        </a:solidFill>
                        <a:highlight>
                          <a:srgbClr val="B50346"/>
                        </a:highlight>
                        <a:latin typeface="Times New Roman"/>
                        <a:ea typeface="Times New Roman"/>
                        <a:cs typeface="Times New Roman"/>
                        <a:sym typeface="Times New Roman"/>
                      </a:endParaRPr>
                    </a:p>
                    <a:p>
                      <a:pPr indent="0" lvl="0" marL="0" rtl="0" algn="l">
                        <a:spcBef>
                          <a:spcPts val="0"/>
                        </a:spcBef>
                        <a:spcAft>
                          <a:spcPts val="0"/>
                        </a:spcAft>
                        <a:buNone/>
                      </a:pPr>
                      <a:r>
                        <a:rPr b="1" lang="en-GB" sz="1000">
                          <a:solidFill>
                            <a:srgbClr val="FFFFFF"/>
                          </a:solidFill>
                          <a:highlight>
                            <a:srgbClr val="B50346"/>
                          </a:highlight>
                          <a:latin typeface="Times New Roman"/>
                          <a:ea typeface="Times New Roman"/>
                          <a:cs typeface="Times New Roman"/>
                          <a:sym typeface="Times New Roman"/>
                        </a:rPr>
                        <a:t>PAPER</a:t>
                      </a:r>
                      <a:endParaRPr b="1" sz="1000">
                        <a:solidFill>
                          <a:srgbClr val="FFFFFF"/>
                        </a:solidFill>
                        <a:highlight>
                          <a:srgbClr val="B50346"/>
                        </a:highlight>
                        <a:latin typeface="Times New Roman"/>
                        <a:ea typeface="Times New Roman"/>
                        <a:cs typeface="Times New Roman"/>
                        <a:sym typeface="Times New Roman"/>
                      </a:endParaRPr>
                    </a:p>
                  </a:txBody>
                  <a:tcPr marT="0" marB="0" marR="0" marL="95250">
                    <a:solidFill>
                      <a:srgbClr val="B50346"/>
                    </a:solidFill>
                  </a:tcPr>
                </a:tc>
                <a:tc>
                  <a:txBody>
                    <a:bodyPr/>
                    <a:lstStyle/>
                    <a:p>
                      <a:pPr indent="0" lvl="0" marL="0" rtl="0" algn="l">
                        <a:spcBef>
                          <a:spcPts val="0"/>
                        </a:spcBef>
                        <a:spcAft>
                          <a:spcPts val="0"/>
                        </a:spcAft>
                        <a:buNone/>
                      </a:pPr>
                      <a:r>
                        <a:rPr b="1" lang="en-GB" sz="1000">
                          <a:solidFill>
                            <a:srgbClr val="FFFFFF"/>
                          </a:solidFill>
                          <a:highlight>
                            <a:srgbClr val="B50346"/>
                          </a:highlight>
                          <a:latin typeface="Times New Roman"/>
                          <a:ea typeface="Times New Roman"/>
                          <a:cs typeface="Times New Roman"/>
                          <a:sym typeface="Times New Roman"/>
                        </a:rPr>
                        <a:t>GRID CARBON AWARENESS</a:t>
                      </a:r>
                      <a:endParaRPr b="1" sz="1000">
                        <a:solidFill>
                          <a:srgbClr val="FFFFFF"/>
                        </a:solidFill>
                        <a:highlight>
                          <a:srgbClr val="B50346"/>
                        </a:highlight>
                        <a:latin typeface="Times New Roman"/>
                        <a:ea typeface="Times New Roman"/>
                        <a:cs typeface="Times New Roman"/>
                        <a:sym typeface="Times New Roman"/>
                      </a:endParaRPr>
                    </a:p>
                  </a:txBody>
                  <a:tcPr marT="91425" marB="91425" marR="91425" marL="91425">
                    <a:solidFill>
                      <a:srgbClr val="B50346"/>
                    </a:solidFill>
                  </a:tcPr>
                </a:tc>
                <a:tc>
                  <a:txBody>
                    <a:bodyPr/>
                    <a:lstStyle/>
                    <a:p>
                      <a:pPr indent="0" lvl="0" marL="0" rtl="0" algn="l">
                        <a:spcBef>
                          <a:spcPts val="0"/>
                        </a:spcBef>
                        <a:spcAft>
                          <a:spcPts val="0"/>
                        </a:spcAft>
                        <a:buNone/>
                      </a:pPr>
                      <a:r>
                        <a:rPr b="1" lang="en-GB" sz="1000">
                          <a:solidFill>
                            <a:srgbClr val="FFFFFF"/>
                          </a:solidFill>
                          <a:highlight>
                            <a:srgbClr val="B50346"/>
                          </a:highlight>
                          <a:latin typeface="Times New Roman"/>
                          <a:ea typeface="Times New Roman"/>
                          <a:cs typeface="Times New Roman"/>
                          <a:sym typeface="Times New Roman"/>
                        </a:rPr>
                        <a:t>INTERNAL THERMAL AWARENESS</a:t>
                      </a:r>
                      <a:endParaRPr b="1" sz="1000">
                        <a:solidFill>
                          <a:srgbClr val="FFFFFF"/>
                        </a:solidFill>
                        <a:highlight>
                          <a:srgbClr val="B50346"/>
                        </a:highlight>
                        <a:latin typeface="Times New Roman"/>
                        <a:ea typeface="Times New Roman"/>
                        <a:cs typeface="Times New Roman"/>
                        <a:sym typeface="Times New Roman"/>
                      </a:endParaRPr>
                    </a:p>
                  </a:txBody>
                  <a:tcPr marT="91425" marB="91425" marR="91425" marL="91425">
                    <a:solidFill>
                      <a:srgbClr val="B50346"/>
                    </a:solidFill>
                  </a:tcPr>
                </a:tc>
                <a:tc>
                  <a:txBody>
                    <a:bodyPr/>
                    <a:lstStyle/>
                    <a:p>
                      <a:pPr indent="0" lvl="0" marL="0" rtl="0" algn="l">
                        <a:spcBef>
                          <a:spcPts val="0"/>
                        </a:spcBef>
                        <a:spcAft>
                          <a:spcPts val="0"/>
                        </a:spcAft>
                        <a:buNone/>
                      </a:pPr>
                      <a:r>
                        <a:rPr b="1" lang="en-GB" sz="1000">
                          <a:solidFill>
                            <a:srgbClr val="FFFFFF"/>
                          </a:solidFill>
                          <a:highlight>
                            <a:srgbClr val="B50346"/>
                          </a:highlight>
                          <a:latin typeface="Times New Roman"/>
                          <a:ea typeface="Times New Roman"/>
                          <a:cs typeface="Times New Roman"/>
                          <a:sym typeface="Times New Roman"/>
                        </a:rPr>
                        <a:t>KUBERNETES </a:t>
                      </a:r>
                      <a:r>
                        <a:rPr b="1" lang="en-GB" sz="1000">
                          <a:solidFill>
                            <a:srgbClr val="FFFFFF"/>
                          </a:solidFill>
                          <a:highlight>
                            <a:srgbClr val="B50346"/>
                          </a:highlight>
                          <a:latin typeface="Times New Roman"/>
                          <a:ea typeface="Times New Roman"/>
                          <a:cs typeface="Times New Roman"/>
                          <a:sym typeface="Times New Roman"/>
                        </a:rPr>
                        <a:t>ORCHESTRATION</a:t>
                      </a:r>
                      <a:endParaRPr b="1" sz="1000">
                        <a:solidFill>
                          <a:srgbClr val="FFFFFF"/>
                        </a:solidFill>
                        <a:highlight>
                          <a:srgbClr val="B50346"/>
                        </a:highlight>
                        <a:latin typeface="Times New Roman"/>
                        <a:ea typeface="Times New Roman"/>
                        <a:cs typeface="Times New Roman"/>
                        <a:sym typeface="Times New Roman"/>
                      </a:endParaRPr>
                    </a:p>
                  </a:txBody>
                  <a:tcPr marT="91425" marB="91425" marR="91425" marL="91425">
                    <a:solidFill>
                      <a:srgbClr val="B50346"/>
                    </a:solidFill>
                  </a:tcPr>
                </a:tc>
                <a:tc>
                  <a:txBody>
                    <a:bodyPr/>
                    <a:lstStyle/>
                    <a:p>
                      <a:pPr indent="0" lvl="0" marL="0" rtl="0" algn="l">
                        <a:spcBef>
                          <a:spcPts val="0"/>
                        </a:spcBef>
                        <a:spcAft>
                          <a:spcPts val="0"/>
                        </a:spcAft>
                        <a:buNone/>
                      </a:pPr>
                      <a:r>
                        <a:rPr b="1" lang="en-GB" sz="1000">
                          <a:solidFill>
                            <a:srgbClr val="FFFFFF"/>
                          </a:solidFill>
                          <a:highlight>
                            <a:srgbClr val="B50346"/>
                          </a:highlight>
                          <a:latin typeface="Times New Roman"/>
                          <a:ea typeface="Times New Roman"/>
                          <a:cs typeface="Times New Roman"/>
                          <a:sym typeface="Times New Roman"/>
                        </a:rPr>
                        <a:t>DYNAMIC AI PRECISION SCALING</a:t>
                      </a:r>
                      <a:endParaRPr b="1" sz="1000">
                        <a:solidFill>
                          <a:srgbClr val="FFFFFF"/>
                        </a:solidFill>
                        <a:highlight>
                          <a:srgbClr val="B50346"/>
                        </a:highlight>
                        <a:latin typeface="Times New Roman"/>
                        <a:ea typeface="Times New Roman"/>
                        <a:cs typeface="Times New Roman"/>
                        <a:sym typeface="Times New Roman"/>
                      </a:endParaRPr>
                    </a:p>
                  </a:txBody>
                  <a:tcPr marT="91425" marB="91425" marR="91425" marL="91425">
                    <a:solidFill>
                      <a:srgbClr val="B50346"/>
                    </a:solidFill>
                  </a:tcPr>
                </a:tc>
                <a:tc>
                  <a:txBody>
                    <a:bodyPr/>
                    <a:lstStyle/>
                    <a:p>
                      <a:pPr indent="0" lvl="0" marL="0" rtl="0" algn="l">
                        <a:spcBef>
                          <a:spcPts val="0"/>
                        </a:spcBef>
                        <a:spcAft>
                          <a:spcPts val="0"/>
                        </a:spcAft>
                        <a:buNone/>
                      </a:pPr>
                      <a:r>
                        <a:rPr b="1" lang="en-GB" sz="1000">
                          <a:solidFill>
                            <a:srgbClr val="FFFFFF"/>
                          </a:solidFill>
                          <a:highlight>
                            <a:srgbClr val="B50346"/>
                          </a:highlight>
                          <a:latin typeface="Times New Roman"/>
                          <a:ea typeface="Times New Roman"/>
                          <a:cs typeface="Times New Roman"/>
                          <a:sym typeface="Times New Roman"/>
                        </a:rPr>
                        <a:t>PHYSICAL EDGE VALIDATION</a:t>
                      </a:r>
                      <a:endParaRPr b="1" sz="1000">
                        <a:solidFill>
                          <a:srgbClr val="FFFFFF"/>
                        </a:solidFill>
                        <a:highlight>
                          <a:srgbClr val="B50346"/>
                        </a:highlight>
                        <a:latin typeface="Times New Roman"/>
                        <a:ea typeface="Times New Roman"/>
                        <a:cs typeface="Times New Roman"/>
                        <a:sym typeface="Times New Roman"/>
                      </a:endParaRPr>
                    </a:p>
                  </a:txBody>
                  <a:tcPr marT="91425" marB="91425" marR="91425" marL="91425">
                    <a:solidFill>
                      <a:srgbClr val="B50346"/>
                    </a:solidFill>
                  </a:tcPr>
                </a:tc>
                <a:tc>
                  <a:txBody>
                    <a:bodyPr/>
                    <a:lstStyle/>
                    <a:p>
                      <a:pPr indent="0" lvl="0" marL="0" rtl="0" algn="l">
                        <a:spcBef>
                          <a:spcPts val="0"/>
                        </a:spcBef>
                        <a:spcAft>
                          <a:spcPts val="0"/>
                        </a:spcAft>
                        <a:buNone/>
                      </a:pPr>
                      <a:r>
                        <a:rPr b="1" lang="en-GB" sz="1000">
                          <a:solidFill>
                            <a:srgbClr val="FFFFFF"/>
                          </a:solidFill>
                          <a:highlight>
                            <a:srgbClr val="B50346"/>
                          </a:highlight>
                          <a:latin typeface="Times New Roman"/>
                          <a:ea typeface="Times New Roman"/>
                          <a:cs typeface="Times New Roman"/>
                          <a:sym typeface="Times New Roman"/>
                        </a:rPr>
                        <a:t>ENERGY-PER-POD MONITORING</a:t>
                      </a:r>
                      <a:endParaRPr b="1" sz="1000">
                        <a:solidFill>
                          <a:srgbClr val="FFFFFF"/>
                        </a:solidFill>
                        <a:highlight>
                          <a:srgbClr val="B50346"/>
                        </a:highlight>
                        <a:latin typeface="Times New Roman"/>
                        <a:ea typeface="Times New Roman"/>
                        <a:cs typeface="Times New Roman"/>
                        <a:sym typeface="Times New Roman"/>
                      </a:endParaRPr>
                    </a:p>
                  </a:txBody>
                  <a:tcPr marT="91425" marB="91425" marR="91425" marL="91425">
                    <a:solidFill>
                      <a:srgbClr val="B50346"/>
                    </a:solidFill>
                  </a:tcPr>
                </a:tc>
              </a:tr>
              <a:tr h="363450">
                <a:tc>
                  <a:txBody>
                    <a:bodyPr/>
                    <a:lstStyle/>
                    <a:p>
                      <a:pPr indent="0" lvl="0" marL="0" rtl="0" algn="l">
                        <a:spcBef>
                          <a:spcPts val="0"/>
                        </a:spcBef>
                        <a:spcAft>
                          <a:spcPts val="0"/>
                        </a:spcAft>
                        <a:buNone/>
                      </a:pPr>
                      <a:r>
                        <a:rPr b="1" lang="en-GB" sz="900">
                          <a:highlight>
                            <a:srgbClr val="FAF9F8"/>
                          </a:highlight>
                        </a:rPr>
                        <a:t>Piontek et al. (2023)</a:t>
                      </a:r>
                      <a:endParaRPr b="1" sz="900">
                        <a:highlight>
                          <a:srgbClr val="FAF9F8"/>
                        </a:highlight>
                      </a:endParaRPr>
                    </a:p>
                  </a:txBody>
                  <a:tcPr marT="0" marB="0" marR="0" marL="95250">
                    <a:solidFill>
                      <a:srgbClr val="FAF9F8"/>
                    </a:solidFill>
                  </a:tcPr>
                </a:tc>
                <a:tc>
                  <a:txBody>
                    <a:bodyPr/>
                    <a:lstStyle/>
                    <a:p>
                      <a:pPr indent="0" lvl="0" marL="0" rtl="0" algn="l">
                        <a:spcBef>
                          <a:spcPts val="0"/>
                        </a:spcBef>
                        <a:spcAft>
                          <a:spcPts val="0"/>
                        </a:spcAft>
                        <a:buNone/>
                      </a:pPr>
                      <a:r>
                        <a:rPr b="1" lang="en-GB" sz="900">
                          <a:solidFill>
                            <a:srgbClr val="2E7D32"/>
                          </a:solidFill>
                          <a:highlight>
                            <a:srgbClr val="FAF9F8"/>
                          </a:highlight>
                        </a:rPr>
                        <a:t>✔</a:t>
                      </a:r>
                      <a:endParaRPr b="1" sz="900">
                        <a:solidFill>
                          <a:srgbClr val="2E7D32"/>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None/>
                      </a:pPr>
                      <a:r>
                        <a:rPr b="1" lang="en-GB" sz="900">
                          <a:solidFill>
                            <a:srgbClr val="C62828"/>
                          </a:solidFill>
                          <a:highlight>
                            <a:srgbClr val="FAF9F8"/>
                          </a:highlight>
                        </a:rPr>
                        <a:t>✘</a:t>
                      </a:r>
                      <a:endParaRPr b="1" sz="900">
                        <a:solidFill>
                          <a:srgbClr val="C62828"/>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None/>
                      </a:pPr>
                      <a:r>
                        <a:rPr b="1" lang="en-GB" sz="900">
                          <a:solidFill>
                            <a:srgbClr val="2E7D32"/>
                          </a:solidFill>
                          <a:highlight>
                            <a:srgbClr val="FAF9F8"/>
                          </a:highlight>
                        </a:rPr>
                        <a:t>✔</a:t>
                      </a:r>
                      <a:endParaRPr b="1" sz="900">
                        <a:solidFill>
                          <a:srgbClr val="2E7D32"/>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None/>
                      </a:pPr>
                      <a:r>
                        <a:rPr b="1" lang="en-GB" sz="900">
                          <a:solidFill>
                            <a:srgbClr val="C62828"/>
                          </a:solidFill>
                          <a:highlight>
                            <a:srgbClr val="FAF9F8"/>
                          </a:highlight>
                        </a:rPr>
                        <a:t>✘</a:t>
                      </a:r>
                      <a:endParaRPr b="1" sz="900">
                        <a:solidFill>
                          <a:srgbClr val="C62828"/>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None/>
                      </a:pPr>
                      <a:r>
                        <a:rPr b="1" lang="en-GB" sz="900">
                          <a:solidFill>
                            <a:srgbClr val="C62828"/>
                          </a:solidFill>
                          <a:highlight>
                            <a:srgbClr val="FAF9F8"/>
                          </a:highlight>
                        </a:rPr>
                        <a:t>✘</a:t>
                      </a:r>
                      <a:endParaRPr b="1" sz="900">
                        <a:solidFill>
                          <a:srgbClr val="C62828"/>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None/>
                      </a:pPr>
                      <a:r>
                        <a:rPr b="1" lang="en-GB" sz="900">
                          <a:solidFill>
                            <a:srgbClr val="C62828"/>
                          </a:solidFill>
                          <a:highlight>
                            <a:srgbClr val="FAF9F8"/>
                          </a:highlight>
                        </a:rPr>
                        <a:t>✘</a:t>
                      </a:r>
                      <a:endParaRPr b="1" sz="900">
                        <a:solidFill>
                          <a:srgbClr val="C62828"/>
                        </a:solidFill>
                        <a:highlight>
                          <a:srgbClr val="FAF9F8"/>
                        </a:highlight>
                      </a:endParaRPr>
                    </a:p>
                  </a:txBody>
                  <a:tcPr marT="91425" marB="91425" marR="91425" marL="91425">
                    <a:solidFill>
                      <a:srgbClr val="FAF9F8"/>
                    </a:solidFill>
                  </a:tcPr>
                </a:tc>
              </a:tr>
              <a:tr h="363450">
                <a:tc>
                  <a:txBody>
                    <a:bodyPr/>
                    <a:lstStyle/>
                    <a:p>
                      <a:pPr indent="0" lvl="0" marL="0" rtl="0" algn="l">
                        <a:spcBef>
                          <a:spcPts val="0"/>
                        </a:spcBef>
                        <a:spcAft>
                          <a:spcPts val="0"/>
                        </a:spcAft>
                        <a:buNone/>
                      </a:pPr>
                      <a:r>
                        <a:rPr b="1" lang="en-GB" sz="900">
                          <a:highlight>
                            <a:srgbClr val="FFFFFF"/>
                          </a:highlight>
                        </a:rPr>
                        <a:t>Zhou et al. (2026)</a:t>
                      </a:r>
                      <a:endParaRPr b="1" sz="900">
                        <a:highlight>
                          <a:srgbClr val="FFFFFF"/>
                        </a:highlight>
                      </a:endParaRPr>
                    </a:p>
                  </a:txBody>
                  <a:tcPr marT="0" marB="0" marR="0" marL="95250">
                    <a:solidFill>
                      <a:srgbClr val="FFFFFF"/>
                    </a:solidFill>
                  </a:tcPr>
                </a:tc>
                <a:tc>
                  <a:txBody>
                    <a:bodyPr/>
                    <a:lstStyle/>
                    <a:p>
                      <a:pPr indent="0" lvl="0" marL="0" rtl="0" algn="l">
                        <a:spcBef>
                          <a:spcPts val="0"/>
                        </a:spcBef>
                        <a:spcAft>
                          <a:spcPts val="0"/>
                        </a:spcAft>
                        <a:buNone/>
                      </a:pPr>
                      <a:r>
                        <a:rPr b="1" lang="en-GB" sz="900">
                          <a:solidFill>
                            <a:srgbClr val="C62828"/>
                          </a:solidFill>
                          <a:highlight>
                            <a:srgbClr val="FFFFFF"/>
                          </a:highlight>
                        </a:rPr>
                        <a:t>✘</a:t>
                      </a:r>
                      <a:endParaRPr b="1" sz="900">
                        <a:solidFill>
                          <a:srgbClr val="C62828"/>
                        </a:solidFill>
                        <a:highlight>
                          <a:srgbClr val="FFFFFF"/>
                        </a:highlight>
                      </a:endParaRPr>
                    </a:p>
                  </a:txBody>
                  <a:tcPr marT="91425" marB="91425" marR="91425" marL="91425">
                    <a:solidFill>
                      <a:srgbClr val="FFFFFF"/>
                    </a:solidFill>
                  </a:tcPr>
                </a:tc>
                <a:tc>
                  <a:txBody>
                    <a:bodyPr/>
                    <a:lstStyle/>
                    <a:p>
                      <a:pPr indent="0" lvl="0" marL="0" rtl="0" algn="l">
                        <a:spcBef>
                          <a:spcPts val="0"/>
                        </a:spcBef>
                        <a:spcAft>
                          <a:spcPts val="0"/>
                        </a:spcAft>
                        <a:buNone/>
                      </a:pPr>
                      <a:r>
                        <a:rPr b="1" lang="en-GB" sz="900">
                          <a:solidFill>
                            <a:srgbClr val="2E7D32"/>
                          </a:solidFill>
                          <a:highlight>
                            <a:srgbClr val="FFFFFF"/>
                          </a:highlight>
                        </a:rPr>
                        <a:t>✔</a:t>
                      </a:r>
                      <a:endParaRPr b="1" sz="900">
                        <a:solidFill>
                          <a:srgbClr val="2E7D32"/>
                        </a:solidFill>
                        <a:highlight>
                          <a:srgbClr val="FFFFFF"/>
                        </a:highlight>
                      </a:endParaRPr>
                    </a:p>
                  </a:txBody>
                  <a:tcPr marT="91425" marB="91425" marR="91425" marL="91425">
                    <a:solidFill>
                      <a:srgbClr val="FFFFFF"/>
                    </a:solidFill>
                  </a:tcPr>
                </a:tc>
                <a:tc>
                  <a:txBody>
                    <a:bodyPr/>
                    <a:lstStyle/>
                    <a:p>
                      <a:pPr indent="0" lvl="0" marL="0" rtl="0" algn="l">
                        <a:spcBef>
                          <a:spcPts val="0"/>
                        </a:spcBef>
                        <a:spcAft>
                          <a:spcPts val="0"/>
                        </a:spcAft>
                        <a:buNone/>
                      </a:pPr>
                      <a:r>
                        <a:rPr b="1" lang="en-GB" sz="900">
                          <a:solidFill>
                            <a:srgbClr val="2E7D32"/>
                          </a:solidFill>
                          <a:highlight>
                            <a:srgbClr val="FFFFFF"/>
                          </a:highlight>
                        </a:rPr>
                        <a:t>✔</a:t>
                      </a:r>
                      <a:endParaRPr b="1" sz="900">
                        <a:solidFill>
                          <a:srgbClr val="2E7D32"/>
                        </a:solidFill>
                        <a:highlight>
                          <a:srgbClr val="FFFFFF"/>
                        </a:highlight>
                      </a:endParaRPr>
                    </a:p>
                  </a:txBody>
                  <a:tcPr marT="91425" marB="91425" marR="91425" marL="91425">
                    <a:solidFill>
                      <a:srgbClr val="FFFFFF"/>
                    </a:solidFill>
                  </a:tcPr>
                </a:tc>
                <a:tc>
                  <a:txBody>
                    <a:bodyPr/>
                    <a:lstStyle/>
                    <a:p>
                      <a:pPr indent="0" lvl="0" marL="0" rtl="0" algn="l">
                        <a:spcBef>
                          <a:spcPts val="0"/>
                        </a:spcBef>
                        <a:spcAft>
                          <a:spcPts val="0"/>
                        </a:spcAft>
                        <a:buNone/>
                      </a:pPr>
                      <a:r>
                        <a:rPr b="1" lang="en-GB" sz="900">
                          <a:solidFill>
                            <a:srgbClr val="C62828"/>
                          </a:solidFill>
                          <a:highlight>
                            <a:srgbClr val="FFFFFF"/>
                          </a:highlight>
                        </a:rPr>
                        <a:t>✘</a:t>
                      </a:r>
                      <a:endParaRPr b="1" sz="900">
                        <a:solidFill>
                          <a:srgbClr val="C62828"/>
                        </a:solidFill>
                        <a:highlight>
                          <a:srgbClr val="FFFFFF"/>
                        </a:highlight>
                      </a:endParaRPr>
                    </a:p>
                  </a:txBody>
                  <a:tcPr marT="91425" marB="91425" marR="91425" marL="91425">
                    <a:solidFill>
                      <a:srgbClr val="FFFFFF"/>
                    </a:solidFill>
                  </a:tcPr>
                </a:tc>
                <a:tc>
                  <a:txBody>
                    <a:bodyPr/>
                    <a:lstStyle/>
                    <a:p>
                      <a:pPr indent="0" lvl="0" marL="0" rtl="0" algn="l">
                        <a:spcBef>
                          <a:spcPts val="0"/>
                        </a:spcBef>
                        <a:spcAft>
                          <a:spcPts val="0"/>
                        </a:spcAft>
                        <a:buNone/>
                      </a:pPr>
                      <a:r>
                        <a:rPr b="1" lang="en-GB" sz="900">
                          <a:solidFill>
                            <a:srgbClr val="C62828"/>
                          </a:solidFill>
                          <a:highlight>
                            <a:srgbClr val="FFFFFF"/>
                          </a:highlight>
                        </a:rPr>
                        <a:t>✘</a:t>
                      </a:r>
                      <a:endParaRPr b="1" sz="900">
                        <a:solidFill>
                          <a:srgbClr val="C62828"/>
                        </a:solidFill>
                        <a:highlight>
                          <a:srgbClr val="FFFFFF"/>
                        </a:highlight>
                      </a:endParaRPr>
                    </a:p>
                  </a:txBody>
                  <a:tcPr marT="91425" marB="91425" marR="91425" marL="91425">
                    <a:solidFill>
                      <a:srgbClr val="FFFFFF"/>
                    </a:solidFill>
                  </a:tcPr>
                </a:tc>
                <a:tc>
                  <a:txBody>
                    <a:bodyPr/>
                    <a:lstStyle/>
                    <a:p>
                      <a:pPr indent="0" lvl="0" marL="0" rtl="0" algn="l">
                        <a:spcBef>
                          <a:spcPts val="0"/>
                        </a:spcBef>
                        <a:spcAft>
                          <a:spcPts val="0"/>
                        </a:spcAft>
                        <a:buNone/>
                      </a:pPr>
                      <a:r>
                        <a:rPr b="1" lang="en-GB" sz="900">
                          <a:solidFill>
                            <a:srgbClr val="C62828"/>
                          </a:solidFill>
                          <a:highlight>
                            <a:srgbClr val="FAF9F8"/>
                          </a:highlight>
                        </a:rPr>
                        <a:t>✘</a:t>
                      </a:r>
                      <a:endParaRPr b="1" sz="900">
                        <a:solidFill>
                          <a:srgbClr val="C62828"/>
                        </a:solidFill>
                        <a:highlight>
                          <a:srgbClr val="FFFFFF"/>
                        </a:highlight>
                      </a:endParaRPr>
                    </a:p>
                  </a:txBody>
                  <a:tcPr marT="91425" marB="91425" marR="91425" marL="91425">
                    <a:solidFill>
                      <a:srgbClr val="FFFFFF"/>
                    </a:solidFill>
                  </a:tcPr>
                </a:tc>
              </a:tr>
              <a:tr h="363450">
                <a:tc>
                  <a:txBody>
                    <a:bodyPr/>
                    <a:lstStyle/>
                    <a:p>
                      <a:pPr indent="0" lvl="0" marL="0" rtl="0" algn="l">
                        <a:spcBef>
                          <a:spcPts val="0"/>
                        </a:spcBef>
                        <a:spcAft>
                          <a:spcPts val="0"/>
                        </a:spcAft>
                        <a:buNone/>
                      </a:pPr>
                      <a:r>
                        <a:rPr b="1" lang="en-GB" sz="900">
                          <a:highlight>
                            <a:srgbClr val="FAF9F8"/>
                          </a:highlight>
                        </a:rPr>
                        <a:t>Souza et al. (2023)</a:t>
                      </a:r>
                      <a:endParaRPr b="1" sz="900">
                        <a:highlight>
                          <a:srgbClr val="FAF9F8"/>
                        </a:highlight>
                      </a:endParaRPr>
                    </a:p>
                  </a:txBody>
                  <a:tcPr marT="0" marB="0" marR="0" marL="95250">
                    <a:solidFill>
                      <a:srgbClr val="FAF9F8"/>
                    </a:solidFill>
                  </a:tcPr>
                </a:tc>
                <a:tc>
                  <a:txBody>
                    <a:bodyPr/>
                    <a:lstStyle/>
                    <a:p>
                      <a:pPr indent="0" lvl="0" marL="0" rtl="0" algn="l">
                        <a:spcBef>
                          <a:spcPts val="0"/>
                        </a:spcBef>
                        <a:spcAft>
                          <a:spcPts val="0"/>
                        </a:spcAft>
                        <a:buNone/>
                      </a:pPr>
                      <a:r>
                        <a:rPr b="1" lang="en-GB" sz="900">
                          <a:solidFill>
                            <a:srgbClr val="2E7D32"/>
                          </a:solidFill>
                          <a:highlight>
                            <a:srgbClr val="FAF9F8"/>
                          </a:highlight>
                        </a:rPr>
                        <a:t>✔</a:t>
                      </a:r>
                      <a:endParaRPr b="1" sz="900">
                        <a:solidFill>
                          <a:srgbClr val="2E7D32"/>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None/>
                      </a:pPr>
                      <a:r>
                        <a:rPr b="1" lang="en-GB" sz="900">
                          <a:solidFill>
                            <a:srgbClr val="C62828"/>
                          </a:solidFill>
                          <a:highlight>
                            <a:srgbClr val="FAF9F8"/>
                          </a:highlight>
                        </a:rPr>
                        <a:t>✘</a:t>
                      </a:r>
                      <a:endParaRPr b="1" sz="900">
                        <a:solidFill>
                          <a:srgbClr val="C62828"/>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None/>
                      </a:pPr>
                      <a:r>
                        <a:rPr b="1" lang="en-GB" sz="900">
                          <a:solidFill>
                            <a:srgbClr val="C62828"/>
                          </a:solidFill>
                          <a:highlight>
                            <a:srgbClr val="FAF9F8"/>
                          </a:highlight>
                        </a:rPr>
                        <a:t>✘</a:t>
                      </a:r>
                      <a:endParaRPr b="1" sz="900">
                        <a:solidFill>
                          <a:srgbClr val="C62828"/>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None/>
                      </a:pPr>
                      <a:r>
                        <a:rPr b="1" lang="en-GB" sz="900">
                          <a:solidFill>
                            <a:srgbClr val="C62828"/>
                          </a:solidFill>
                          <a:highlight>
                            <a:srgbClr val="FAF9F8"/>
                          </a:highlight>
                        </a:rPr>
                        <a:t>✘</a:t>
                      </a:r>
                      <a:endParaRPr b="1" sz="900">
                        <a:solidFill>
                          <a:srgbClr val="C62828"/>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None/>
                      </a:pPr>
                      <a:r>
                        <a:rPr b="1" lang="en-GB" sz="900">
                          <a:solidFill>
                            <a:srgbClr val="2E7D32"/>
                          </a:solidFill>
                          <a:highlight>
                            <a:srgbClr val="FAF9F8"/>
                          </a:highlight>
                        </a:rPr>
                        <a:t>✔</a:t>
                      </a:r>
                      <a:endParaRPr b="1" sz="900">
                        <a:solidFill>
                          <a:srgbClr val="2E7D32"/>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None/>
                      </a:pPr>
                      <a:r>
                        <a:rPr b="1" lang="en-GB" sz="900">
                          <a:solidFill>
                            <a:srgbClr val="C62828"/>
                          </a:solidFill>
                          <a:highlight>
                            <a:srgbClr val="FAF9F8"/>
                          </a:highlight>
                        </a:rPr>
                        <a:t>✘</a:t>
                      </a:r>
                      <a:endParaRPr b="1" sz="900">
                        <a:solidFill>
                          <a:srgbClr val="2E7D32"/>
                        </a:solidFill>
                        <a:highlight>
                          <a:srgbClr val="FAF9F8"/>
                        </a:highlight>
                      </a:endParaRPr>
                    </a:p>
                  </a:txBody>
                  <a:tcPr marT="91425" marB="91425" marR="91425" marL="91425">
                    <a:solidFill>
                      <a:srgbClr val="FAF9F8"/>
                    </a:solidFill>
                  </a:tcPr>
                </a:tc>
              </a:tr>
              <a:tr h="363450">
                <a:tc>
                  <a:txBody>
                    <a:bodyPr/>
                    <a:lstStyle/>
                    <a:p>
                      <a:pPr indent="0" lvl="0" marL="0" rtl="0" algn="l">
                        <a:spcBef>
                          <a:spcPts val="0"/>
                        </a:spcBef>
                        <a:spcAft>
                          <a:spcPts val="0"/>
                        </a:spcAft>
                        <a:buNone/>
                      </a:pPr>
                      <a:r>
                        <a:rPr b="1" lang="en-GB" sz="900">
                          <a:highlight>
                            <a:srgbClr val="FFFFFF"/>
                          </a:highlight>
                        </a:rPr>
                        <a:t>Zhang et al. (2026)</a:t>
                      </a:r>
                      <a:endParaRPr b="1" sz="900">
                        <a:highlight>
                          <a:srgbClr val="FFFFFF"/>
                        </a:highlight>
                      </a:endParaRPr>
                    </a:p>
                  </a:txBody>
                  <a:tcPr marT="0" marB="0" marR="0" marL="95250">
                    <a:solidFill>
                      <a:srgbClr val="FFFFFF"/>
                    </a:solidFill>
                  </a:tcPr>
                </a:tc>
                <a:tc>
                  <a:txBody>
                    <a:bodyPr/>
                    <a:lstStyle/>
                    <a:p>
                      <a:pPr indent="0" lvl="0" marL="0" rtl="0" algn="l">
                        <a:spcBef>
                          <a:spcPts val="0"/>
                        </a:spcBef>
                        <a:spcAft>
                          <a:spcPts val="0"/>
                        </a:spcAft>
                        <a:buNone/>
                      </a:pPr>
                      <a:r>
                        <a:rPr b="1" lang="en-GB" sz="900">
                          <a:solidFill>
                            <a:srgbClr val="2E7D32"/>
                          </a:solidFill>
                          <a:highlight>
                            <a:srgbClr val="FFFFFF"/>
                          </a:highlight>
                        </a:rPr>
                        <a:t>✔</a:t>
                      </a:r>
                      <a:endParaRPr b="1" sz="900">
                        <a:solidFill>
                          <a:srgbClr val="2E7D32"/>
                        </a:solidFill>
                        <a:highlight>
                          <a:srgbClr val="FFFFFF"/>
                        </a:highlight>
                      </a:endParaRPr>
                    </a:p>
                  </a:txBody>
                  <a:tcPr marT="91425" marB="91425" marR="91425" marL="91425">
                    <a:solidFill>
                      <a:srgbClr val="FFFFFF"/>
                    </a:solidFill>
                  </a:tcPr>
                </a:tc>
                <a:tc>
                  <a:txBody>
                    <a:bodyPr/>
                    <a:lstStyle/>
                    <a:p>
                      <a:pPr indent="0" lvl="0" marL="0" rtl="0" algn="l">
                        <a:spcBef>
                          <a:spcPts val="0"/>
                        </a:spcBef>
                        <a:spcAft>
                          <a:spcPts val="0"/>
                        </a:spcAft>
                        <a:buNone/>
                      </a:pPr>
                      <a:r>
                        <a:rPr b="1" lang="en-GB" sz="900">
                          <a:solidFill>
                            <a:srgbClr val="C62828"/>
                          </a:solidFill>
                          <a:highlight>
                            <a:srgbClr val="FFFFFF"/>
                          </a:highlight>
                        </a:rPr>
                        <a:t>✘</a:t>
                      </a:r>
                      <a:endParaRPr b="1" sz="900">
                        <a:solidFill>
                          <a:srgbClr val="C62828"/>
                        </a:solidFill>
                        <a:highlight>
                          <a:srgbClr val="FFFFFF"/>
                        </a:highlight>
                      </a:endParaRPr>
                    </a:p>
                  </a:txBody>
                  <a:tcPr marT="91425" marB="91425" marR="91425" marL="91425">
                    <a:solidFill>
                      <a:srgbClr val="FFFFFF"/>
                    </a:solidFill>
                  </a:tcPr>
                </a:tc>
                <a:tc>
                  <a:txBody>
                    <a:bodyPr/>
                    <a:lstStyle/>
                    <a:p>
                      <a:pPr indent="0" lvl="0" marL="0" rtl="0" algn="l">
                        <a:spcBef>
                          <a:spcPts val="0"/>
                        </a:spcBef>
                        <a:spcAft>
                          <a:spcPts val="0"/>
                        </a:spcAft>
                        <a:buNone/>
                      </a:pPr>
                      <a:r>
                        <a:rPr b="1" lang="en-GB" sz="900">
                          <a:solidFill>
                            <a:srgbClr val="C62828"/>
                          </a:solidFill>
                          <a:highlight>
                            <a:srgbClr val="FFFFFF"/>
                          </a:highlight>
                        </a:rPr>
                        <a:t>✘</a:t>
                      </a:r>
                      <a:endParaRPr b="1" sz="900">
                        <a:solidFill>
                          <a:srgbClr val="C62828"/>
                        </a:solidFill>
                        <a:highlight>
                          <a:srgbClr val="FFFFFF"/>
                        </a:highlight>
                      </a:endParaRPr>
                    </a:p>
                  </a:txBody>
                  <a:tcPr marT="91425" marB="91425" marR="91425" marL="91425">
                    <a:solidFill>
                      <a:srgbClr val="FFFFFF"/>
                    </a:solidFill>
                  </a:tcPr>
                </a:tc>
                <a:tc>
                  <a:txBody>
                    <a:bodyPr/>
                    <a:lstStyle/>
                    <a:p>
                      <a:pPr indent="0" lvl="0" marL="0" rtl="0" algn="l">
                        <a:spcBef>
                          <a:spcPts val="0"/>
                        </a:spcBef>
                        <a:spcAft>
                          <a:spcPts val="0"/>
                        </a:spcAft>
                        <a:buNone/>
                      </a:pPr>
                      <a:r>
                        <a:rPr b="1" lang="en-GB" sz="900">
                          <a:solidFill>
                            <a:srgbClr val="2E7D32"/>
                          </a:solidFill>
                          <a:highlight>
                            <a:srgbClr val="FFFFFF"/>
                          </a:highlight>
                        </a:rPr>
                        <a:t>✔</a:t>
                      </a:r>
                      <a:endParaRPr b="1" sz="900">
                        <a:solidFill>
                          <a:srgbClr val="2E7D32"/>
                        </a:solidFill>
                        <a:highlight>
                          <a:srgbClr val="FFFFFF"/>
                        </a:highlight>
                      </a:endParaRPr>
                    </a:p>
                  </a:txBody>
                  <a:tcPr marT="91425" marB="91425" marR="91425" marL="91425">
                    <a:solidFill>
                      <a:srgbClr val="FFFFFF"/>
                    </a:solidFill>
                  </a:tcPr>
                </a:tc>
                <a:tc>
                  <a:txBody>
                    <a:bodyPr/>
                    <a:lstStyle/>
                    <a:p>
                      <a:pPr indent="0" lvl="0" marL="0" rtl="0" algn="l">
                        <a:spcBef>
                          <a:spcPts val="0"/>
                        </a:spcBef>
                        <a:spcAft>
                          <a:spcPts val="0"/>
                        </a:spcAft>
                        <a:buNone/>
                      </a:pPr>
                      <a:r>
                        <a:rPr b="1" lang="en-GB" sz="900">
                          <a:solidFill>
                            <a:srgbClr val="C62828"/>
                          </a:solidFill>
                          <a:highlight>
                            <a:srgbClr val="FFFFFF"/>
                          </a:highlight>
                        </a:rPr>
                        <a:t>✘</a:t>
                      </a:r>
                      <a:endParaRPr b="1" sz="900">
                        <a:solidFill>
                          <a:srgbClr val="C62828"/>
                        </a:solidFill>
                        <a:highlight>
                          <a:srgbClr val="FFFFFF"/>
                        </a:highlight>
                      </a:endParaRPr>
                    </a:p>
                  </a:txBody>
                  <a:tcPr marT="91425" marB="91425" marR="91425" marL="91425">
                    <a:solidFill>
                      <a:srgbClr val="FFFFFF"/>
                    </a:solidFill>
                  </a:tcPr>
                </a:tc>
                <a:tc>
                  <a:txBody>
                    <a:bodyPr/>
                    <a:lstStyle/>
                    <a:p>
                      <a:pPr indent="0" lvl="0" marL="0" rtl="0" algn="l">
                        <a:spcBef>
                          <a:spcPts val="0"/>
                        </a:spcBef>
                        <a:spcAft>
                          <a:spcPts val="0"/>
                        </a:spcAft>
                        <a:buNone/>
                      </a:pPr>
                      <a:r>
                        <a:rPr b="1" lang="en-GB" sz="900">
                          <a:solidFill>
                            <a:srgbClr val="C62828"/>
                          </a:solidFill>
                          <a:highlight>
                            <a:srgbClr val="FAF9F8"/>
                          </a:highlight>
                        </a:rPr>
                        <a:t>✘</a:t>
                      </a:r>
                      <a:endParaRPr b="1" sz="900">
                        <a:solidFill>
                          <a:srgbClr val="C62828"/>
                        </a:solidFill>
                        <a:highlight>
                          <a:srgbClr val="FFFFFF"/>
                        </a:highlight>
                      </a:endParaRPr>
                    </a:p>
                  </a:txBody>
                  <a:tcPr marT="91425" marB="91425" marR="91425" marL="91425">
                    <a:solidFill>
                      <a:srgbClr val="FFFFFF"/>
                    </a:solidFill>
                  </a:tcPr>
                </a:tc>
              </a:tr>
              <a:tr h="363450">
                <a:tc>
                  <a:txBody>
                    <a:bodyPr/>
                    <a:lstStyle/>
                    <a:p>
                      <a:pPr indent="0" lvl="0" marL="0" rtl="0" algn="l">
                        <a:spcBef>
                          <a:spcPts val="0"/>
                        </a:spcBef>
                        <a:spcAft>
                          <a:spcPts val="0"/>
                        </a:spcAft>
                        <a:buNone/>
                      </a:pPr>
                      <a:r>
                        <a:rPr b="1" lang="en-GB" sz="900">
                          <a:highlight>
                            <a:srgbClr val="FAF9F8"/>
                          </a:highlight>
                        </a:rPr>
                        <a:t>Amaral et al. (2023)</a:t>
                      </a:r>
                      <a:endParaRPr b="1" sz="900">
                        <a:highlight>
                          <a:srgbClr val="FAF9F8"/>
                        </a:highlight>
                      </a:endParaRPr>
                    </a:p>
                  </a:txBody>
                  <a:tcPr marT="0" marB="0" marR="0" marL="95250">
                    <a:solidFill>
                      <a:srgbClr val="FAF9F8"/>
                    </a:solidFill>
                  </a:tcPr>
                </a:tc>
                <a:tc>
                  <a:txBody>
                    <a:bodyPr/>
                    <a:lstStyle/>
                    <a:p>
                      <a:pPr indent="0" lvl="0" marL="0" rtl="0" algn="l">
                        <a:spcBef>
                          <a:spcPts val="0"/>
                        </a:spcBef>
                        <a:spcAft>
                          <a:spcPts val="0"/>
                        </a:spcAft>
                        <a:buNone/>
                      </a:pPr>
                      <a:r>
                        <a:rPr b="1" lang="en-GB" sz="900">
                          <a:solidFill>
                            <a:srgbClr val="C62828"/>
                          </a:solidFill>
                          <a:highlight>
                            <a:srgbClr val="FAF9F8"/>
                          </a:highlight>
                        </a:rPr>
                        <a:t>✘</a:t>
                      </a:r>
                      <a:endParaRPr b="1" sz="900">
                        <a:solidFill>
                          <a:srgbClr val="C62828"/>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None/>
                      </a:pPr>
                      <a:r>
                        <a:rPr b="1" lang="en-GB" sz="900">
                          <a:solidFill>
                            <a:srgbClr val="2E7D32"/>
                          </a:solidFill>
                          <a:highlight>
                            <a:srgbClr val="FAF9F8"/>
                          </a:highlight>
                        </a:rPr>
                        <a:t>✔</a:t>
                      </a:r>
                      <a:endParaRPr b="1" sz="900">
                        <a:solidFill>
                          <a:srgbClr val="2E7D32"/>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None/>
                      </a:pPr>
                      <a:r>
                        <a:rPr b="1" lang="en-GB" sz="900">
                          <a:solidFill>
                            <a:srgbClr val="C62828"/>
                          </a:solidFill>
                          <a:highlight>
                            <a:srgbClr val="FAF9F8"/>
                          </a:highlight>
                        </a:rPr>
                        <a:t>✘</a:t>
                      </a:r>
                      <a:endParaRPr b="1" sz="900">
                        <a:solidFill>
                          <a:srgbClr val="C62828"/>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None/>
                      </a:pPr>
                      <a:r>
                        <a:rPr b="1" lang="en-GB" sz="900">
                          <a:solidFill>
                            <a:srgbClr val="C62828"/>
                          </a:solidFill>
                          <a:highlight>
                            <a:srgbClr val="FAF9F8"/>
                          </a:highlight>
                        </a:rPr>
                        <a:t>✘</a:t>
                      </a:r>
                      <a:endParaRPr b="1" sz="900">
                        <a:solidFill>
                          <a:srgbClr val="C62828"/>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None/>
                      </a:pPr>
                      <a:r>
                        <a:rPr b="1" lang="en-GB" sz="900">
                          <a:solidFill>
                            <a:srgbClr val="2E7D32"/>
                          </a:solidFill>
                          <a:highlight>
                            <a:srgbClr val="FAF9F8"/>
                          </a:highlight>
                        </a:rPr>
                        <a:t>✔</a:t>
                      </a:r>
                      <a:endParaRPr b="1" sz="900">
                        <a:solidFill>
                          <a:srgbClr val="2E7D32"/>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Clr>
                          <a:schemeClr val="dk1"/>
                        </a:buClr>
                        <a:buSzPts val="1100"/>
                        <a:buFont typeface="Arial"/>
                        <a:buNone/>
                      </a:pPr>
                      <a:r>
                        <a:rPr b="1" lang="en-GB" sz="900">
                          <a:solidFill>
                            <a:srgbClr val="2E7D32"/>
                          </a:solidFill>
                          <a:highlight>
                            <a:srgbClr val="FAF9F8"/>
                          </a:highlight>
                        </a:rPr>
                        <a:t>✔</a:t>
                      </a:r>
                      <a:endParaRPr b="1" sz="900">
                        <a:solidFill>
                          <a:srgbClr val="2E7D32"/>
                        </a:solidFill>
                        <a:highlight>
                          <a:srgbClr val="FAF9F8"/>
                        </a:highlight>
                      </a:endParaRPr>
                    </a:p>
                  </a:txBody>
                  <a:tcPr marT="91425" marB="91425" marR="91425" marL="91425">
                    <a:solidFill>
                      <a:srgbClr val="FAF9F8"/>
                    </a:solidFill>
                  </a:tcPr>
                </a:tc>
              </a:tr>
              <a:tr h="457675">
                <a:tc>
                  <a:txBody>
                    <a:bodyPr/>
                    <a:lstStyle/>
                    <a:p>
                      <a:pPr indent="0" lvl="0" marL="0" rtl="0" algn="l">
                        <a:spcBef>
                          <a:spcPts val="0"/>
                        </a:spcBef>
                        <a:spcAft>
                          <a:spcPts val="0"/>
                        </a:spcAft>
                        <a:buNone/>
                      </a:pPr>
                      <a:r>
                        <a:rPr b="1" lang="en-GB" sz="900">
                          <a:highlight>
                            <a:srgbClr val="FAF9F8"/>
                          </a:highlight>
                        </a:rPr>
                        <a:t>Sankiti et al. (2025) </a:t>
                      </a:r>
                      <a:endParaRPr b="1" sz="900">
                        <a:highlight>
                          <a:srgbClr val="FAF9F8"/>
                        </a:highlight>
                      </a:endParaRPr>
                    </a:p>
                  </a:txBody>
                  <a:tcPr marT="0" marB="0" marR="0" marL="95250">
                    <a:solidFill>
                      <a:srgbClr val="FAF9F8"/>
                    </a:solidFill>
                  </a:tcPr>
                </a:tc>
                <a:tc>
                  <a:txBody>
                    <a:bodyPr/>
                    <a:lstStyle/>
                    <a:p>
                      <a:pPr indent="0" lvl="0" marL="0" rtl="0" algn="l">
                        <a:spcBef>
                          <a:spcPts val="0"/>
                        </a:spcBef>
                        <a:spcAft>
                          <a:spcPts val="0"/>
                        </a:spcAft>
                        <a:buNone/>
                      </a:pPr>
                      <a:r>
                        <a:rPr b="1" lang="en-GB" sz="900">
                          <a:solidFill>
                            <a:srgbClr val="C62828"/>
                          </a:solidFill>
                          <a:highlight>
                            <a:srgbClr val="FAF9F8"/>
                          </a:highlight>
                        </a:rPr>
                        <a:t>✘</a:t>
                      </a:r>
                      <a:endParaRPr b="1" sz="900">
                        <a:solidFill>
                          <a:srgbClr val="C62828"/>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Clr>
                          <a:schemeClr val="dk1"/>
                        </a:buClr>
                        <a:buSzPts val="1100"/>
                        <a:buFont typeface="Arial"/>
                        <a:buNone/>
                      </a:pPr>
                      <a:r>
                        <a:rPr b="1" lang="en-GB" sz="900">
                          <a:solidFill>
                            <a:srgbClr val="C62828"/>
                          </a:solidFill>
                          <a:highlight>
                            <a:srgbClr val="FAF9F8"/>
                          </a:highlight>
                        </a:rPr>
                        <a:t>✘</a:t>
                      </a:r>
                      <a:endParaRPr b="1" sz="900">
                        <a:solidFill>
                          <a:srgbClr val="2E7D32"/>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Clr>
                          <a:schemeClr val="dk1"/>
                        </a:buClr>
                        <a:buSzPts val="1100"/>
                        <a:buFont typeface="Arial"/>
                        <a:buNone/>
                      </a:pPr>
                      <a:r>
                        <a:rPr b="1" lang="en-GB" sz="900">
                          <a:solidFill>
                            <a:srgbClr val="2E7D32"/>
                          </a:solidFill>
                          <a:highlight>
                            <a:srgbClr val="FAF9F8"/>
                          </a:highlight>
                        </a:rPr>
                        <a:t>✔</a:t>
                      </a:r>
                      <a:endParaRPr b="1" sz="900">
                        <a:solidFill>
                          <a:srgbClr val="C62828"/>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None/>
                      </a:pPr>
                      <a:r>
                        <a:rPr b="1" lang="en-GB" sz="900">
                          <a:solidFill>
                            <a:srgbClr val="C62828"/>
                          </a:solidFill>
                          <a:highlight>
                            <a:srgbClr val="FAF9F8"/>
                          </a:highlight>
                        </a:rPr>
                        <a:t>✘</a:t>
                      </a:r>
                      <a:endParaRPr b="1" sz="900">
                        <a:solidFill>
                          <a:srgbClr val="C62828"/>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Clr>
                          <a:schemeClr val="dk1"/>
                        </a:buClr>
                        <a:buSzPts val="1100"/>
                        <a:buFont typeface="Arial"/>
                        <a:buNone/>
                      </a:pPr>
                      <a:r>
                        <a:rPr b="1" lang="en-GB" sz="900">
                          <a:solidFill>
                            <a:srgbClr val="2E7D32"/>
                          </a:solidFill>
                          <a:highlight>
                            <a:srgbClr val="FAF9F8"/>
                          </a:highlight>
                        </a:rPr>
                        <a:t>✔</a:t>
                      </a:r>
                      <a:endParaRPr b="1" sz="900">
                        <a:solidFill>
                          <a:srgbClr val="2E7D32"/>
                        </a:solidFill>
                        <a:highlight>
                          <a:srgbClr val="FAF9F8"/>
                        </a:highlight>
                      </a:endParaRPr>
                    </a:p>
                  </a:txBody>
                  <a:tcPr marT="91425" marB="91425" marR="91425" marL="91425">
                    <a:solidFill>
                      <a:srgbClr val="FAF9F8"/>
                    </a:solidFill>
                  </a:tcPr>
                </a:tc>
                <a:tc>
                  <a:txBody>
                    <a:bodyPr/>
                    <a:lstStyle/>
                    <a:p>
                      <a:pPr indent="0" lvl="0" marL="0" rtl="0" algn="l">
                        <a:spcBef>
                          <a:spcPts val="0"/>
                        </a:spcBef>
                        <a:spcAft>
                          <a:spcPts val="0"/>
                        </a:spcAft>
                        <a:buClr>
                          <a:schemeClr val="dk1"/>
                        </a:buClr>
                        <a:buSzPts val="1100"/>
                        <a:buFont typeface="Arial"/>
                        <a:buNone/>
                      </a:pPr>
                      <a:r>
                        <a:rPr b="1" lang="en-GB" sz="900">
                          <a:solidFill>
                            <a:srgbClr val="C62828"/>
                          </a:solidFill>
                          <a:highlight>
                            <a:srgbClr val="FAF9F8"/>
                          </a:highlight>
                        </a:rPr>
                        <a:t>✘</a:t>
                      </a:r>
                      <a:endParaRPr b="1" sz="900">
                        <a:solidFill>
                          <a:srgbClr val="C62828"/>
                        </a:solidFill>
                        <a:highlight>
                          <a:srgbClr val="FAF9F8"/>
                        </a:highlight>
                      </a:endParaRPr>
                    </a:p>
                    <a:p>
                      <a:pPr indent="0" lvl="0" marL="0" rtl="0" algn="l">
                        <a:spcBef>
                          <a:spcPts val="0"/>
                        </a:spcBef>
                        <a:spcAft>
                          <a:spcPts val="0"/>
                        </a:spcAft>
                        <a:buNone/>
                      </a:pPr>
                      <a:r>
                        <a:t/>
                      </a:r>
                      <a:endParaRPr b="1" sz="900">
                        <a:solidFill>
                          <a:srgbClr val="2E7D32"/>
                        </a:solidFill>
                        <a:highlight>
                          <a:srgbClr val="FAF9F8"/>
                        </a:highlight>
                      </a:endParaRPr>
                    </a:p>
                  </a:txBody>
                  <a:tcPr marT="91425" marB="91425" marR="91425" marL="91425">
                    <a:solidFill>
                      <a:srgbClr val="FAF9F8"/>
                    </a:solidFill>
                  </a:tcPr>
                </a:tc>
              </a:tr>
              <a:tr h="459825">
                <a:tc>
                  <a:txBody>
                    <a:bodyPr/>
                    <a:lstStyle/>
                    <a:p>
                      <a:pPr indent="0" lvl="0" marL="0" rtl="0" algn="l">
                        <a:spcBef>
                          <a:spcPts val="0"/>
                        </a:spcBef>
                        <a:spcAft>
                          <a:spcPts val="0"/>
                        </a:spcAft>
                        <a:buNone/>
                      </a:pPr>
                      <a:r>
                        <a:t/>
                      </a:r>
                      <a:endParaRPr b="1" sz="900">
                        <a:solidFill>
                          <a:srgbClr val="B50346"/>
                        </a:solidFill>
                        <a:highlight>
                          <a:srgbClr val="FCE8EE"/>
                        </a:highlight>
                        <a:latin typeface="Georgia"/>
                        <a:ea typeface="Georgia"/>
                        <a:cs typeface="Georgia"/>
                        <a:sym typeface="Georgia"/>
                      </a:endParaRPr>
                    </a:p>
                    <a:p>
                      <a:pPr indent="0" lvl="0" marL="0" rtl="0" algn="l">
                        <a:spcBef>
                          <a:spcPts val="0"/>
                        </a:spcBef>
                        <a:spcAft>
                          <a:spcPts val="0"/>
                        </a:spcAft>
                        <a:buNone/>
                      </a:pPr>
                      <a:r>
                        <a:rPr b="1" lang="en-GB" sz="900">
                          <a:solidFill>
                            <a:srgbClr val="B50346"/>
                          </a:solidFill>
                          <a:highlight>
                            <a:srgbClr val="FCE8EE"/>
                          </a:highlight>
                          <a:latin typeface="Georgia"/>
                          <a:ea typeface="Georgia"/>
                          <a:cs typeface="Georgia"/>
                          <a:sym typeface="Georgia"/>
                        </a:rPr>
                        <a:t>Our Proposed System</a:t>
                      </a:r>
                      <a:endParaRPr b="1" sz="900">
                        <a:solidFill>
                          <a:srgbClr val="B50346"/>
                        </a:solidFill>
                        <a:highlight>
                          <a:srgbClr val="FCE8EE"/>
                        </a:highlight>
                        <a:latin typeface="Georgia"/>
                        <a:ea typeface="Georgia"/>
                        <a:cs typeface="Georgia"/>
                        <a:sym typeface="Georgia"/>
                      </a:endParaRPr>
                    </a:p>
                  </a:txBody>
                  <a:tcPr marT="0" marB="0" marR="0" marL="95250">
                    <a:solidFill>
                      <a:srgbClr val="FCE8EE"/>
                    </a:solidFill>
                  </a:tcPr>
                </a:tc>
                <a:tc>
                  <a:txBody>
                    <a:bodyPr/>
                    <a:lstStyle/>
                    <a:p>
                      <a:pPr indent="0" lvl="0" marL="0" rtl="0" algn="l">
                        <a:spcBef>
                          <a:spcPts val="0"/>
                        </a:spcBef>
                        <a:spcAft>
                          <a:spcPts val="0"/>
                        </a:spcAft>
                        <a:buNone/>
                      </a:pPr>
                      <a:r>
                        <a:rPr b="1" lang="en-GB" sz="900">
                          <a:solidFill>
                            <a:srgbClr val="2E7D32"/>
                          </a:solidFill>
                          <a:highlight>
                            <a:srgbClr val="FCE8EE"/>
                          </a:highlight>
                        </a:rPr>
                        <a:t>✔</a:t>
                      </a:r>
                      <a:endParaRPr b="1" sz="900">
                        <a:solidFill>
                          <a:srgbClr val="2E7D32"/>
                        </a:solidFill>
                        <a:highlight>
                          <a:srgbClr val="FCE8EE"/>
                        </a:highlight>
                      </a:endParaRPr>
                    </a:p>
                  </a:txBody>
                  <a:tcPr marT="91425" marB="91425" marR="91425" marL="91425">
                    <a:solidFill>
                      <a:srgbClr val="FCE8EE"/>
                    </a:solidFill>
                  </a:tcPr>
                </a:tc>
                <a:tc>
                  <a:txBody>
                    <a:bodyPr/>
                    <a:lstStyle/>
                    <a:p>
                      <a:pPr indent="0" lvl="0" marL="0" rtl="0" algn="l">
                        <a:spcBef>
                          <a:spcPts val="0"/>
                        </a:spcBef>
                        <a:spcAft>
                          <a:spcPts val="0"/>
                        </a:spcAft>
                        <a:buNone/>
                      </a:pPr>
                      <a:r>
                        <a:rPr b="1" lang="en-GB" sz="900">
                          <a:solidFill>
                            <a:srgbClr val="2E7D32"/>
                          </a:solidFill>
                          <a:highlight>
                            <a:srgbClr val="FCE8EE"/>
                          </a:highlight>
                        </a:rPr>
                        <a:t>✔</a:t>
                      </a:r>
                      <a:endParaRPr b="1" sz="900">
                        <a:solidFill>
                          <a:srgbClr val="2E7D32"/>
                        </a:solidFill>
                        <a:highlight>
                          <a:srgbClr val="FCE8EE"/>
                        </a:highlight>
                      </a:endParaRPr>
                    </a:p>
                  </a:txBody>
                  <a:tcPr marT="91425" marB="91425" marR="91425" marL="91425">
                    <a:solidFill>
                      <a:srgbClr val="FCE8EE"/>
                    </a:solidFill>
                  </a:tcPr>
                </a:tc>
                <a:tc>
                  <a:txBody>
                    <a:bodyPr/>
                    <a:lstStyle/>
                    <a:p>
                      <a:pPr indent="0" lvl="0" marL="0" rtl="0" algn="l">
                        <a:spcBef>
                          <a:spcPts val="0"/>
                        </a:spcBef>
                        <a:spcAft>
                          <a:spcPts val="0"/>
                        </a:spcAft>
                        <a:buNone/>
                      </a:pPr>
                      <a:r>
                        <a:rPr b="1" lang="en-GB" sz="900">
                          <a:solidFill>
                            <a:srgbClr val="2E7D32"/>
                          </a:solidFill>
                          <a:highlight>
                            <a:srgbClr val="FCE8EE"/>
                          </a:highlight>
                        </a:rPr>
                        <a:t>✔</a:t>
                      </a:r>
                      <a:endParaRPr b="1" sz="900">
                        <a:solidFill>
                          <a:srgbClr val="2E7D32"/>
                        </a:solidFill>
                        <a:highlight>
                          <a:srgbClr val="FCE8EE"/>
                        </a:highlight>
                      </a:endParaRPr>
                    </a:p>
                  </a:txBody>
                  <a:tcPr marT="91425" marB="91425" marR="91425" marL="91425">
                    <a:solidFill>
                      <a:srgbClr val="FCE8EE"/>
                    </a:solidFill>
                  </a:tcPr>
                </a:tc>
                <a:tc>
                  <a:txBody>
                    <a:bodyPr/>
                    <a:lstStyle/>
                    <a:p>
                      <a:pPr indent="0" lvl="0" marL="0" rtl="0" algn="l">
                        <a:spcBef>
                          <a:spcPts val="0"/>
                        </a:spcBef>
                        <a:spcAft>
                          <a:spcPts val="0"/>
                        </a:spcAft>
                        <a:buNone/>
                      </a:pPr>
                      <a:r>
                        <a:rPr b="1" lang="en-GB" sz="900">
                          <a:solidFill>
                            <a:srgbClr val="2E7D32"/>
                          </a:solidFill>
                          <a:highlight>
                            <a:srgbClr val="FCE8EE"/>
                          </a:highlight>
                        </a:rPr>
                        <a:t>✔</a:t>
                      </a:r>
                      <a:endParaRPr b="1" sz="900">
                        <a:solidFill>
                          <a:srgbClr val="2E7D32"/>
                        </a:solidFill>
                        <a:highlight>
                          <a:srgbClr val="FCE8EE"/>
                        </a:highlight>
                      </a:endParaRPr>
                    </a:p>
                  </a:txBody>
                  <a:tcPr marT="91425" marB="91425" marR="91425" marL="91425">
                    <a:solidFill>
                      <a:srgbClr val="FCE8EE"/>
                    </a:solidFill>
                  </a:tcPr>
                </a:tc>
                <a:tc>
                  <a:txBody>
                    <a:bodyPr/>
                    <a:lstStyle/>
                    <a:p>
                      <a:pPr indent="0" lvl="0" marL="0" rtl="0" algn="l">
                        <a:spcBef>
                          <a:spcPts val="0"/>
                        </a:spcBef>
                        <a:spcAft>
                          <a:spcPts val="0"/>
                        </a:spcAft>
                        <a:buNone/>
                      </a:pPr>
                      <a:r>
                        <a:rPr b="1" lang="en-GB" sz="900">
                          <a:solidFill>
                            <a:srgbClr val="2E7D32"/>
                          </a:solidFill>
                          <a:highlight>
                            <a:srgbClr val="FCE8EE"/>
                          </a:highlight>
                        </a:rPr>
                        <a:t>✔</a:t>
                      </a:r>
                      <a:endParaRPr b="1" sz="900">
                        <a:solidFill>
                          <a:srgbClr val="2E7D32"/>
                        </a:solidFill>
                        <a:highlight>
                          <a:srgbClr val="FCE8EE"/>
                        </a:highlight>
                      </a:endParaRPr>
                    </a:p>
                  </a:txBody>
                  <a:tcPr marT="91425" marB="91425" marR="91425" marL="91425">
                    <a:solidFill>
                      <a:srgbClr val="FCE8EE"/>
                    </a:solidFill>
                  </a:tcPr>
                </a:tc>
                <a:tc>
                  <a:txBody>
                    <a:bodyPr/>
                    <a:lstStyle/>
                    <a:p>
                      <a:pPr indent="0" lvl="0" marL="0" rtl="0" algn="l">
                        <a:spcBef>
                          <a:spcPts val="0"/>
                        </a:spcBef>
                        <a:spcAft>
                          <a:spcPts val="0"/>
                        </a:spcAft>
                        <a:buClr>
                          <a:schemeClr val="dk1"/>
                        </a:buClr>
                        <a:buSzPts val="1100"/>
                        <a:buFont typeface="Arial"/>
                        <a:buNone/>
                      </a:pPr>
                      <a:r>
                        <a:rPr b="1" lang="en-GB" sz="900">
                          <a:solidFill>
                            <a:srgbClr val="2E7D32"/>
                          </a:solidFill>
                          <a:highlight>
                            <a:srgbClr val="FAF9F8"/>
                          </a:highlight>
                        </a:rPr>
                        <a:t>✔</a:t>
                      </a:r>
                      <a:endParaRPr b="1" sz="900">
                        <a:solidFill>
                          <a:srgbClr val="2E7D32"/>
                        </a:solidFill>
                        <a:highlight>
                          <a:srgbClr val="FCE8EE"/>
                        </a:highlight>
                      </a:endParaRPr>
                    </a:p>
                  </a:txBody>
                  <a:tcPr marT="91425" marB="91425" marR="91425" marL="91425">
                    <a:solidFill>
                      <a:srgbClr val="FCE8EE"/>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graphicFrame>
        <p:nvGraphicFramePr>
          <p:cNvPr id="285" name="Google Shape;285;p22"/>
          <p:cNvGraphicFramePr/>
          <p:nvPr/>
        </p:nvGraphicFramePr>
        <p:xfrm>
          <a:off x="566900" y="1100550"/>
          <a:ext cx="3000000" cy="3000000"/>
        </p:xfrm>
        <a:graphic>
          <a:graphicData uri="http://schemas.openxmlformats.org/drawingml/2006/table">
            <a:tbl>
              <a:tblPr>
                <a:noFill/>
                <a:tableStyleId>{8E960A22-BE07-4F97-8DFD-1A2EE5CAC9EF}</a:tableStyleId>
              </a:tblPr>
              <a:tblGrid>
                <a:gridCol w="551725"/>
                <a:gridCol w="3370425"/>
                <a:gridCol w="4176975"/>
              </a:tblGrid>
              <a:tr h="517425">
                <a:tc>
                  <a:txBody>
                    <a:bodyPr/>
                    <a:lstStyle/>
                    <a:p>
                      <a:pPr indent="0" lvl="0" marL="0" rtl="0" algn="l">
                        <a:spcBef>
                          <a:spcPts val="0"/>
                        </a:spcBef>
                        <a:spcAft>
                          <a:spcPts val="0"/>
                        </a:spcAft>
                        <a:buNone/>
                      </a:pPr>
                      <a:r>
                        <a:t/>
                      </a:r>
                      <a:endParaRPr b="1" sz="1200">
                        <a:solidFill>
                          <a:srgbClr val="FFFFFF"/>
                        </a:solidFill>
                        <a:highlight>
                          <a:srgbClr val="B50346"/>
                        </a:highlight>
                        <a:latin typeface="Times New Roman"/>
                        <a:ea typeface="Times New Roman"/>
                        <a:cs typeface="Times New Roman"/>
                        <a:sym typeface="Times New Roman"/>
                      </a:endParaRPr>
                    </a:p>
                    <a:p>
                      <a:pPr indent="0" lvl="0" marL="0" rtl="0" algn="l">
                        <a:spcBef>
                          <a:spcPts val="0"/>
                        </a:spcBef>
                        <a:spcAft>
                          <a:spcPts val="0"/>
                        </a:spcAft>
                        <a:buNone/>
                      </a:pPr>
                      <a:r>
                        <a:t/>
                      </a:r>
                      <a:endParaRPr b="1" sz="1200">
                        <a:solidFill>
                          <a:srgbClr val="FFFFFF"/>
                        </a:solidFill>
                        <a:highlight>
                          <a:srgbClr val="B50346"/>
                        </a:highlight>
                        <a:latin typeface="Times New Roman"/>
                        <a:ea typeface="Times New Roman"/>
                        <a:cs typeface="Times New Roman"/>
                        <a:sym typeface="Times New Roman"/>
                      </a:endParaRPr>
                    </a:p>
                    <a:p>
                      <a:pPr indent="0" lvl="0" marL="0" rtl="0" algn="l">
                        <a:spcBef>
                          <a:spcPts val="0"/>
                        </a:spcBef>
                        <a:spcAft>
                          <a:spcPts val="0"/>
                        </a:spcAft>
                        <a:buNone/>
                      </a:pPr>
                      <a:r>
                        <a:rPr b="1" lang="en-GB" sz="1200">
                          <a:solidFill>
                            <a:srgbClr val="FFFFFF"/>
                          </a:solidFill>
                          <a:highlight>
                            <a:srgbClr val="B50346"/>
                          </a:highlight>
                          <a:latin typeface="Times New Roman"/>
                          <a:ea typeface="Times New Roman"/>
                          <a:cs typeface="Times New Roman"/>
                          <a:sym typeface="Times New Roman"/>
                        </a:rPr>
                        <a:t>#</a:t>
                      </a:r>
                      <a:endParaRPr b="1" sz="1200">
                        <a:solidFill>
                          <a:srgbClr val="FFFFFF"/>
                        </a:solidFill>
                        <a:highlight>
                          <a:srgbClr val="B50346"/>
                        </a:highlight>
                        <a:latin typeface="Times New Roman"/>
                        <a:ea typeface="Times New Roman"/>
                        <a:cs typeface="Times New Roman"/>
                        <a:sym typeface="Times New Roman"/>
                      </a:endParaRPr>
                    </a:p>
                  </a:txBody>
                  <a:tcPr marT="0" marB="0" marR="0" marL="95250">
                    <a:solidFill>
                      <a:srgbClr val="B50346"/>
                    </a:solidFill>
                  </a:tcPr>
                </a:tc>
                <a:tc>
                  <a:txBody>
                    <a:bodyPr/>
                    <a:lstStyle/>
                    <a:p>
                      <a:pPr indent="0" lvl="0" marL="0" rtl="0" algn="l">
                        <a:spcBef>
                          <a:spcPts val="0"/>
                        </a:spcBef>
                        <a:spcAft>
                          <a:spcPts val="0"/>
                        </a:spcAft>
                        <a:buNone/>
                      </a:pPr>
                      <a:r>
                        <a:t/>
                      </a:r>
                      <a:endParaRPr b="1" sz="1200">
                        <a:solidFill>
                          <a:srgbClr val="FFFFFF"/>
                        </a:solidFill>
                        <a:highlight>
                          <a:srgbClr val="B50346"/>
                        </a:highlight>
                        <a:latin typeface="Times New Roman"/>
                        <a:ea typeface="Times New Roman"/>
                        <a:cs typeface="Times New Roman"/>
                        <a:sym typeface="Times New Roman"/>
                      </a:endParaRPr>
                    </a:p>
                    <a:p>
                      <a:pPr indent="0" lvl="0" marL="0" rtl="0" algn="l">
                        <a:spcBef>
                          <a:spcPts val="0"/>
                        </a:spcBef>
                        <a:spcAft>
                          <a:spcPts val="0"/>
                        </a:spcAft>
                        <a:buNone/>
                      </a:pPr>
                      <a:r>
                        <a:rPr b="1" lang="en-GB" sz="1600">
                          <a:solidFill>
                            <a:srgbClr val="FFFFFF"/>
                          </a:solidFill>
                          <a:highlight>
                            <a:srgbClr val="B50346"/>
                          </a:highlight>
                          <a:latin typeface="Times New Roman"/>
                          <a:ea typeface="Times New Roman"/>
                          <a:cs typeface="Times New Roman"/>
                          <a:sym typeface="Times New Roman"/>
                        </a:rPr>
                        <a:t>N</a:t>
                      </a:r>
                      <a:r>
                        <a:rPr b="1" lang="en-GB" sz="1200">
                          <a:solidFill>
                            <a:srgbClr val="FFFFFF"/>
                          </a:solidFill>
                          <a:highlight>
                            <a:srgbClr val="B50346"/>
                          </a:highlight>
                          <a:latin typeface="Times New Roman"/>
                          <a:ea typeface="Times New Roman"/>
                          <a:cs typeface="Times New Roman"/>
                          <a:sym typeface="Times New Roman"/>
                        </a:rPr>
                        <a:t>OVELTY</a:t>
                      </a:r>
                      <a:endParaRPr b="1" sz="1200">
                        <a:solidFill>
                          <a:srgbClr val="FFFFFF"/>
                        </a:solidFill>
                        <a:highlight>
                          <a:srgbClr val="B50346"/>
                        </a:highlight>
                        <a:latin typeface="Times New Roman"/>
                        <a:ea typeface="Times New Roman"/>
                        <a:cs typeface="Times New Roman"/>
                        <a:sym typeface="Times New Roman"/>
                      </a:endParaRPr>
                    </a:p>
                  </a:txBody>
                  <a:tcPr marT="91425" marB="91425" marR="91425" marL="91425">
                    <a:solidFill>
                      <a:srgbClr val="B50346"/>
                    </a:solidFill>
                  </a:tcPr>
                </a:tc>
                <a:tc>
                  <a:txBody>
                    <a:bodyPr/>
                    <a:lstStyle/>
                    <a:p>
                      <a:pPr indent="0" lvl="0" marL="0" rtl="0" algn="l">
                        <a:spcBef>
                          <a:spcPts val="0"/>
                        </a:spcBef>
                        <a:spcAft>
                          <a:spcPts val="0"/>
                        </a:spcAft>
                        <a:buNone/>
                      </a:pPr>
                      <a:r>
                        <a:t/>
                      </a:r>
                      <a:endParaRPr b="1" sz="1200">
                        <a:solidFill>
                          <a:srgbClr val="FFFFFF"/>
                        </a:solidFill>
                        <a:highlight>
                          <a:srgbClr val="B50346"/>
                        </a:highlight>
                        <a:latin typeface="Times New Roman"/>
                        <a:ea typeface="Times New Roman"/>
                        <a:cs typeface="Times New Roman"/>
                        <a:sym typeface="Times New Roman"/>
                      </a:endParaRPr>
                    </a:p>
                    <a:p>
                      <a:pPr indent="0" lvl="0" marL="0" rtl="0" algn="l">
                        <a:spcBef>
                          <a:spcPts val="0"/>
                        </a:spcBef>
                        <a:spcAft>
                          <a:spcPts val="0"/>
                        </a:spcAft>
                        <a:buNone/>
                      </a:pPr>
                      <a:r>
                        <a:rPr b="1" lang="en-GB" sz="1600">
                          <a:solidFill>
                            <a:srgbClr val="FFFFFF"/>
                          </a:solidFill>
                          <a:highlight>
                            <a:srgbClr val="B50346"/>
                          </a:highlight>
                          <a:latin typeface="Times New Roman"/>
                          <a:ea typeface="Times New Roman"/>
                          <a:cs typeface="Times New Roman"/>
                          <a:sym typeface="Times New Roman"/>
                        </a:rPr>
                        <a:t>C</a:t>
                      </a:r>
                      <a:r>
                        <a:rPr b="1" lang="en-GB" sz="1200">
                          <a:solidFill>
                            <a:srgbClr val="FFFFFF"/>
                          </a:solidFill>
                          <a:highlight>
                            <a:srgbClr val="B50346"/>
                          </a:highlight>
                          <a:latin typeface="Times New Roman"/>
                          <a:ea typeface="Times New Roman"/>
                          <a:cs typeface="Times New Roman"/>
                          <a:sym typeface="Times New Roman"/>
                        </a:rPr>
                        <a:t>ONTRIBUTION</a:t>
                      </a:r>
                      <a:endParaRPr b="1" sz="1200">
                        <a:solidFill>
                          <a:srgbClr val="FFFFFF"/>
                        </a:solidFill>
                        <a:highlight>
                          <a:srgbClr val="B50346"/>
                        </a:highlight>
                        <a:latin typeface="Times New Roman"/>
                        <a:ea typeface="Times New Roman"/>
                        <a:cs typeface="Times New Roman"/>
                        <a:sym typeface="Times New Roman"/>
                      </a:endParaRPr>
                    </a:p>
                  </a:txBody>
                  <a:tcPr marT="91425" marB="91425" marR="91425" marL="91425">
                    <a:solidFill>
                      <a:srgbClr val="B50346"/>
                    </a:solidFill>
                  </a:tcPr>
                </a:tc>
              </a:tr>
              <a:tr h="315900">
                <a:tc>
                  <a:txBody>
                    <a:bodyPr/>
                    <a:lstStyle/>
                    <a:p>
                      <a:pPr indent="0" lvl="0" marL="0" rtl="0" algn="just">
                        <a:spcBef>
                          <a:spcPts val="0"/>
                        </a:spcBef>
                        <a:spcAft>
                          <a:spcPts val="0"/>
                        </a:spcAft>
                        <a:buNone/>
                      </a:pPr>
                      <a:r>
                        <a:rPr b="1" lang="en-GB" sz="1200">
                          <a:highlight>
                            <a:srgbClr val="FAF9F8"/>
                          </a:highlight>
                          <a:latin typeface="Times New Roman"/>
                          <a:ea typeface="Times New Roman"/>
                          <a:cs typeface="Times New Roman"/>
                          <a:sym typeface="Times New Roman"/>
                        </a:rPr>
                        <a:t>1</a:t>
                      </a:r>
                      <a:endParaRPr b="1" sz="1200">
                        <a:highlight>
                          <a:srgbClr val="FAF9F8"/>
                        </a:highlight>
                        <a:latin typeface="Times New Roman"/>
                        <a:ea typeface="Times New Roman"/>
                        <a:cs typeface="Times New Roman"/>
                        <a:sym typeface="Times New Roman"/>
                      </a:endParaRPr>
                    </a:p>
                  </a:txBody>
                  <a:tcPr marT="0" marB="0" marR="0" marL="95250">
                    <a:solidFill>
                      <a:srgbClr val="FAF9F8"/>
                    </a:solidFill>
                  </a:tcPr>
                </a:tc>
                <a:tc>
                  <a:txBody>
                    <a:bodyPr/>
                    <a:lstStyle/>
                    <a:p>
                      <a:pPr indent="0" lvl="0" marL="0" rtl="0" algn="just">
                        <a:spcBef>
                          <a:spcPts val="0"/>
                        </a:spcBef>
                        <a:spcAft>
                          <a:spcPts val="0"/>
                        </a:spcAft>
                        <a:buNone/>
                      </a:pPr>
                      <a:r>
                        <a:rPr lang="en-GB" sz="1200"/>
                        <a:t>Carbon-Aware Smart Scheduling</a:t>
                      </a:r>
                      <a:endParaRPr sz="1200"/>
                    </a:p>
                  </a:txBody>
                  <a:tcPr marT="91425" marB="91425" marR="91425" marL="91425">
                    <a:solidFill>
                      <a:srgbClr val="FAF9F8"/>
                    </a:solidFill>
                  </a:tcPr>
                </a:tc>
                <a:tc>
                  <a:txBody>
                    <a:bodyPr/>
                    <a:lstStyle/>
                    <a:p>
                      <a:pPr indent="0" lvl="0" marL="0" rtl="0" algn="just">
                        <a:spcBef>
                          <a:spcPts val="0"/>
                        </a:spcBef>
                        <a:spcAft>
                          <a:spcPts val="0"/>
                        </a:spcAft>
                        <a:buNone/>
                      </a:pPr>
                      <a:r>
                        <a:rPr lang="en-GB" sz="1200"/>
                        <a:t>Integrates live grid carbon intensity into Kubernetes to automatically defer non-critical workloads to low-carbon time windows — reducing emissions without violating SLAs.</a:t>
                      </a:r>
                      <a:endParaRPr sz="1200"/>
                    </a:p>
                  </a:txBody>
                  <a:tcPr marT="91425" marB="91425" marR="91425" marL="91425">
                    <a:solidFill>
                      <a:srgbClr val="FAF9F8"/>
                    </a:solidFill>
                  </a:tcPr>
                </a:tc>
              </a:tr>
              <a:tr h="315900">
                <a:tc>
                  <a:txBody>
                    <a:bodyPr/>
                    <a:lstStyle/>
                    <a:p>
                      <a:pPr indent="0" lvl="0" marL="0" rtl="0" algn="just">
                        <a:spcBef>
                          <a:spcPts val="0"/>
                        </a:spcBef>
                        <a:spcAft>
                          <a:spcPts val="0"/>
                        </a:spcAft>
                        <a:buNone/>
                      </a:pPr>
                      <a:r>
                        <a:rPr b="1" lang="en-GB" sz="1200">
                          <a:latin typeface="Times New Roman"/>
                          <a:ea typeface="Times New Roman"/>
                          <a:cs typeface="Times New Roman"/>
                          <a:sym typeface="Times New Roman"/>
                        </a:rPr>
                        <a:t>2</a:t>
                      </a:r>
                      <a:endParaRPr b="1" sz="1200">
                        <a:latin typeface="Times New Roman"/>
                        <a:ea typeface="Times New Roman"/>
                        <a:cs typeface="Times New Roman"/>
                        <a:sym typeface="Times New Roman"/>
                      </a:endParaRPr>
                    </a:p>
                  </a:txBody>
                  <a:tcPr marT="0" marB="0" marR="0" marL="95250">
                    <a:solidFill>
                      <a:srgbClr val="FFFFFF"/>
                    </a:solidFill>
                  </a:tcPr>
                </a:tc>
                <a:tc>
                  <a:txBody>
                    <a:bodyPr/>
                    <a:lstStyle/>
                    <a:p>
                      <a:pPr indent="0" lvl="0" marL="0" rtl="0" algn="just">
                        <a:spcBef>
                          <a:spcPts val="0"/>
                        </a:spcBef>
                        <a:spcAft>
                          <a:spcPts val="0"/>
                        </a:spcAft>
                        <a:buNone/>
                      </a:pPr>
                      <a:r>
                        <a:rPr lang="en-GB" sz="1200"/>
                        <a:t>Dynamic </a:t>
                      </a:r>
                      <a:r>
                        <a:rPr lang="en-GB" sz="1200"/>
                        <a:t>AI Precision Scaling</a:t>
                      </a:r>
                      <a:endParaRPr sz="1200"/>
                    </a:p>
                  </a:txBody>
                  <a:tcPr marT="91425" marB="91425" marR="91425" marL="91425">
                    <a:solidFill>
                      <a:srgbClr val="FFFFFF"/>
                    </a:solidFill>
                  </a:tcPr>
                </a:tc>
                <a:tc>
                  <a:txBody>
                    <a:bodyPr/>
                    <a:lstStyle/>
                    <a:p>
                      <a:pPr indent="0" lvl="0" marL="0" rtl="0" algn="just">
                        <a:spcBef>
                          <a:spcPts val="0"/>
                        </a:spcBef>
                        <a:spcAft>
                          <a:spcPts val="0"/>
                        </a:spcAft>
                        <a:buNone/>
                      </a:pPr>
                      <a:r>
                        <a:rPr lang="en-GB" sz="1200"/>
                        <a:t>Dynamically adjusts AI model precision at runtime based on real-time carbon intensity and thermal state, protecting accuracy SLAs while cutting energy consumption.</a:t>
                      </a:r>
                      <a:endParaRPr sz="1200"/>
                    </a:p>
                  </a:txBody>
                  <a:tcPr marT="91425" marB="91425" marR="91425" marL="91425">
                    <a:solidFill>
                      <a:srgbClr val="FFFFFF"/>
                    </a:solidFill>
                  </a:tcPr>
                </a:tc>
              </a:tr>
              <a:tr h="315900">
                <a:tc>
                  <a:txBody>
                    <a:bodyPr/>
                    <a:lstStyle/>
                    <a:p>
                      <a:pPr indent="0" lvl="0" marL="0" rtl="0" algn="just">
                        <a:spcBef>
                          <a:spcPts val="0"/>
                        </a:spcBef>
                        <a:spcAft>
                          <a:spcPts val="0"/>
                        </a:spcAft>
                        <a:buNone/>
                      </a:pPr>
                      <a:r>
                        <a:rPr b="1" lang="en-GB" sz="1200">
                          <a:latin typeface="Times New Roman"/>
                          <a:ea typeface="Times New Roman"/>
                          <a:cs typeface="Times New Roman"/>
                          <a:sym typeface="Times New Roman"/>
                        </a:rPr>
                        <a:t>3</a:t>
                      </a:r>
                      <a:endParaRPr b="1" sz="1200">
                        <a:latin typeface="Times New Roman"/>
                        <a:ea typeface="Times New Roman"/>
                        <a:cs typeface="Times New Roman"/>
                        <a:sym typeface="Times New Roman"/>
                      </a:endParaRPr>
                    </a:p>
                  </a:txBody>
                  <a:tcPr marT="0" marB="0" marR="0" marL="95250">
                    <a:solidFill>
                      <a:srgbClr val="FAF9F8"/>
                    </a:solidFill>
                  </a:tcPr>
                </a:tc>
                <a:tc>
                  <a:txBody>
                    <a:bodyPr/>
                    <a:lstStyle/>
                    <a:p>
                      <a:pPr indent="0" lvl="0" marL="0" rtl="0" algn="just">
                        <a:spcBef>
                          <a:spcPts val="0"/>
                        </a:spcBef>
                        <a:spcAft>
                          <a:spcPts val="0"/>
                        </a:spcAft>
                        <a:buNone/>
                      </a:pPr>
                      <a:r>
                        <a:rPr lang="en-GB" sz="1200"/>
                        <a:t>Thermal-Aware Node Selection</a:t>
                      </a:r>
                      <a:endParaRPr sz="1200"/>
                    </a:p>
                  </a:txBody>
                  <a:tcPr marT="91425" marB="91425" marR="91425" marL="91425">
                    <a:solidFill>
                      <a:srgbClr val="FAF9F8"/>
                    </a:solidFill>
                  </a:tcPr>
                </a:tc>
                <a:tc>
                  <a:txBody>
                    <a:bodyPr/>
                    <a:lstStyle/>
                    <a:p>
                      <a:pPr indent="0" lvl="0" marL="0" rtl="0" algn="just">
                        <a:spcBef>
                          <a:spcPts val="0"/>
                        </a:spcBef>
                        <a:spcAft>
                          <a:spcPts val="0"/>
                        </a:spcAft>
                        <a:buNone/>
                      </a:pPr>
                      <a:r>
                        <a:rPr lang="en-GB" sz="1200"/>
                        <a:t>Incorporates live CPU temperature readings alongside carbon signals to route workloads away from thermally stressed nodes, preventing throttling during inference.</a:t>
                      </a:r>
                      <a:endParaRPr sz="1200"/>
                    </a:p>
                  </a:txBody>
                  <a:tcPr marT="91425" marB="91425" marR="91425" marL="91425">
                    <a:solidFill>
                      <a:srgbClr val="FAF9F8"/>
                    </a:solidFill>
                  </a:tcPr>
                </a:tc>
              </a:tr>
              <a:tr h="315900">
                <a:tc>
                  <a:txBody>
                    <a:bodyPr/>
                    <a:lstStyle/>
                    <a:p>
                      <a:pPr indent="0" lvl="0" marL="0" rtl="0" algn="just">
                        <a:spcBef>
                          <a:spcPts val="0"/>
                        </a:spcBef>
                        <a:spcAft>
                          <a:spcPts val="0"/>
                        </a:spcAft>
                        <a:buNone/>
                      </a:pPr>
                      <a:r>
                        <a:rPr b="1" lang="en-GB" sz="1200">
                          <a:latin typeface="Times New Roman"/>
                          <a:ea typeface="Times New Roman"/>
                          <a:cs typeface="Times New Roman"/>
                          <a:sym typeface="Times New Roman"/>
                        </a:rPr>
                        <a:t>4</a:t>
                      </a:r>
                      <a:endParaRPr b="1" sz="1200">
                        <a:latin typeface="Times New Roman"/>
                        <a:ea typeface="Times New Roman"/>
                        <a:cs typeface="Times New Roman"/>
                        <a:sym typeface="Times New Roman"/>
                      </a:endParaRPr>
                    </a:p>
                  </a:txBody>
                  <a:tcPr marT="0" marB="0" marR="0" marL="95250">
                    <a:solidFill>
                      <a:srgbClr val="FFFFFF"/>
                    </a:solidFill>
                  </a:tcPr>
                </a:tc>
                <a:tc>
                  <a:txBody>
                    <a:bodyPr/>
                    <a:lstStyle/>
                    <a:p>
                      <a:pPr indent="0" lvl="0" marL="0" rtl="0" algn="just">
                        <a:spcBef>
                          <a:spcPts val="0"/>
                        </a:spcBef>
                        <a:spcAft>
                          <a:spcPts val="0"/>
                        </a:spcAft>
                        <a:buNone/>
                      </a:pPr>
                      <a:r>
                        <a:rPr lang="en-GB" sz="1200"/>
                        <a:t>Validated on Real Edge Hardware</a:t>
                      </a:r>
                      <a:endParaRPr sz="1200"/>
                    </a:p>
                  </a:txBody>
                  <a:tcPr marT="91425" marB="91425" marR="91425" marL="91425">
                    <a:solidFill>
                      <a:srgbClr val="FFFFFF"/>
                    </a:solidFill>
                  </a:tcPr>
                </a:tc>
                <a:tc>
                  <a:txBody>
                    <a:bodyPr/>
                    <a:lstStyle/>
                    <a:p>
                      <a:pPr indent="0" lvl="0" marL="0" rtl="0" algn="just">
                        <a:spcBef>
                          <a:spcPts val="0"/>
                        </a:spcBef>
                        <a:spcAft>
                          <a:spcPts val="0"/>
                        </a:spcAft>
                        <a:buNone/>
                      </a:pPr>
                      <a:r>
                        <a:rPr lang="en-GB" sz="1200"/>
                        <a:t>All experiments conducted on a physical Raspberry Pi 5 K3s cluster — not simulation — ensuring genuine real-world applicability and full reproducibility.</a:t>
                      </a:r>
                      <a:endParaRPr sz="1200"/>
                    </a:p>
                  </a:txBody>
                  <a:tcPr marT="91425" marB="91425" marR="91425" marL="91425">
                    <a:solidFill>
                      <a:srgbClr val="FFFFFF"/>
                    </a:solidFill>
                  </a:tcPr>
                </a:tc>
              </a:tr>
            </a:tbl>
          </a:graphicData>
        </a:graphic>
      </p:graphicFrame>
      <p:sp>
        <p:nvSpPr>
          <p:cNvPr descr="$PPTXTitle" id="286" name="Google Shape;286;p22"/>
          <p:cNvSpPr txBox="1"/>
          <p:nvPr>
            <p:ph type="title"/>
          </p:nvPr>
        </p:nvSpPr>
        <p:spPr>
          <a:xfrm>
            <a:off x="1463250" y="231025"/>
            <a:ext cx="6217500" cy="320400"/>
          </a:xfrm>
          <a:prstGeom prst="rect">
            <a:avLst/>
          </a:prstGeom>
          <a:solidFill>
            <a:srgbClr val="000000">
              <a:alpha val="0"/>
            </a:srgbClr>
          </a:solidFill>
          <a:ln>
            <a:noFill/>
          </a:ln>
        </p:spPr>
        <p:txBody>
          <a:bodyPr anchorCtr="0" anchor="t" bIns="0" lIns="0" spcFirstLastPara="1" rIns="0" wrap="square" tIns="12350">
            <a:spAutoFit/>
          </a:bodyPr>
          <a:lstStyle/>
          <a:p>
            <a:pPr indent="0" lvl="0" marL="12700" marR="0" rtl="0" algn="l">
              <a:spcBef>
                <a:spcPts val="0"/>
              </a:spcBef>
              <a:spcAft>
                <a:spcPts val="0"/>
              </a:spcAft>
              <a:buNone/>
            </a:pPr>
            <a:r>
              <a:rPr b="1" lang="en-GB" sz="2000">
                <a:solidFill>
                  <a:srgbClr val="B50346"/>
                </a:solidFill>
                <a:latin typeface="Times New Roman"/>
                <a:ea typeface="Times New Roman"/>
                <a:cs typeface="Times New Roman"/>
                <a:sym typeface="Times New Roman"/>
              </a:rPr>
              <a:t>RESEARCH GAPS &amp; NOVELTY</a:t>
            </a:r>
            <a:endParaRPr b="1" sz="2000">
              <a:solidFill>
                <a:srgbClr val="B50346"/>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descr="$PPTXTitle" id="291" name="Google Shape;291;p23"/>
          <p:cNvSpPr txBox="1"/>
          <p:nvPr>
            <p:ph type="title"/>
          </p:nvPr>
        </p:nvSpPr>
        <p:spPr>
          <a:xfrm>
            <a:off x="1496625" y="321850"/>
            <a:ext cx="71712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GB" sz="2000">
                <a:solidFill>
                  <a:srgbClr val="B50346"/>
                </a:solidFill>
                <a:latin typeface="Times New Roman"/>
                <a:ea typeface="Times New Roman"/>
                <a:cs typeface="Times New Roman"/>
                <a:sym typeface="Times New Roman"/>
              </a:rPr>
              <a:t>RESEARCH OBJECTIVES</a:t>
            </a:r>
            <a:endParaRPr b="1" sz="2000">
              <a:solidFill>
                <a:srgbClr val="B50346"/>
              </a:solidFill>
              <a:latin typeface="Times New Roman"/>
              <a:ea typeface="Times New Roman"/>
              <a:cs typeface="Times New Roman"/>
              <a:sym typeface="Times New Roman"/>
            </a:endParaRPr>
          </a:p>
        </p:txBody>
      </p:sp>
      <p:grpSp>
        <p:nvGrpSpPr>
          <p:cNvPr id="292" name="Google Shape;292;p23"/>
          <p:cNvGrpSpPr/>
          <p:nvPr/>
        </p:nvGrpSpPr>
        <p:grpSpPr>
          <a:xfrm>
            <a:off x="2220220" y="1342247"/>
            <a:ext cx="4388994" cy="470841"/>
            <a:chOff x="2851900" y="1159863"/>
            <a:chExt cx="3767700" cy="396031"/>
          </a:xfrm>
        </p:grpSpPr>
        <p:grpSp>
          <p:nvGrpSpPr>
            <p:cNvPr id="293" name="Google Shape;293;p23"/>
            <p:cNvGrpSpPr/>
            <p:nvPr/>
          </p:nvGrpSpPr>
          <p:grpSpPr>
            <a:xfrm>
              <a:off x="2851900" y="1197952"/>
              <a:ext cx="3767700" cy="357942"/>
              <a:chOff x="2851900" y="1234775"/>
              <a:chExt cx="3767700" cy="409545"/>
            </a:xfrm>
          </p:grpSpPr>
          <p:sp>
            <p:nvSpPr>
              <p:cNvPr id="294" name="Google Shape;294;p23"/>
              <p:cNvSpPr/>
              <p:nvPr/>
            </p:nvSpPr>
            <p:spPr>
              <a:xfrm>
                <a:off x="2851900" y="1234775"/>
                <a:ext cx="3767700" cy="364500"/>
              </a:xfrm>
              <a:prstGeom prst="roundRect">
                <a:avLst>
                  <a:gd fmla="val 2285" name="adj"/>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95" name="Google Shape;295;p23"/>
              <p:cNvSpPr txBox="1"/>
              <p:nvPr/>
            </p:nvSpPr>
            <p:spPr>
              <a:xfrm>
                <a:off x="2949700" y="1292120"/>
                <a:ext cx="3669900" cy="3522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Clr>
                    <a:schemeClr val="dk1"/>
                  </a:buClr>
                  <a:buSzPts val="1100"/>
                  <a:buFont typeface="Arial"/>
                  <a:buNone/>
                </a:pPr>
                <a:r>
                  <a:rPr b="1" lang="en-GB" sz="1200">
                    <a:solidFill>
                      <a:srgbClr val="B50346"/>
                    </a:solidFill>
                    <a:latin typeface="Times New Roman"/>
                    <a:ea typeface="Times New Roman"/>
                    <a:cs typeface="Times New Roman"/>
                    <a:sym typeface="Times New Roman"/>
                  </a:rPr>
                  <a:t>RO1 :  Carbon Telemetry and Forecasting Pipeline</a:t>
                </a:r>
                <a:endParaRPr b="1" sz="1200">
                  <a:solidFill>
                    <a:srgbClr val="B50346"/>
                  </a:solidFill>
                  <a:latin typeface="Times New Roman"/>
                  <a:ea typeface="Times New Roman"/>
                  <a:cs typeface="Times New Roman"/>
                  <a:sym typeface="Times New Roman"/>
                </a:endParaRPr>
              </a:p>
              <a:p>
                <a:pPr indent="0" lvl="0" marL="0" rtl="0" algn="just">
                  <a:spcBef>
                    <a:spcPts val="300"/>
                  </a:spcBef>
                  <a:spcAft>
                    <a:spcPts val="0"/>
                  </a:spcAft>
                  <a:buNone/>
                </a:pPr>
                <a:r>
                  <a:t/>
                </a:r>
                <a:endParaRPr b="1" sz="1200">
                  <a:solidFill>
                    <a:srgbClr val="B50346"/>
                  </a:solidFill>
                  <a:latin typeface="Times New Roman"/>
                  <a:ea typeface="Times New Roman"/>
                  <a:cs typeface="Times New Roman"/>
                  <a:sym typeface="Times New Roman"/>
                </a:endParaRPr>
              </a:p>
              <a:p>
                <a:pPr indent="0" lvl="0" marL="0" rtl="0" algn="just">
                  <a:spcBef>
                    <a:spcPts val="300"/>
                  </a:spcBef>
                  <a:spcAft>
                    <a:spcPts val="0"/>
                  </a:spcAft>
                  <a:buNone/>
                </a:pPr>
                <a:r>
                  <a:t/>
                </a:r>
                <a:endParaRPr i="1" sz="800">
                  <a:solidFill>
                    <a:schemeClr val="dk1"/>
                  </a:solidFill>
                  <a:latin typeface="Times New Roman"/>
                  <a:ea typeface="Times New Roman"/>
                  <a:cs typeface="Times New Roman"/>
                  <a:sym typeface="Times New Roman"/>
                </a:endParaRPr>
              </a:p>
            </p:txBody>
          </p:sp>
        </p:grpSp>
        <p:sp>
          <p:nvSpPr>
            <p:cNvPr id="296" name="Google Shape;296;p23"/>
            <p:cNvSpPr/>
            <p:nvPr/>
          </p:nvSpPr>
          <p:spPr>
            <a:xfrm>
              <a:off x="2851901" y="1159863"/>
              <a:ext cx="51600" cy="396000"/>
            </a:xfrm>
            <a:prstGeom prst="roundRect">
              <a:avLst>
                <a:gd fmla="val 50000" name="adj"/>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grpSp>
      <p:grpSp>
        <p:nvGrpSpPr>
          <p:cNvPr id="297" name="Google Shape;297;p23"/>
          <p:cNvGrpSpPr/>
          <p:nvPr/>
        </p:nvGrpSpPr>
        <p:grpSpPr>
          <a:xfrm>
            <a:off x="2220220" y="1986511"/>
            <a:ext cx="4388994" cy="470804"/>
            <a:chOff x="2851900" y="1159863"/>
            <a:chExt cx="3767700" cy="396000"/>
          </a:xfrm>
        </p:grpSpPr>
        <p:grpSp>
          <p:nvGrpSpPr>
            <p:cNvPr id="298" name="Google Shape;298;p23"/>
            <p:cNvGrpSpPr/>
            <p:nvPr/>
          </p:nvGrpSpPr>
          <p:grpSpPr>
            <a:xfrm>
              <a:off x="2851900" y="1197952"/>
              <a:ext cx="3767700" cy="318573"/>
              <a:chOff x="2851900" y="1234775"/>
              <a:chExt cx="3767700" cy="364500"/>
            </a:xfrm>
          </p:grpSpPr>
          <p:sp>
            <p:nvSpPr>
              <p:cNvPr id="299" name="Google Shape;299;p23"/>
              <p:cNvSpPr/>
              <p:nvPr/>
            </p:nvSpPr>
            <p:spPr>
              <a:xfrm>
                <a:off x="2851900" y="1234775"/>
                <a:ext cx="3767700" cy="364500"/>
              </a:xfrm>
              <a:prstGeom prst="roundRect">
                <a:avLst>
                  <a:gd fmla="val 2285" name="adj"/>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00" name="Google Shape;300;p23"/>
              <p:cNvSpPr txBox="1"/>
              <p:nvPr/>
            </p:nvSpPr>
            <p:spPr>
              <a:xfrm>
                <a:off x="2949698" y="1262474"/>
                <a:ext cx="3572100" cy="2382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None/>
                </a:pPr>
                <a:r>
                  <a:rPr b="1" lang="en-GB" sz="1200">
                    <a:solidFill>
                      <a:srgbClr val="B50346"/>
                    </a:solidFill>
                    <a:latin typeface="Times New Roman"/>
                    <a:ea typeface="Times New Roman"/>
                    <a:cs typeface="Times New Roman"/>
                    <a:sym typeface="Times New Roman"/>
                  </a:rPr>
                  <a:t>RO2 : Unified Thermal-Carbon Kubernetes Scheduling Plugin</a:t>
                </a:r>
                <a:endParaRPr b="1" sz="1200">
                  <a:solidFill>
                    <a:srgbClr val="B50346"/>
                  </a:solidFill>
                  <a:latin typeface="Times New Roman"/>
                  <a:ea typeface="Times New Roman"/>
                  <a:cs typeface="Times New Roman"/>
                  <a:sym typeface="Times New Roman"/>
                </a:endParaRPr>
              </a:p>
              <a:p>
                <a:pPr indent="0" lvl="0" marL="0" rtl="0" algn="just">
                  <a:spcBef>
                    <a:spcPts val="300"/>
                  </a:spcBef>
                  <a:spcAft>
                    <a:spcPts val="0"/>
                  </a:spcAft>
                  <a:buNone/>
                </a:pPr>
                <a:r>
                  <a:t/>
                </a:r>
                <a:endParaRPr i="1" sz="800">
                  <a:solidFill>
                    <a:schemeClr val="dk1"/>
                  </a:solidFill>
                  <a:latin typeface="Times New Roman"/>
                  <a:ea typeface="Times New Roman"/>
                  <a:cs typeface="Times New Roman"/>
                  <a:sym typeface="Times New Roman"/>
                </a:endParaRPr>
              </a:p>
            </p:txBody>
          </p:sp>
        </p:grpSp>
        <p:sp>
          <p:nvSpPr>
            <p:cNvPr id="301" name="Google Shape;301;p23"/>
            <p:cNvSpPr/>
            <p:nvPr/>
          </p:nvSpPr>
          <p:spPr>
            <a:xfrm>
              <a:off x="2851901" y="1159863"/>
              <a:ext cx="51600" cy="396000"/>
            </a:xfrm>
            <a:prstGeom prst="roundRect">
              <a:avLst>
                <a:gd fmla="val 50000" name="adj"/>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grpSp>
      <p:grpSp>
        <p:nvGrpSpPr>
          <p:cNvPr id="302" name="Google Shape;302;p23"/>
          <p:cNvGrpSpPr/>
          <p:nvPr/>
        </p:nvGrpSpPr>
        <p:grpSpPr>
          <a:xfrm>
            <a:off x="2220220" y="2644231"/>
            <a:ext cx="4388994" cy="470844"/>
            <a:chOff x="2851900" y="1159863"/>
            <a:chExt cx="3767700" cy="396000"/>
          </a:xfrm>
        </p:grpSpPr>
        <p:grpSp>
          <p:nvGrpSpPr>
            <p:cNvPr id="303" name="Google Shape;303;p23"/>
            <p:cNvGrpSpPr/>
            <p:nvPr/>
          </p:nvGrpSpPr>
          <p:grpSpPr>
            <a:xfrm>
              <a:off x="2851900" y="1197952"/>
              <a:ext cx="3767700" cy="356328"/>
              <a:chOff x="2851900" y="1234775"/>
              <a:chExt cx="3767700" cy="407698"/>
            </a:xfrm>
          </p:grpSpPr>
          <p:sp>
            <p:nvSpPr>
              <p:cNvPr id="304" name="Google Shape;304;p23"/>
              <p:cNvSpPr/>
              <p:nvPr/>
            </p:nvSpPr>
            <p:spPr>
              <a:xfrm>
                <a:off x="2851900" y="1234775"/>
                <a:ext cx="3767700" cy="364500"/>
              </a:xfrm>
              <a:prstGeom prst="roundRect">
                <a:avLst>
                  <a:gd fmla="val 2285" name="adj"/>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05" name="Google Shape;305;p23"/>
              <p:cNvSpPr txBox="1"/>
              <p:nvPr/>
            </p:nvSpPr>
            <p:spPr>
              <a:xfrm>
                <a:off x="2949700" y="1324173"/>
                <a:ext cx="3669900" cy="3183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Clr>
                    <a:schemeClr val="dk1"/>
                  </a:buClr>
                  <a:buSzPts val="1100"/>
                  <a:buFont typeface="Arial"/>
                  <a:buNone/>
                </a:pPr>
                <a:r>
                  <a:rPr b="1" lang="en-GB" sz="1200">
                    <a:solidFill>
                      <a:srgbClr val="B50346"/>
                    </a:solidFill>
                    <a:latin typeface="Times New Roman"/>
                    <a:ea typeface="Times New Roman"/>
                    <a:cs typeface="Times New Roman"/>
                    <a:sym typeface="Times New Roman"/>
                  </a:rPr>
                  <a:t>RO3 : Dynamic AI Precision Scaling Controller</a:t>
                </a:r>
                <a:endParaRPr i="1" sz="800">
                  <a:solidFill>
                    <a:schemeClr val="dk1"/>
                  </a:solidFill>
                  <a:latin typeface="Times New Roman"/>
                  <a:ea typeface="Times New Roman"/>
                  <a:cs typeface="Times New Roman"/>
                  <a:sym typeface="Times New Roman"/>
                </a:endParaRPr>
              </a:p>
              <a:p>
                <a:pPr indent="0" lvl="0" marL="0" rtl="0" algn="just">
                  <a:spcBef>
                    <a:spcPts val="300"/>
                  </a:spcBef>
                  <a:spcAft>
                    <a:spcPts val="0"/>
                  </a:spcAft>
                  <a:buNone/>
                </a:pPr>
                <a:r>
                  <a:t/>
                </a:r>
                <a:endParaRPr b="1" sz="1200">
                  <a:solidFill>
                    <a:srgbClr val="B50346"/>
                  </a:solidFill>
                  <a:latin typeface="Times New Roman"/>
                  <a:ea typeface="Times New Roman"/>
                  <a:cs typeface="Times New Roman"/>
                  <a:sym typeface="Times New Roman"/>
                </a:endParaRPr>
              </a:p>
              <a:p>
                <a:pPr indent="0" lvl="0" marL="0" rtl="0" algn="just">
                  <a:spcBef>
                    <a:spcPts val="300"/>
                  </a:spcBef>
                  <a:spcAft>
                    <a:spcPts val="0"/>
                  </a:spcAft>
                  <a:buNone/>
                </a:pPr>
                <a:r>
                  <a:t/>
                </a:r>
                <a:endParaRPr i="1" sz="800">
                  <a:solidFill>
                    <a:schemeClr val="dk1"/>
                  </a:solidFill>
                  <a:latin typeface="Times New Roman"/>
                  <a:ea typeface="Times New Roman"/>
                  <a:cs typeface="Times New Roman"/>
                  <a:sym typeface="Times New Roman"/>
                </a:endParaRPr>
              </a:p>
            </p:txBody>
          </p:sp>
        </p:grpSp>
        <p:sp>
          <p:nvSpPr>
            <p:cNvPr id="306" name="Google Shape;306;p23"/>
            <p:cNvSpPr/>
            <p:nvPr/>
          </p:nvSpPr>
          <p:spPr>
            <a:xfrm>
              <a:off x="2851901" y="1159863"/>
              <a:ext cx="51600" cy="396000"/>
            </a:xfrm>
            <a:prstGeom prst="roundRect">
              <a:avLst>
                <a:gd fmla="val 50000" name="adj"/>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grpSp>
      <p:grpSp>
        <p:nvGrpSpPr>
          <p:cNvPr id="307" name="Google Shape;307;p23"/>
          <p:cNvGrpSpPr/>
          <p:nvPr/>
        </p:nvGrpSpPr>
        <p:grpSpPr>
          <a:xfrm>
            <a:off x="2220226" y="3350350"/>
            <a:ext cx="4388994" cy="396000"/>
            <a:chOff x="2851900" y="1159863"/>
            <a:chExt cx="3767700" cy="396000"/>
          </a:xfrm>
        </p:grpSpPr>
        <p:grpSp>
          <p:nvGrpSpPr>
            <p:cNvPr id="308" name="Google Shape;308;p23"/>
            <p:cNvGrpSpPr/>
            <p:nvPr/>
          </p:nvGrpSpPr>
          <p:grpSpPr>
            <a:xfrm>
              <a:off x="2851900" y="1197952"/>
              <a:ext cx="3767700" cy="318573"/>
              <a:chOff x="2851900" y="1234775"/>
              <a:chExt cx="3767700" cy="364500"/>
            </a:xfrm>
          </p:grpSpPr>
          <p:sp>
            <p:nvSpPr>
              <p:cNvPr id="309" name="Google Shape;309;p23"/>
              <p:cNvSpPr/>
              <p:nvPr/>
            </p:nvSpPr>
            <p:spPr>
              <a:xfrm>
                <a:off x="2851900" y="1234775"/>
                <a:ext cx="3767700" cy="364500"/>
              </a:xfrm>
              <a:prstGeom prst="roundRect">
                <a:avLst>
                  <a:gd fmla="val 2285" name="adj"/>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10" name="Google Shape;310;p23"/>
              <p:cNvSpPr txBox="1"/>
              <p:nvPr/>
            </p:nvSpPr>
            <p:spPr>
              <a:xfrm>
                <a:off x="2949700" y="1246981"/>
                <a:ext cx="3572100" cy="3522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Clr>
                    <a:schemeClr val="dk1"/>
                  </a:buClr>
                  <a:buSzPts val="1100"/>
                  <a:buFont typeface="Arial"/>
                  <a:buNone/>
                </a:pPr>
                <a:r>
                  <a:rPr b="1" lang="en-GB" sz="1200">
                    <a:solidFill>
                      <a:srgbClr val="B50346"/>
                    </a:solidFill>
                    <a:latin typeface="Times New Roman"/>
                    <a:ea typeface="Times New Roman"/>
                    <a:cs typeface="Times New Roman"/>
                    <a:sym typeface="Times New Roman"/>
                  </a:rPr>
                  <a:t> </a:t>
                </a:r>
                <a:r>
                  <a:rPr b="1" lang="en-GB" sz="1200">
                    <a:solidFill>
                      <a:srgbClr val="B50346"/>
                    </a:solidFill>
                    <a:latin typeface="Times New Roman"/>
                    <a:ea typeface="Times New Roman"/>
                    <a:cs typeface="Times New Roman"/>
                    <a:sym typeface="Times New Roman"/>
                  </a:rPr>
                  <a:t>RO4 : Physical Testbed Validation</a:t>
                </a:r>
                <a:endParaRPr i="1" sz="800">
                  <a:solidFill>
                    <a:schemeClr val="dk1"/>
                  </a:solidFill>
                  <a:latin typeface="Times New Roman"/>
                  <a:ea typeface="Times New Roman"/>
                  <a:cs typeface="Times New Roman"/>
                  <a:sym typeface="Times New Roman"/>
                </a:endParaRPr>
              </a:p>
              <a:p>
                <a:pPr indent="0" lvl="0" marL="0" rtl="0" algn="just">
                  <a:spcBef>
                    <a:spcPts val="300"/>
                  </a:spcBef>
                  <a:spcAft>
                    <a:spcPts val="0"/>
                  </a:spcAft>
                  <a:buNone/>
                </a:pPr>
                <a:r>
                  <a:t/>
                </a:r>
                <a:endParaRPr b="1" sz="1200">
                  <a:solidFill>
                    <a:srgbClr val="B50346"/>
                  </a:solidFill>
                  <a:latin typeface="Times New Roman"/>
                  <a:ea typeface="Times New Roman"/>
                  <a:cs typeface="Times New Roman"/>
                  <a:sym typeface="Times New Roman"/>
                </a:endParaRPr>
              </a:p>
              <a:p>
                <a:pPr indent="0" lvl="0" marL="0" rtl="0" algn="just">
                  <a:spcBef>
                    <a:spcPts val="300"/>
                  </a:spcBef>
                  <a:spcAft>
                    <a:spcPts val="0"/>
                  </a:spcAft>
                  <a:buNone/>
                </a:pPr>
                <a:r>
                  <a:t/>
                </a:r>
                <a:endParaRPr i="1" sz="800">
                  <a:solidFill>
                    <a:schemeClr val="dk1"/>
                  </a:solidFill>
                  <a:latin typeface="Times New Roman"/>
                  <a:ea typeface="Times New Roman"/>
                  <a:cs typeface="Times New Roman"/>
                  <a:sym typeface="Times New Roman"/>
                </a:endParaRPr>
              </a:p>
            </p:txBody>
          </p:sp>
        </p:grpSp>
        <p:sp>
          <p:nvSpPr>
            <p:cNvPr id="311" name="Google Shape;311;p23"/>
            <p:cNvSpPr/>
            <p:nvPr/>
          </p:nvSpPr>
          <p:spPr>
            <a:xfrm>
              <a:off x="2851901" y="1159863"/>
              <a:ext cx="51600" cy="396000"/>
            </a:xfrm>
            <a:prstGeom prst="roundRect">
              <a:avLst>
                <a:gd fmla="val 50000" name="adj"/>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grpSp>
        <p:nvGrpSpPr>
          <p:cNvPr id="316" name="Google Shape;316;p24"/>
          <p:cNvGrpSpPr/>
          <p:nvPr/>
        </p:nvGrpSpPr>
        <p:grpSpPr>
          <a:xfrm>
            <a:off x="501894" y="1111999"/>
            <a:ext cx="2690965" cy="3716298"/>
            <a:chOff x="571500" y="1333500"/>
            <a:chExt cx="2476500" cy="3333900"/>
          </a:xfrm>
        </p:grpSpPr>
        <p:sp>
          <p:nvSpPr>
            <p:cNvPr id="317" name="Google Shape;317;p24"/>
            <p:cNvSpPr/>
            <p:nvPr/>
          </p:nvSpPr>
          <p:spPr>
            <a:xfrm>
              <a:off x="571500" y="1333500"/>
              <a:ext cx="2476500" cy="381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4"/>
            <p:cNvSpPr/>
            <p:nvPr/>
          </p:nvSpPr>
          <p:spPr>
            <a:xfrm>
              <a:off x="571500" y="1371600"/>
              <a:ext cx="2476500" cy="3295800"/>
            </a:xfrm>
            <a:prstGeom prst="rect">
              <a:avLst/>
            </a:prstGeom>
            <a:solidFill>
              <a:srgbClr val="F9F9FB"/>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4"/>
            <p:cNvSpPr txBox="1"/>
            <p:nvPr/>
          </p:nvSpPr>
          <p:spPr>
            <a:xfrm>
              <a:off x="623532" y="1416303"/>
              <a:ext cx="2347800" cy="310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200">
                  <a:solidFill>
                    <a:srgbClr val="800020"/>
                  </a:solidFill>
                  <a:latin typeface="Georgia"/>
                  <a:ea typeface="Georgia"/>
                  <a:cs typeface="Georgia"/>
                  <a:sym typeface="Georgia"/>
                </a:rPr>
                <a:t>DATASETS &amp; LIVE API FEEDS</a:t>
              </a:r>
              <a:endParaRPr b="1" sz="1200">
                <a:solidFill>
                  <a:srgbClr val="800020"/>
                </a:solidFill>
                <a:latin typeface="Georgia"/>
                <a:ea typeface="Georgia"/>
                <a:cs typeface="Georgia"/>
                <a:sym typeface="Georgia"/>
              </a:endParaRPr>
            </a:p>
            <a:p>
              <a:pPr indent="0" lvl="0" marL="0" rtl="0" algn="l">
                <a:spcBef>
                  <a:spcPts val="1200"/>
                </a:spcBef>
                <a:spcAft>
                  <a:spcPts val="0"/>
                </a:spcAft>
                <a:buNone/>
              </a:pPr>
              <a:r>
                <a:rPr b="1" lang="en-GB" sz="1000">
                  <a:solidFill>
                    <a:srgbClr val="B50346"/>
                  </a:solidFill>
                  <a:latin typeface="Arial"/>
                  <a:ea typeface="Arial"/>
                  <a:cs typeface="Arial"/>
                  <a:sym typeface="Arial"/>
                </a:rPr>
                <a:t>OWID &amp; Ember Energy: </a:t>
              </a:r>
              <a:endParaRPr b="1" sz="1000">
                <a:solidFill>
                  <a:srgbClr val="B50346"/>
                </a:solidFill>
                <a:latin typeface="Arial"/>
                <a:ea typeface="Arial"/>
                <a:cs typeface="Arial"/>
                <a:sym typeface="Arial"/>
              </a:endParaRPr>
            </a:p>
            <a:p>
              <a:pPr indent="-129150" lvl="0" marL="302400" rtl="0" algn="l">
                <a:spcBef>
                  <a:spcPts val="900"/>
                </a:spcBef>
                <a:spcAft>
                  <a:spcPts val="0"/>
                </a:spcAft>
                <a:buClr>
                  <a:srgbClr val="333333"/>
                </a:buClr>
                <a:buSzPts val="900"/>
                <a:buChar char="●"/>
              </a:pPr>
              <a:r>
                <a:rPr lang="en-GB" sz="900">
                  <a:solidFill>
                    <a:srgbClr val="333333"/>
                  </a:solidFill>
                </a:rPr>
                <a:t>Source: </a:t>
              </a:r>
              <a:r>
                <a:rPr b="1" lang="en-GB" sz="900" u="sng">
                  <a:solidFill>
                    <a:schemeClr val="hlink"/>
                  </a:solidFill>
                  <a:hlinkClick r:id="rId3"/>
                </a:rPr>
                <a:t>https://ember-energy.org/data/yearly-electricity-data/</a:t>
              </a:r>
              <a:endParaRPr b="1" sz="900">
                <a:solidFill>
                  <a:srgbClr val="333333"/>
                </a:solidFill>
              </a:endParaRPr>
            </a:p>
            <a:p>
              <a:pPr indent="-129150" lvl="0" marL="302400" rtl="0" algn="l">
                <a:spcBef>
                  <a:spcPts val="0"/>
                </a:spcBef>
                <a:spcAft>
                  <a:spcPts val="0"/>
                </a:spcAft>
                <a:buClr>
                  <a:srgbClr val="333333"/>
                </a:buClr>
                <a:buSzPts val="900"/>
                <a:buChar char="●"/>
              </a:pPr>
              <a:r>
                <a:rPr lang="en-GB" sz="900">
                  <a:solidFill>
                    <a:srgbClr val="333333"/>
                  </a:solidFill>
                </a:rPr>
                <a:t>Size: </a:t>
              </a:r>
              <a:r>
                <a:rPr b="1" lang="en-GB" sz="900">
                  <a:solidFill>
                    <a:srgbClr val="333333"/>
                  </a:solidFill>
                </a:rPr>
                <a:t>&gt;50,400</a:t>
              </a:r>
              <a:r>
                <a:rPr lang="en-GB" sz="900">
                  <a:solidFill>
                    <a:srgbClr val="333333"/>
                  </a:solidFill>
                </a:rPr>
                <a:t> samples across 79 features </a:t>
              </a:r>
              <a:endParaRPr sz="900">
                <a:solidFill>
                  <a:srgbClr val="333333"/>
                </a:solidFill>
              </a:endParaRPr>
            </a:p>
            <a:p>
              <a:pPr indent="-129150" lvl="0" marL="302400" rtl="0" algn="l">
                <a:spcBef>
                  <a:spcPts val="0"/>
                </a:spcBef>
                <a:spcAft>
                  <a:spcPts val="0"/>
                </a:spcAft>
                <a:buClr>
                  <a:srgbClr val="333333"/>
                </a:buClr>
                <a:buSzPts val="900"/>
                <a:buChar char="●"/>
              </a:pPr>
              <a:r>
                <a:rPr lang="en-GB" sz="900">
                  <a:solidFill>
                    <a:srgbClr val="333333"/>
                  </a:solidFill>
                </a:rPr>
                <a:t>Usage: Training corpus for the </a:t>
              </a:r>
              <a:r>
                <a:rPr b="1" lang="en-GB" sz="900">
                  <a:solidFill>
                    <a:srgbClr val="333333"/>
                  </a:solidFill>
                </a:rPr>
                <a:t>LSTM carbon forecasting model </a:t>
              </a:r>
              <a:r>
                <a:rPr lang="en-GB" sz="900">
                  <a:solidFill>
                    <a:srgbClr val="333333"/>
                  </a:solidFill>
                </a:rPr>
                <a:t>after MinMax normalization and 24h sliding window preprocessing.</a:t>
              </a:r>
              <a:r>
                <a:rPr lang="en-GB" sz="900">
                  <a:solidFill>
                    <a:srgbClr val="333333"/>
                  </a:solidFill>
                  <a:latin typeface="Arial"/>
                  <a:ea typeface="Arial"/>
                  <a:cs typeface="Arial"/>
                  <a:sym typeface="Arial"/>
                </a:rPr>
                <a:t> </a:t>
              </a:r>
              <a:endParaRPr sz="900">
                <a:solidFill>
                  <a:srgbClr val="333333"/>
                </a:solidFill>
              </a:endParaRPr>
            </a:p>
            <a:p>
              <a:pPr indent="0" lvl="0" marL="0" rtl="0" algn="l">
                <a:spcBef>
                  <a:spcPts val="900"/>
                </a:spcBef>
                <a:spcAft>
                  <a:spcPts val="0"/>
                </a:spcAft>
                <a:buNone/>
              </a:pPr>
              <a:r>
                <a:rPr b="1" lang="en-GB" sz="1000">
                  <a:solidFill>
                    <a:srgbClr val="B50346"/>
                  </a:solidFill>
                  <a:latin typeface="Arial"/>
                  <a:ea typeface="Arial"/>
                  <a:cs typeface="Arial"/>
                  <a:sym typeface="Arial"/>
                </a:rPr>
                <a:t>Electricity Maps API:</a:t>
              </a:r>
              <a:r>
                <a:rPr lang="en-GB" sz="1000">
                  <a:solidFill>
                    <a:srgbClr val="333333"/>
                  </a:solidFill>
                  <a:latin typeface="Arial"/>
                  <a:ea typeface="Arial"/>
                  <a:cs typeface="Arial"/>
                  <a:sym typeface="Arial"/>
                </a:rPr>
                <a:t> </a:t>
              </a:r>
              <a:endParaRPr sz="900">
                <a:solidFill>
                  <a:srgbClr val="333333"/>
                </a:solidFill>
              </a:endParaRPr>
            </a:p>
            <a:p>
              <a:pPr indent="-129150" lvl="0" marL="302400" rtl="0" algn="l">
                <a:spcBef>
                  <a:spcPts val="900"/>
                </a:spcBef>
                <a:spcAft>
                  <a:spcPts val="0"/>
                </a:spcAft>
                <a:buClr>
                  <a:srgbClr val="333333"/>
                </a:buClr>
                <a:buSzPts val="900"/>
                <a:buChar char="●"/>
              </a:pPr>
              <a:r>
                <a:rPr lang="en-GB" sz="900">
                  <a:solidFill>
                    <a:srgbClr val="333333"/>
                  </a:solidFill>
                </a:rPr>
                <a:t>Source: </a:t>
              </a:r>
              <a:r>
                <a:rPr b="1" lang="en-GB" sz="900" u="sng">
                  <a:solidFill>
                    <a:schemeClr val="hlink"/>
                  </a:solidFill>
                  <a:hlinkClick r:id="rId4"/>
                </a:rPr>
                <a:t>https://app.electricitymaps.com/api/docs/quick-start#introduction</a:t>
              </a:r>
              <a:endParaRPr b="1" sz="900">
                <a:solidFill>
                  <a:srgbClr val="333333"/>
                </a:solidFill>
              </a:endParaRPr>
            </a:p>
            <a:p>
              <a:pPr indent="-129150" lvl="0" marL="302400" rtl="0" algn="l">
                <a:spcBef>
                  <a:spcPts val="0"/>
                </a:spcBef>
                <a:spcAft>
                  <a:spcPts val="0"/>
                </a:spcAft>
                <a:buClr>
                  <a:srgbClr val="333333"/>
                </a:buClr>
                <a:buSzPts val="900"/>
                <a:buChar char="●"/>
              </a:pPr>
              <a:r>
                <a:rPr lang="en-GB" sz="900">
                  <a:solidFill>
                    <a:srgbClr val="333333"/>
                  </a:solidFill>
                </a:rPr>
                <a:t>Data: </a:t>
              </a:r>
              <a:r>
                <a:rPr b="1" lang="en-GB" sz="900">
                  <a:solidFill>
                    <a:srgbClr val="333333"/>
                  </a:solidFill>
                </a:rPr>
                <a:t>Real-time regional carbon intensity</a:t>
              </a:r>
              <a:r>
                <a:rPr lang="en-GB" sz="900">
                  <a:solidFill>
                    <a:srgbClr val="333333"/>
                  </a:solidFill>
                </a:rPr>
                <a:t> (gCO2/kWh) and 24-hour forecast feed </a:t>
              </a:r>
              <a:endParaRPr sz="900">
                <a:solidFill>
                  <a:srgbClr val="333333"/>
                </a:solidFill>
              </a:endParaRPr>
            </a:p>
            <a:p>
              <a:pPr indent="-129150" lvl="0" marL="302400" rtl="0" algn="l">
                <a:spcBef>
                  <a:spcPts val="0"/>
                </a:spcBef>
                <a:spcAft>
                  <a:spcPts val="0"/>
                </a:spcAft>
                <a:buClr>
                  <a:srgbClr val="333333"/>
                </a:buClr>
                <a:buSzPts val="900"/>
                <a:buChar char="●"/>
              </a:pPr>
              <a:r>
                <a:rPr lang="en-GB" sz="900">
                  <a:solidFill>
                    <a:srgbClr val="333333"/>
                  </a:solidFill>
                </a:rPr>
                <a:t>Usage: </a:t>
              </a:r>
              <a:r>
                <a:rPr b="1" lang="en-GB" sz="900">
                  <a:solidFill>
                    <a:srgbClr val="333333"/>
                  </a:solidFill>
                </a:rPr>
                <a:t>Runtime scheduler input + LSTM validation feed</a:t>
              </a:r>
              <a:r>
                <a:rPr lang="en-GB" sz="900">
                  <a:solidFill>
                    <a:srgbClr val="333333"/>
                  </a:solidFill>
                </a:rPr>
                <a:t> for live MAPE computation</a:t>
              </a:r>
              <a:endParaRPr sz="900">
                <a:solidFill>
                  <a:srgbClr val="333333"/>
                </a:solidFill>
                <a:latin typeface="Arial"/>
                <a:ea typeface="Arial"/>
                <a:cs typeface="Arial"/>
                <a:sym typeface="Arial"/>
              </a:endParaRPr>
            </a:p>
            <a:p>
              <a:pPr indent="0" lvl="0" marL="0" rtl="0" algn="l">
                <a:spcBef>
                  <a:spcPts val="900"/>
                </a:spcBef>
                <a:spcAft>
                  <a:spcPts val="0"/>
                </a:spcAft>
                <a:buNone/>
              </a:pPr>
              <a:r>
                <a:t/>
              </a:r>
              <a:endParaRPr b="1" sz="1100">
                <a:solidFill>
                  <a:srgbClr val="333333"/>
                </a:solidFill>
              </a:endParaRPr>
            </a:p>
          </p:txBody>
        </p:sp>
      </p:grpSp>
      <p:grpSp>
        <p:nvGrpSpPr>
          <p:cNvPr id="320" name="Google Shape;320;p24"/>
          <p:cNvGrpSpPr/>
          <p:nvPr/>
        </p:nvGrpSpPr>
        <p:grpSpPr>
          <a:xfrm>
            <a:off x="6394813" y="1111999"/>
            <a:ext cx="2560949" cy="3716298"/>
            <a:chOff x="571500" y="1333500"/>
            <a:chExt cx="2476500" cy="3333900"/>
          </a:xfrm>
        </p:grpSpPr>
        <p:sp>
          <p:nvSpPr>
            <p:cNvPr id="321" name="Google Shape;321;p24"/>
            <p:cNvSpPr/>
            <p:nvPr/>
          </p:nvSpPr>
          <p:spPr>
            <a:xfrm>
              <a:off x="571500" y="1333500"/>
              <a:ext cx="2476500" cy="381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24"/>
            <p:cNvSpPr/>
            <p:nvPr/>
          </p:nvSpPr>
          <p:spPr>
            <a:xfrm>
              <a:off x="571500" y="1371600"/>
              <a:ext cx="2476500" cy="3295800"/>
            </a:xfrm>
            <a:prstGeom prst="rect">
              <a:avLst/>
            </a:prstGeom>
            <a:solidFill>
              <a:srgbClr val="F9F9FB"/>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3" name="Google Shape;323;p24"/>
            <p:cNvSpPr txBox="1"/>
            <p:nvPr/>
          </p:nvSpPr>
          <p:spPr>
            <a:xfrm>
              <a:off x="610310" y="1416326"/>
              <a:ext cx="2347800" cy="3029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200">
                  <a:solidFill>
                    <a:srgbClr val="800020"/>
                  </a:solidFill>
                  <a:latin typeface="Georgia"/>
                  <a:ea typeface="Georgia"/>
                  <a:cs typeface="Georgia"/>
                  <a:sym typeface="Georgia"/>
                </a:rPr>
                <a:t>HARDWARE</a:t>
              </a:r>
              <a:endParaRPr b="1" sz="1200">
                <a:solidFill>
                  <a:srgbClr val="800020"/>
                </a:solidFill>
                <a:latin typeface="Georgia"/>
                <a:ea typeface="Georgia"/>
                <a:cs typeface="Georgia"/>
                <a:sym typeface="Georgia"/>
              </a:endParaRPr>
            </a:p>
            <a:p>
              <a:pPr indent="0" lvl="0" marL="0" rtl="0" algn="l">
                <a:spcBef>
                  <a:spcPts val="1200"/>
                </a:spcBef>
                <a:spcAft>
                  <a:spcPts val="0"/>
                </a:spcAft>
                <a:buNone/>
              </a:pPr>
              <a:r>
                <a:rPr b="1" lang="en-GB" sz="1000">
                  <a:solidFill>
                    <a:srgbClr val="B50346"/>
                  </a:solidFill>
                  <a:latin typeface="Arial"/>
                  <a:ea typeface="Arial"/>
                  <a:cs typeface="Arial"/>
                  <a:sym typeface="Arial"/>
                </a:rPr>
                <a:t>Physical K3s Edge Cluster (Raspberry Pi)</a:t>
              </a:r>
              <a:endParaRPr b="1" sz="1000">
                <a:solidFill>
                  <a:srgbClr val="B50346"/>
                </a:solidFill>
                <a:latin typeface="Arial"/>
                <a:ea typeface="Arial"/>
                <a:cs typeface="Arial"/>
                <a:sym typeface="Arial"/>
              </a:endParaRPr>
            </a:p>
            <a:p>
              <a:pPr indent="-285750" lvl="0" marL="457200" rtl="0" algn="l">
                <a:spcBef>
                  <a:spcPts val="900"/>
                </a:spcBef>
                <a:spcAft>
                  <a:spcPts val="0"/>
                </a:spcAft>
                <a:buClr>
                  <a:srgbClr val="333333"/>
                </a:buClr>
                <a:buSzPts val="900"/>
                <a:buChar char="●"/>
              </a:pPr>
              <a:r>
                <a:rPr lang="en-GB" sz="900">
                  <a:solidFill>
                    <a:srgbClr val="333333"/>
                  </a:solidFill>
                </a:rPr>
                <a:t>All nodes run </a:t>
              </a:r>
              <a:r>
                <a:rPr b="1" lang="en-GB" sz="900">
                  <a:solidFill>
                    <a:srgbClr val="333333"/>
                  </a:solidFill>
                </a:rPr>
                <a:t>Raspberry Pi OS Lite (64-bit) </a:t>
              </a:r>
              <a:endParaRPr b="1" sz="900">
                <a:solidFill>
                  <a:srgbClr val="333333"/>
                </a:solidFill>
              </a:endParaRPr>
            </a:p>
            <a:p>
              <a:pPr indent="-285750" lvl="0" marL="457200" rtl="0" algn="l">
                <a:spcBef>
                  <a:spcPts val="0"/>
                </a:spcBef>
                <a:spcAft>
                  <a:spcPts val="0"/>
                </a:spcAft>
                <a:buClr>
                  <a:srgbClr val="333333"/>
                </a:buClr>
                <a:buSzPts val="900"/>
                <a:buChar char="●"/>
              </a:pPr>
              <a:r>
                <a:rPr lang="en-GB" sz="900">
                  <a:solidFill>
                    <a:srgbClr val="333333"/>
                  </a:solidFill>
                </a:rPr>
                <a:t>Thermal sensors: onboard SoC temperature sensors + </a:t>
              </a:r>
              <a:r>
                <a:rPr b="1" lang="en-GB" sz="900">
                  <a:solidFill>
                    <a:srgbClr val="333333"/>
                  </a:solidFill>
                </a:rPr>
                <a:t>vcgencmd </a:t>
              </a:r>
              <a:r>
                <a:rPr lang="en-GB" sz="900">
                  <a:solidFill>
                    <a:srgbClr val="333333"/>
                  </a:solidFill>
                </a:rPr>
                <a:t>interface </a:t>
              </a:r>
              <a:endParaRPr b="1" sz="900">
                <a:solidFill>
                  <a:srgbClr val="333333"/>
                </a:solidFill>
              </a:endParaRPr>
            </a:p>
          </p:txBody>
        </p:sp>
      </p:grpSp>
      <p:grpSp>
        <p:nvGrpSpPr>
          <p:cNvPr id="324" name="Google Shape;324;p24"/>
          <p:cNvGrpSpPr/>
          <p:nvPr/>
        </p:nvGrpSpPr>
        <p:grpSpPr>
          <a:xfrm>
            <a:off x="3278033" y="1111999"/>
            <a:ext cx="2966352" cy="3716298"/>
            <a:chOff x="571500" y="1333500"/>
            <a:chExt cx="2476500" cy="3333900"/>
          </a:xfrm>
        </p:grpSpPr>
        <p:sp>
          <p:nvSpPr>
            <p:cNvPr id="325" name="Google Shape;325;p24"/>
            <p:cNvSpPr/>
            <p:nvPr/>
          </p:nvSpPr>
          <p:spPr>
            <a:xfrm>
              <a:off x="571500" y="1333500"/>
              <a:ext cx="2476500" cy="38100"/>
            </a:xfrm>
            <a:prstGeom prst="rect">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24"/>
            <p:cNvSpPr/>
            <p:nvPr/>
          </p:nvSpPr>
          <p:spPr>
            <a:xfrm>
              <a:off x="571500" y="1371600"/>
              <a:ext cx="2476500" cy="3295800"/>
            </a:xfrm>
            <a:prstGeom prst="rect">
              <a:avLst/>
            </a:prstGeom>
            <a:solidFill>
              <a:srgbClr val="F9F9FB"/>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7" name="Google Shape;327;p24"/>
            <p:cNvSpPr txBox="1"/>
            <p:nvPr/>
          </p:nvSpPr>
          <p:spPr>
            <a:xfrm>
              <a:off x="623538" y="1435972"/>
              <a:ext cx="2347800" cy="308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200">
                  <a:solidFill>
                    <a:srgbClr val="800020"/>
                  </a:solidFill>
                  <a:latin typeface="Georgia"/>
                  <a:ea typeface="Georgia"/>
                  <a:cs typeface="Georgia"/>
                  <a:sym typeface="Georgia"/>
                </a:rPr>
                <a:t>TECH STACK</a:t>
              </a:r>
              <a:endParaRPr b="1" sz="1200">
                <a:solidFill>
                  <a:srgbClr val="800020"/>
                </a:solidFill>
                <a:latin typeface="Georgia"/>
                <a:ea typeface="Georgia"/>
                <a:cs typeface="Georgia"/>
                <a:sym typeface="Georgia"/>
              </a:endParaRPr>
            </a:p>
            <a:p>
              <a:pPr indent="0" lvl="0" marL="0" rtl="0" algn="l">
                <a:spcBef>
                  <a:spcPts val="1200"/>
                </a:spcBef>
                <a:spcAft>
                  <a:spcPts val="0"/>
                </a:spcAft>
                <a:buNone/>
              </a:pPr>
              <a:r>
                <a:rPr b="1" lang="en-GB" sz="1000">
                  <a:solidFill>
                    <a:srgbClr val="B50346"/>
                  </a:solidFill>
                  <a:latin typeface="Arial"/>
                  <a:ea typeface="Arial"/>
                  <a:cs typeface="Arial"/>
                  <a:sym typeface="Arial"/>
                </a:rPr>
                <a:t>· </a:t>
              </a:r>
              <a:r>
                <a:rPr b="1" lang="en-GB" sz="1000">
                  <a:solidFill>
                    <a:srgbClr val="B50346"/>
                  </a:solidFill>
                  <a:latin typeface="Arial"/>
                  <a:ea typeface="Arial"/>
                  <a:cs typeface="Arial"/>
                  <a:sym typeface="Arial"/>
                </a:rPr>
                <a:t>Orchestration: </a:t>
              </a:r>
              <a:r>
                <a:rPr b="1" lang="en-GB" sz="1000">
                  <a:solidFill>
                    <a:schemeClr val="dk1"/>
                  </a:solidFill>
                  <a:latin typeface="Arial"/>
                  <a:ea typeface="Arial"/>
                  <a:cs typeface="Arial"/>
                  <a:sym typeface="Arial"/>
                </a:rPr>
                <a:t>K3s </a:t>
              </a:r>
              <a:endParaRPr b="1" sz="1000">
                <a:solidFill>
                  <a:schemeClr val="dk1"/>
                </a:solidFill>
                <a:latin typeface="Arial"/>
                <a:ea typeface="Arial"/>
                <a:cs typeface="Arial"/>
                <a:sym typeface="Arial"/>
              </a:endParaRPr>
            </a:p>
            <a:p>
              <a:pPr indent="0" lvl="0" marL="0" rtl="0" algn="l">
                <a:spcBef>
                  <a:spcPts val="900"/>
                </a:spcBef>
                <a:spcAft>
                  <a:spcPts val="0"/>
                </a:spcAft>
                <a:buNone/>
              </a:pPr>
              <a:r>
                <a:rPr b="1" lang="en-GB" sz="1000">
                  <a:solidFill>
                    <a:srgbClr val="B50346"/>
                  </a:solidFill>
                  <a:latin typeface="Arial"/>
                  <a:ea typeface="Arial"/>
                  <a:cs typeface="Arial"/>
                  <a:sym typeface="Arial"/>
                </a:rPr>
                <a:t>· Scheduling: </a:t>
              </a:r>
              <a:r>
                <a:rPr b="1" lang="en-GB" sz="1000">
                  <a:solidFill>
                    <a:schemeClr val="dk1"/>
                  </a:solidFill>
                  <a:latin typeface="Arial"/>
                  <a:ea typeface="Arial"/>
                  <a:cs typeface="Arial"/>
                  <a:sym typeface="Arial"/>
                </a:rPr>
                <a:t>Go (Backend)</a:t>
              </a:r>
              <a:endParaRPr b="1" sz="1000">
                <a:solidFill>
                  <a:schemeClr val="dk1"/>
                </a:solidFill>
                <a:latin typeface="Arial"/>
                <a:ea typeface="Arial"/>
                <a:cs typeface="Arial"/>
                <a:sym typeface="Arial"/>
              </a:endParaRPr>
            </a:p>
            <a:p>
              <a:pPr indent="0" lvl="0" marL="0" rtl="0" algn="l">
                <a:spcBef>
                  <a:spcPts val="900"/>
                </a:spcBef>
                <a:spcAft>
                  <a:spcPts val="0"/>
                </a:spcAft>
                <a:buNone/>
              </a:pPr>
              <a:r>
                <a:rPr b="1" lang="en-GB" sz="1000">
                  <a:solidFill>
                    <a:srgbClr val="B50346"/>
                  </a:solidFill>
                  <a:latin typeface="Arial"/>
                  <a:ea typeface="Arial"/>
                  <a:cs typeface="Arial"/>
                  <a:sym typeface="Arial"/>
                </a:rPr>
                <a:t>· Telemetry: </a:t>
              </a:r>
              <a:r>
                <a:rPr b="1" lang="en-GB" sz="1000">
                  <a:solidFill>
                    <a:schemeClr val="dk1"/>
                  </a:solidFill>
                  <a:latin typeface="Arial"/>
                  <a:ea typeface="Arial"/>
                  <a:cs typeface="Arial"/>
                  <a:sym typeface="Arial"/>
                </a:rPr>
                <a:t>Kepler eBPF </a:t>
              </a:r>
              <a:endParaRPr b="1" sz="1000">
                <a:solidFill>
                  <a:schemeClr val="dk1"/>
                </a:solidFill>
                <a:latin typeface="Arial"/>
                <a:ea typeface="Arial"/>
                <a:cs typeface="Arial"/>
                <a:sym typeface="Arial"/>
              </a:endParaRPr>
            </a:p>
            <a:p>
              <a:pPr indent="0" lvl="0" marL="0" rtl="0" algn="l">
                <a:spcBef>
                  <a:spcPts val="900"/>
                </a:spcBef>
                <a:spcAft>
                  <a:spcPts val="0"/>
                </a:spcAft>
                <a:buNone/>
              </a:pPr>
              <a:r>
                <a:rPr b="1" lang="en-GB" sz="1000">
                  <a:solidFill>
                    <a:srgbClr val="B50346"/>
                  </a:solidFill>
                  <a:latin typeface="Arial"/>
                  <a:ea typeface="Arial"/>
                  <a:cs typeface="Arial"/>
                  <a:sym typeface="Arial"/>
                </a:rPr>
                <a:t>· Monitoring: </a:t>
              </a:r>
              <a:r>
                <a:rPr b="1" lang="en-GB" sz="1000">
                  <a:solidFill>
                    <a:schemeClr val="dk1"/>
                  </a:solidFill>
                  <a:latin typeface="Arial"/>
                  <a:ea typeface="Arial"/>
                  <a:cs typeface="Arial"/>
                  <a:sym typeface="Arial"/>
                </a:rPr>
                <a:t>Prometheus + Grafana </a:t>
              </a:r>
              <a:endParaRPr b="1" sz="1000">
                <a:solidFill>
                  <a:schemeClr val="dk1"/>
                </a:solidFill>
                <a:latin typeface="Arial"/>
                <a:ea typeface="Arial"/>
                <a:cs typeface="Arial"/>
                <a:sym typeface="Arial"/>
              </a:endParaRPr>
            </a:p>
            <a:p>
              <a:pPr indent="0" lvl="0" marL="0" rtl="0" algn="l">
                <a:spcBef>
                  <a:spcPts val="900"/>
                </a:spcBef>
                <a:spcAft>
                  <a:spcPts val="0"/>
                </a:spcAft>
                <a:buNone/>
              </a:pPr>
              <a:r>
                <a:rPr b="1" lang="en-GB" sz="1000">
                  <a:solidFill>
                    <a:srgbClr val="B50346"/>
                  </a:solidFill>
                  <a:latin typeface="Arial"/>
                  <a:ea typeface="Arial"/>
                  <a:cs typeface="Arial"/>
                  <a:sym typeface="Arial"/>
                </a:rPr>
                <a:t>· Storage: </a:t>
              </a:r>
              <a:r>
                <a:rPr b="1" lang="en-GB" sz="1000">
                  <a:solidFill>
                    <a:schemeClr val="dk1"/>
                  </a:solidFill>
                  <a:latin typeface="Arial"/>
                  <a:ea typeface="Arial"/>
                  <a:cs typeface="Arial"/>
                  <a:sym typeface="Arial"/>
                </a:rPr>
                <a:t>PostgreSQL </a:t>
              </a:r>
              <a:endParaRPr b="1" sz="1000">
                <a:solidFill>
                  <a:schemeClr val="dk1"/>
                </a:solidFill>
                <a:latin typeface="Arial"/>
                <a:ea typeface="Arial"/>
                <a:cs typeface="Arial"/>
                <a:sym typeface="Arial"/>
              </a:endParaRPr>
            </a:p>
            <a:p>
              <a:pPr indent="0" lvl="0" marL="0" rtl="0" algn="l">
                <a:spcBef>
                  <a:spcPts val="900"/>
                </a:spcBef>
                <a:spcAft>
                  <a:spcPts val="0"/>
                </a:spcAft>
                <a:buNone/>
              </a:pPr>
              <a:r>
                <a:rPr b="1" lang="en-GB" sz="1000">
                  <a:solidFill>
                    <a:srgbClr val="B50346"/>
                  </a:solidFill>
                  <a:latin typeface="Arial"/>
                  <a:ea typeface="Arial"/>
                  <a:cs typeface="Arial"/>
                  <a:sym typeface="Arial"/>
                </a:rPr>
                <a:t>· ML: </a:t>
              </a:r>
              <a:r>
                <a:rPr b="1" lang="en-GB" sz="1000">
                  <a:solidFill>
                    <a:schemeClr val="dk1"/>
                  </a:solidFill>
                  <a:latin typeface="Arial"/>
                  <a:ea typeface="Arial"/>
                  <a:cs typeface="Arial"/>
                  <a:sym typeface="Arial"/>
                </a:rPr>
                <a:t>PyTorch + ONNX Runtime </a:t>
              </a:r>
              <a:endParaRPr b="1" sz="1000">
                <a:solidFill>
                  <a:schemeClr val="dk1"/>
                </a:solidFill>
                <a:latin typeface="Arial"/>
                <a:ea typeface="Arial"/>
                <a:cs typeface="Arial"/>
                <a:sym typeface="Arial"/>
              </a:endParaRPr>
            </a:p>
            <a:p>
              <a:pPr indent="0" lvl="0" marL="0" rtl="0" algn="l">
                <a:spcBef>
                  <a:spcPts val="900"/>
                </a:spcBef>
                <a:spcAft>
                  <a:spcPts val="0"/>
                </a:spcAft>
                <a:buNone/>
              </a:pPr>
              <a:r>
                <a:rPr b="1" lang="en-GB" sz="1000">
                  <a:solidFill>
                    <a:srgbClr val="B50346"/>
                  </a:solidFill>
                  <a:latin typeface="Arial"/>
                  <a:ea typeface="Arial"/>
                  <a:cs typeface="Arial"/>
                  <a:sym typeface="Arial"/>
                </a:rPr>
                <a:t>· Workloads:</a:t>
              </a:r>
              <a:r>
                <a:rPr b="1" lang="en-GB" sz="1000">
                  <a:solidFill>
                    <a:schemeClr val="dk1"/>
                  </a:solidFill>
                  <a:latin typeface="Arial"/>
                  <a:ea typeface="Arial"/>
                  <a:cs typeface="Arial"/>
                  <a:sym typeface="Arial"/>
                </a:rPr>
                <a:t> Python</a:t>
              </a:r>
              <a:endParaRPr sz="1000">
                <a:solidFill>
                  <a:schemeClr val="dk1"/>
                </a:solidFill>
                <a:latin typeface="Arial"/>
                <a:ea typeface="Arial"/>
                <a:cs typeface="Arial"/>
                <a:sym typeface="Arial"/>
              </a:endParaRPr>
            </a:p>
            <a:p>
              <a:pPr indent="0" lvl="0" marL="0" rtl="0" algn="l">
                <a:spcBef>
                  <a:spcPts val="900"/>
                </a:spcBef>
                <a:spcAft>
                  <a:spcPts val="0"/>
                </a:spcAft>
                <a:buNone/>
              </a:pPr>
              <a:r>
                <a:t/>
              </a:r>
              <a:endParaRPr b="1" sz="1100">
                <a:solidFill>
                  <a:srgbClr val="333333"/>
                </a:solidFill>
              </a:endParaRPr>
            </a:p>
          </p:txBody>
        </p:sp>
      </p:grpSp>
      <p:sp>
        <p:nvSpPr>
          <p:cNvPr descr="$PPTXTitle" id="328" name="Google Shape;328;p24"/>
          <p:cNvSpPr txBox="1"/>
          <p:nvPr>
            <p:ph type="title"/>
          </p:nvPr>
        </p:nvSpPr>
        <p:spPr>
          <a:xfrm>
            <a:off x="1496625" y="321850"/>
            <a:ext cx="71712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GB" sz="2000">
                <a:latin typeface="Times New Roman"/>
                <a:ea typeface="Times New Roman"/>
                <a:cs typeface="Times New Roman"/>
                <a:sym typeface="Times New Roman"/>
              </a:rPr>
              <a:t>DATASET / EXPERIMENTAL SETUP</a:t>
            </a:r>
            <a:endParaRPr b="1" sz="2000">
              <a:solidFill>
                <a:srgbClr val="B50346"/>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5"/>
          <p:cNvSpPr txBox="1"/>
          <p:nvPr/>
        </p:nvSpPr>
        <p:spPr>
          <a:xfrm>
            <a:off x="246533" y="4456750"/>
            <a:ext cx="168000" cy="104400"/>
          </a:xfrm>
          <a:prstGeom prst="rect">
            <a:avLst/>
          </a:prstGeom>
          <a:noFill/>
          <a:ln>
            <a:noFill/>
          </a:ln>
        </p:spPr>
        <p:txBody>
          <a:bodyPr anchorCtr="0" anchor="t" bIns="0" lIns="0" spcFirstLastPara="1" rIns="0" wrap="square" tIns="11900">
            <a:spAutoFit/>
          </a:bodyPr>
          <a:lstStyle/>
          <a:p>
            <a:pPr indent="0" lvl="0" marL="0" rtl="0" algn="l">
              <a:lnSpc>
                <a:spcPct val="100000"/>
              </a:lnSpc>
              <a:spcBef>
                <a:spcPts val="0"/>
              </a:spcBef>
              <a:spcAft>
                <a:spcPts val="0"/>
              </a:spcAft>
              <a:buNone/>
            </a:pPr>
            <a:r>
              <a:rPr b="1" lang="en-GB" sz="600">
                <a:solidFill>
                  <a:srgbClr val="FFFFFF"/>
                </a:solidFill>
                <a:latin typeface="Calibri"/>
                <a:ea typeface="Calibri"/>
                <a:cs typeface="Calibri"/>
                <a:sym typeface="Calibri"/>
              </a:rPr>
              <a:t>1</a:t>
            </a:r>
            <a:endParaRPr sz="600">
              <a:latin typeface="Calibri"/>
              <a:ea typeface="Calibri"/>
              <a:cs typeface="Calibri"/>
              <a:sym typeface="Calibri"/>
            </a:endParaRPr>
          </a:p>
        </p:txBody>
      </p:sp>
      <p:sp>
        <p:nvSpPr>
          <p:cNvPr id="334" name="Google Shape;334;p25"/>
          <p:cNvSpPr txBox="1"/>
          <p:nvPr/>
        </p:nvSpPr>
        <p:spPr>
          <a:xfrm>
            <a:off x="934935" y="2800346"/>
            <a:ext cx="67200" cy="104400"/>
          </a:xfrm>
          <a:prstGeom prst="rect">
            <a:avLst/>
          </a:prstGeom>
          <a:noFill/>
          <a:ln>
            <a:noFill/>
          </a:ln>
        </p:spPr>
        <p:txBody>
          <a:bodyPr anchorCtr="0" anchor="t" bIns="0" lIns="0" spcFirstLastPara="1" rIns="0" wrap="square" tIns="11900">
            <a:spAutoFit/>
          </a:bodyPr>
          <a:lstStyle/>
          <a:p>
            <a:pPr indent="0" lvl="0" marL="0" rtl="0" algn="l">
              <a:lnSpc>
                <a:spcPct val="100000"/>
              </a:lnSpc>
              <a:spcBef>
                <a:spcPts val="0"/>
              </a:spcBef>
              <a:spcAft>
                <a:spcPts val="0"/>
              </a:spcAft>
              <a:buNone/>
            </a:pPr>
            <a:r>
              <a:rPr b="1" lang="en-GB" sz="600">
                <a:solidFill>
                  <a:srgbClr val="FFFFFF"/>
                </a:solidFill>
                <a:latin typeface="Calibri"/>
                <a:ea typeface="Calibri"/>
                <a:cs typeface="Calibri"/>
                <a:sym typeface="Calibri"/>
              </a:rPr>
              <a:t>5</a:t>
            </a:r>
            <a:endParaRPr sz="600">
              <a:latin typeface="Calibri"/>
              <a:ea typeface="Calibri"/>
              <a:cs typeface="Calibri"/>
              <a:sym typeface="Calibri"/>
            </a:endParaRPr>
          </a:p>
        </p:txBody>
      </p:sp>
      <p:sp>
        <p:nvSpPr>
          <p:cNvPr id="335" name="Google Shape;335;p25"/>
          <p:cNvSpPr txBox="1"/>
          <p:nvPr/>
        </p:nvSpPr>
        <p:spPr>
          <a:xfrm>
            <a:off x="1389078" y="2288196"/>
            <a:ext cx="158100" cy="104400"/>
          </a:xfrm>
          <a:prstGeom prst="rect">
            <a:avLst/>
          </a:prstGeom>
          <a:noFill/>
          <a:ln>
            <a:noFill/>
          </a:ln>
        </p:spPr>
        <p:txBody>
          <a:bodyPr anchorCtr="0" anchor="t" bIns="0" lIns="0" spcFirstLastPara="1" rIns="0" wrap="square" tIns="11900">
            <a:spAutoFit/>
          </a:bodyPr>
          <a:lstStyle/>
          <a:p>
            <a:pPr indent="0" lvl="0" marL="0" rtl="0" algn="just">
              <a:lnSpc>
                <a:spcPct val="100000"/>
              </a:lnSpc>
              <a:spcBef>
                <a:spcPts val="0"/>
              </a:spcBef>
              <a:spcAft>
                <a:spcPts val="0"/>
              </a:spcAft>
              <a:buNone/>
            </a:pPr>
            <a:r>
              <a:rPr b="1" lang="en-GB" sz="600">
                <a:solidFill>
                  <a:srgbClr val="FFFFFF"/>
                </a:solidFill>
                <a:latin typeface="Calibri"/>
                <a:ea typeface="Calibri"/>
                <a:cs typeface="Calibri"/>
                <a:sym typeface="Calibri"/>
              </a:rPr>
              <a:t>2</a:t>
            </a:r>
            <a:endParaRPr sz="600">
              <a:latin typeface="Calibri"/>
              <a:ea typeface="Calibri"/>
              <a:cs typeface="Calibri"/>
              <a:sym typeface="Calibri"/>
            </a:endParaRPr>
          </a:p>
        </p:txBody>
      </p:sp>
      <p:sp>
        <p:nvSpPr>
          <p:cNvPr id="336" name="Google Shape;336;p25"/>
          <p:cNvSpPr txBox="1"/>
          <p:nvPr/>
        </p:nvSpPr>
        <p:spPr>
          <a:xfrm>
            <a:off x="843999" y="2717121"/>
            <a:ext cx="158100" cy="104400"/>
          </a:xfrm>
          <a:prstGeom prst="rect">
            <a:avLst/>
          </a:prstGeom>
          <a:noFill/>
          <a:ln>
            <a:noFill/>
          </a:ln>
        </p:spPr>
        <p:txBody>
          <a:bodyPr anchorCtr="0" anchor="t" bIns="0" lIns="0" spcFirstLastPara="1" rIns="0" wrap="square" tIns="11900">
            <a:spAutoFit/>
          </a:bodyPr>
          <a:lstStyle/>
          <a:p>
            <a:pPr indent="0" lvl="0" marL="0" rtl="0" algn="l">
              <a:lnSpc>
                <a:spcPct val="100000"/>
              </a:lnSpc>
              <a:spcBef>
                <a:spcPts val="0"/>
              </a:spcBef>
              <a:spcAft>
                <a:spcPts val="0"/>
              </a:spcAft>
              <a:buNone/>
            </a:pPr>
            <a:r>
              <a:rPr b="1" lang="en-GB" sz="600">
                <a:solidFill>
                  <a:srgbClr val="FFFFFF"/>
                </a:solidFill>
                <a:latin typeface="Calibri"/>
                <a:ea typeface="Calibri"/>
                <a:cs typeface="Calibri"/>
                <a:sym typeface="Calibri"/>
              </a:rPr>
              <a:t>3</a:t>
            </a:r>
            <a:endParaRPr b="1" sz="600">
              <a:solidFill>
                <a:srgbClr val="FFFFFF"/>
              </a:solidFill>
              <a:latin typeface="Calibri"/>
              <a:ea typeface="Calibri"/>
              <a:cs typeface="Calibri"/>
              <a:sym typeface="Calibri"/>
            </a:endParaRPr>
          </a:p>
        </p:txBody>
      </p:sp>
      <p:sp>
        <p:nvSpPr>
          <p:cNvPr id="337" name="Google Shape;337;p25"/>
          <p:cNvSpPr txBox="1"/>
          <p:nvPr/>
        </p:nvSpPr>
        <p:spPr>
          <a:xfrm>
            <a:off x="1389078" y="3610695"/>
            <a:ext cx="158100" cy="104400"/>
          </a:xfrm>
          <a:prstGeom prst="rect">
            <a:avLst/>
          </a:prstGeom>
          <a:noFill/>
          <a:ln>
            <a:noFill/>
          </a:ln>
        </p:spPr>
        <p:txBody>
          <a:bodyPr anchorCtr="0" anchor="t" bIns="0" lIns="0" spcFirstLastPara="1" rIns="0" wrap="square" tIns="11900">
            <a:spAutoFit/>
          </a:bodyPr>
          <a:lstStyle/>
          <a:p>
            <a:pPr indent="0" lvl="0" marL="0" rtl="0" algn="l">
              <a:lnSpc>
                <a:spcPct val="100000"/>
              </a:lnSpc>
              <a:spcBef>
                <a:spcPts val="0"/>
              </a:spcBef>
              <a:spcAft>
                <a:spcPts val="0"/>
              </a:spcAft>
              <a:buNone/>
            </a:pPr>
            <a:r>
              <a:rPr b="1" lang="en-GB" sz="600">
                <a:solidFill>
                  <a:srgbClr val="FFFFFF"/>
                </a:solidFill>
                <a:latin typeface="Calibri"/>
                <a:ea typeface="Calibri"/>
                <a:cs typeface="Calibri"/>
                <a:sym typeface="Calibri"/>
              </a:rPr>
              <a:t>4</a:t>
            </a:r>
            <a:endParaRPr sz="600">
              <a:latin typeface="Calibri"/>
              <a:ea typeface="Calibri"/>
              <a:cs typeface="Calibri"/>
              <a:sym typeface="Calibri"/>
            </a:endParaRPr>
          </a:p>
        </p:txBody>
      </p:sp>
      <p:sp>
        <p:nvSpPr>
          <p:cNvPr id="338" name="Google Shape;338;p25"/>
          <p:cNvSpPr txBox="1"/>
          <p:nvPr/>
        </p:nvSpPr>
        <p:spPr>
          <a:xfrm>
            <a:off x="4987325" y="4804800"/>
            <a:ext cx="3000000" cy="338700"/>
          </a:xfrm>
          <a:prstGeom prst="rect">
            <a:avLst/>
          </a:prstGeom>
          <a:noFill/>
          <a:ln>
            <a:noFill/>
          </a:ln>
        </p:spPr>
        <p:txBody>
          <a:bodyPr anchorCtr="0" anchor="t" bIns="91425" lIns="91425" spcFirstLastPara="1" rIns="91425" wrap="square" tIns="91425">
            <a:spAutoFit/>
          </a:bodyPr>
          <a:lstStyle/>
          <a:p>
            <a:pPr indent="0" lvl="0" marL="0" rtl="0" algn="ctr">
              <a:lnSpc>
                <a:spcPct val="125000"/>
              </a:lnSpc>
              <a:spcBef>
                <a:spcPts val="0"/>
              </a:spcBef>
              <a:spcAft>
                <a:spcPts val="800"/>
              </a:spcAft>
              <a:buNone/>
            </a:pPr>
            <a:r>
              <a:rPr i="1" lang="en-GB" sz="1000">
                <a:solidFill>
                  <a:srgbClr val="555555"/>
                </a:solidFill>
                <a:latin typeface="Times New Roman"/>
                <a:ea typeface="Times New Roman"/>
                <a:cs typeface="Times New Roman"/>
                <a:sym typeface="Times New Roman"/>
              </a:rPr>
              <a:t>Figure. Use Case Diagram.</a:t>
            </a:r>
            <a:endParaRPr/>
          </a:p>
        </p:txBody>
      </p:sp>
      <p:sp>
        <p:nvSpPr>
          <p:cNvPr descr="$PPTXTitle" id="339" name="Google Shape;339;p25"/>
          <p:cNvSpPr txBox="1"/>
          <p:nvPr>
            <p:ph type="title"/>
          </p:nvPr>
        </p:nvSpPr>
        <p:spPr>
          <a:xfrm>
            <a:off x="1496625" y="321850"/>
            <a:ext cx="71712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GB" sz="2000">
                <a:latin typeface="Times New Roman"/>
                <a:ea typeface="Times New Roman"/>
                <a:cs typeface="Times New Roman"/>
                <a:sym typeface="Times New Roman"/>
              </a:rPr>
              <a:t>METHODOLOGY</a:t>
            </a:r>
            <a:endParaRPr b="1" sz="2000">
              <a:solidFill>
                <a:srgbClr val="B50346"/>
              </a:solidFill>
              <a:latin typeface="Times New Roman"/>
              <a:ea typeface="Times New Roman"/>
              <a:cs typeface="Times New Roman"/>
              <a:sym typeface="Times New Roman"/>
            </a:endParaRPr>
          </a:p>
        </p:txBody>
      </p:sp>
      <p:pic>
        <p:nvPicPr>
          <p:cNvPr id="340" name="Google Shape;340;p25"/>
          <p:cNvPicPr preferRelativeResize="0"/>
          <p:nvPr/>
        </p:nvPicPr>
        <p:blipFill>
          <a:blip r:embed="rId3">
            <a:alphaModFix/>
          </a:blip>
          <a:stretch>
            <a:fillRect/>
          </a:stretch>
        </p:blipFill>
        <p:spPr>
          <a:xfrm>
            <a:off x="3810000" y="152400"/>
            <a:ext cx="5226625" cy="4763750"/>
          </a:xfrm>
          <a:prstGeom prst="rect">
            <a:avLst/>
          </a:prstGeom>
          <a:noFill/>
          <a:ln>
            <a:noFill/>
          </a:ln>
        </p:spPr>
      </p:pic>
      <p:grpSp>
        <p:nvGrpSpPr>
          <p:cNvPr id="341" name="Google Shape;341;p25"/>
          <p:cNvGrpSpPr/>
          <p:nvPr/>
        </p:nvGrpSpPr>
        <p:grpSpPr>
          <a:xfrm>
            <a:off x="664719" y="1473582"/>
            <a:ext cx="3000158" cy="2816666"/>
            <a:chOff x="2043176" y="1671701"/>
            <a:chExt cx="7581900" cy="1962150"/>
          </a:xfrm>
        </p:grpSpPr>
        <p:sp>
          <p:nvSpPr>
            <p:cNvPr id="342" name="Google Shape;342;p25"/>
            <p:cNvSpPr/>
            <p:nvPr/>
          </p:nvSpPr>
          <p:spPr>
            <a:xfrm>
              <a:off x="2043176" y="1671701"/>
              <a:ext cx="7581900" cy="1962150"/>
            </a:xfrm>
            <a:custGeom>
              <a:rect b="b" l="l" r="r" t="t"/>
              <a:pathLst>
                <a:path extrusionOk="0" h="1962150" w="7581900">
                  <a:moveTo>
                    <a:pt x="7508875" y="0"/>
                  </a:moveTo>
                  <a:lnTo>
                    <a:pt x="72898" y="0"/>
                  </a:lnTo>
                  <a:lnTo>
                    <a:pt x="44523" y="5728"/>
                  </a:lnTo>
                  <a:lnTo>
                    <a:pt x="21351" y="21351"/>
                  </a:lnTo>
                  <a:lnTo>
                    <a:pt x="5728" y="44523"/>
                  </a:lnTo>
                  <a:lnTo>
                    <a:pt x="0" y="72898"/>
                  </a:lnTo>
                  <a:lnTo>
                    <a:pt x="0" y="1889125"/>
                  </a:lnTo>
                  <a:lnTo>
                    <a:pt x="5728" y="1917499"/>
                  </a:lnTo>
                  <a:lnTo>
                    <a:pt x="21351" y="1940671"/>
                  </a:lnTo>
                  <a:lnTo>
                    <a:pt x="44523" y="1956294"/>
                  </a:lnTo>
                  <a:lnTo>
                    <a:pt x="72898" y="1962023"/>
                  </a:lnTo>
                  <a:lnTo>
                    <a:pt x="7508875" y="1962023"/>
                  </a:lnTo>
                  <a:lnTo>
                    <a:pt x="7537269" y="1956294"/>
                  </a:lnTo>
                  <a:lnTo>
                    <a:pt x="7560484" y="1940671"/>
                  </a:lnTo>
                  <a:lnTo>
                    <a:pt x="7576151" y="1917499"/>
                  </a:lnTo>
                  <a:lnTo>
                    <a:pt x="7581900" y="1889125"/>
                  </a:lnTo>
                  <a:lnTo>
                    <a:pt x="7581900" y="72898"/>
                  </a:lnTo>
                  <a:lnTo>
                    <a:pt x="7576151" y="44523"/>
                  </a:lnTo>
                  <a:lnTo>
                    <a:pt x="7560484" y="21351"/>
                  </a:lnTo>
                  <a:lnTo>
                    <a:pt x="7537269" y="5728"/>
                  </a:lnTo>
                  <a:lnTo>
                    <a:pt x="7508875" y="0"/>
                  </a:lnTo>
                  <a:close/>
                </a:path>
              </a:pathLst>
            </a:custGeom>
            <a:solidFill>
              <a:srgbClr val="F5F4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091"/>
            </a:p>
          </p:txBody>
        </p:sp>
        <p:sp>
          <p:nvSpPr>
            <p:cNvPr id="343" name="Google Shape;343;p25"/>
            <p:cNvSpPr/>
            <p:nvPr/>
          </p:nvSpPr>
          <p:spPr>
            <a:xfrm>
              <a:off x="2043176" y="1671701"/>
              <a:ext cx="7581900" cy="1962150"/>
            </a:xfrm>
            <a:custGeom>
              <a:rect b="b" l="l" r="r" t="t"/>
              <a:pathLst>
                <a:path extrusionOk="0" h="1962150" w="7581900">
                  <a:moveTo>
                    <a:pt x="0" y="72898"/>
                  </a:moveTo>
                  <a:lnTo>
                    <a:pt x="5728" y="44523"/>
                  </a:lnTo>
                  <a:lnTo>
                    <a:pt x="21351" y="21351"/>
                  </a:lnTo>
                  <a:lnTo>
                    <a:pt x="44523" y="5728"/>
                  </a:lnTo>
                  <a:lnTo>
                    <a:pt x="72898" y="0"/>
                  </a:lnTo>
                  <a:lnTo>
                    <a:pt x="7508875" y="0"/>
                  </a:lnTo>
                  <a:lnTo>
                    <a:pt x="7537269" y="5728"/>
                  </a:lnTo>
                  <a:lnTo>
                    <a:pt x="7560484" y="21351"/>
                  </a:lnTo>
                  <a:lnTo>
                    <a:pt x="7576151" y="44523"/>
                  </a:lnTo>
                  <a:lnTo>
                    <a:pt x="7581900" y="72898"/>
                  </a:lnTo>
                  <a:lnTo>
                    <a:pt x="7581900" y="1889125"/>
                  </a:lnTo>
                  <a:lnTo>
                    <a:pt x="7576151" y="1917499"/>
                  </a:lnTo>
                  <a:lnTo>
                    <a:pt x="7560484" y="1940671"/>
                  </a:lnTo>
                  <a:lnTo>
                    <a:pt x="7537269" y="1956294"/>
                  </a:lnTo>
                  <a:lnTo>
                    <a:pt x="7508875" y="1962023"/>
                  </a:lnTo>
                  <a:lnTo>
                    <a:pt x="72898" y="1962023"/>
                  </a:lnTo>
                  <a:lnTo>
                    <a:pt x="44523" y="1956294"/>
                  </a:lnTo>
                  <a:lnTo>
                    <a:pt x="21351" y="1940671"/>
                  </a:lnTo>
                  <a:lnTo>
                    <a:pt x="5728" y="1917499"/>
                  </a:lnTo>
                  <a:lnTo>
                    <a:pt x="0" y="1889125"/>
                  </a:lnTo>
                  <a:lnTo>
                    <a:pt x="0" y="72898"/>
                  </a:lnTo>
                  <a:close/>
                </a:path>
              </a:pathLst>
            </a:custGeom>
            <a:noFill/>
            <a:ln cap="flat" cmpd="sng" w="9450">
              <a:solidFill>
                <a:srgbClr val="E2E0D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091"/>
            </a:p>
          </p:txBody>
        </p:sp>
      </p:grpSp>
      <p:sp>
        <p:nvSpPr>
          <p:cNvPr id="344" name="Google Shape;344;p25"/>
          <p:cNvSpPr txBox="1"/>
          <p:nvPr/>
        </p:nvSpPr>
        <p:spPr>
          <a:xfrm>
            <a:off x="664675" y="1473200"/>
            <a:ext cx="2936400" cy="2816700"/>
          </a:xfrm>
          <a:prstGeom prst="rect">
            <a:avLst/>
          </a:prstGeom>
          <a:noFill/>
          <a:ln>
            <a:noFill/>
          </a:ln>
        </p:spPr>
        <p:txBody>
          <a:bodyPr anchorCtr="0" anchor="t" bIns="91425" lIns="91425" spcFirstLastPara="1" rIns="91425" wrap="square" tIns="91425">
            <a:spAutoFit/>
          </a:bodyPr>
          <a:lstStyle/>
          <a:p>
            <a:pPr indent="-292100" lvl="0" marL="457200" rtl="0" algn="just">
              <a:lnSpc>
                <a:spcPct val="115000"/>
              </a:lnSpc>
              <a:spcBef>
                <a:spcPts val="0"/>
              </a:spcBef>
              <a:spcAft>
                <a:spcPts val="0"/>
              </a:spcAft>
              <a:buSzPts val="1000"/>
              <a:buFont typeface="Times New Roman"/>
              <a:buChar char="●"/>
            </a:pPr>
            <a:r>
              <a:rPr b="1" lang="en-GB" sz="1000">
                <a:latin typeface="Times New Roman"/>
                <a:ea typeface="Times New Roman"/>
                <a:cs typeface="Times New Roman"/>
                <a:sym typeface="Times New Roman"/>
              </a:rPr>
              <a:t>Platform Engineer — </a:t>
            </a:r>
            <a:r>
              <a:rPr lang="en-GB" sz="1000">
                <a:latin typeface="Times New Roman"/>
                <a:ea typeface="Times New Roman"/>
                <a:cs typeface="Times New Roman"/>
                <a:sym typeface="Times New Roman"/>
              </a:rPr>
              <a:t>deploys the scheduler plugin and configures carbon/thermal scoring weights. </a:t>
            </a:r>
            <a:endParaRPr sz="1000">
              <a:latin typeface="Times New Roman"/>
              <a:ea typeface="Times New Roman"/>
              <a:cs typeface="Times New Roman"/>
              <a:sym typeface="Times New Roman"/>
            </a:endParaRPr>
          </a:p>
          <a:p>
            <a:pPr indent="-292100" lvl="0" marL="457200" rtl="0" algn="just">
              <a:lnSpc>
                <a:spcPct val="115000"/>
              </a:lnSpc>
              <a:spcBef>
                <a:spcPts val="0"/>
              </a:spcBef>
              <a:spcAft>
                <a:spcPts val="0"/>
              </a:spcAft>
              <a:buSzPts val="1000"/>
              <a:buFont typeface="Times New Roman"/>
              <a:buChar char="●"/>
            </a:pPr>
            <a:r>
              <a:rPr b="1" lang="en-GB" sz="1000">
                <a:latin typeface="Times New Roman"/>
                <a:ea typeface="Times New Roman"/>
                <a:cs typeface="Times New Roman"/>
                <a:sym typeface="Times New Roman"/>
              </a:rPr>
              <a:t>ML / AI Workload Owner — </a:t>
            </a:r>
            <a:r>
              <a:rPr lang="en-GB" sz="1000">
                <a:latin typeface="Times New Roman"/>
                <a:ea typeface="Times New Roman"/>
                <a:cs typeface="Times New Roman"/>
                <a:sym typeface="Times New Roman"/>
              </a:rPr>
              <a:t>submits jobs with a priority tag; the scheduler handles the rest automatically. </a:t>
            </a:r>
            <a:endParaRPr sz="1000">
              <a:latin typeface="Times New Roman"/>
              <a:ea typeface="Times New Roman"/>
              <a:cs typeface="Times New Roman"/>
              <a:sym typeface="Times New Roman"/>
            </a:endParaRPr>
          </a:p>
          <a:p>
            <a:pPr indent="-292100" lvl="0" marL="457200" rtl="0" algn="just">
              <a:lnSpc>
                <a:spcPct val="115000"/>
              </a:lnSpc>
              <a:spcBef>
                <a:spcPts val="0"/>
              </a:spcBef>
              <a:spcAft>
                <a:spcPts val="0"/>
              </a:spcAft>
              <a:buSzPts val="1000"/>
              <a:buFont typeface="Times New Roman"/>
              <a:buChar char="●"/>
            </a:pPr>
            <a:r>
              <a:rPr b="1" lang="en-GB" sz="1000">
                <a:latin typeface="Times New Roman"/>
                <a:ea typeface="Times New Roman"/>
                <a:cs typeface="Times New Roman"/>
                <a:sym typeface="Times New Roman"/>
              </a:rPr>
              <a:t>Sustainability Lead — </a:t>
            </a:r>
            <a:r>
              <a:rPr lang="en-GB" sz="1000">
                <a:latin typeface="Times New Roman"/>
                <a:ea typeface="Times New Roman"/>
                <a:cs typeface="Times New Roman"/>
                <a:sym typeface="Times New Roman"/>
              </a:rPr>
              <a:t>views the live emissions dashboard and generates compliance reports. </a:t>
            </a:r>
            <a:endParaRPr sz="1000">
              <a:latin typeface="Times New Roman"/>
              <a:ea typeface="Times New Roman"/>
              <a:cs typeface="Times New Roman"/>
              <a:sym typeface="Times New Roman"/>
            </a:endParaRPr>
          </a:p>
          <a:p>
            <a:pPr indent="-292100" lvl="0" marL="457200" rtl="0" algn="just">
              <a:lnSpc>
                <a:spcPct val="115000"/>
              </a:lnSpc>
              <a:spcBef>
                <a:spcPts val="0"/>
              </a:spcBef>
              <a:spcAft>
                <a:spcPts val="0"/>
              </a:spcAft>
              <a:buSzPts val="1000"/>
              <a:buFont typeface="Times New Roman"/>
              <a:buChar char="●"/>
            </a:pPr>
            <a:r>
              <a:rPr b="1" lang="en-GB" sz="1000">
                <a:latin typeface="Times New Roman"/>
                <a:ea typeface="Times New Roman"/>
                <a:cs typeface="Times New Roman"/>
                <a:sym typeface="Times New Roman"/>
              </a:rPr>
              <a:t>Core Action — </a:t>
            </a:r>
            <a:r>
              <a:rPr lang="en-GB" sz="1000">
                <a:latin typeface="Times New Roman"/>
                <a:ea typeface="Times New Roman"/>
                <a:cs typeface="Times New Roman"/>
                <a:sym typeface="Times New Roman"/>
              </a:rPr>
              <a:t>the scheduler fetches live carbon forecasts and node thermal data, then places each task on the optimal node. </a:t>
            </a:r>
            <a:endParaRPr sz="1000">
              <a:latin typeface="Times New Roman"/>
              <a:ea typeface="Times New Roman"/>
              <a:cs typeface="Times New Roman"/>
              <a:sym typeface="Times New Roman"/>
            </a:endParaRPr>
          </a:p>
          <a:p>
            <a:pPr indent="-292100" lvl="0" marL="457200" rtl="0" algn="just">
              <a:lnSpc>
                <a:spcPct val="115000"/>
              </a:lnSpc>
              <a:spcBef>
                <a:spcPts val="0"/>
              </a:spcBef>
              <a:spcAft>
                <a:spcPts val="0"/>
              </a:spcAft>
              <a:buSzPts val="1000"/>
              <a:buFont typeface="Times New Roman"/>
              <a:buChar char="●"/>
            </a:pPr>
            <a:r>
              <a:rPr b="1" lang="en-GB" sz="1000">
                <a:latin typeface="Times New Roman"/>
                <a:ea typeface="Times New Roman"/>
                <a:cs typeface="Times New Roman"/>
                <a:sym typeface="Times New Roman"/>
              </a:rPr>
              <a:t>External Inputs — </a:t>
            </a:r>
            <a:r>
              <a:rPr lang="en-GB" sz="1000">
                <a:latin typeface="Times New Roman"/>
                <a:ea typeface="Times New Roman"/>
                <a:cs typeface="Times New Roman"/>
                <a:sym typeface="Times New Roman"/>
              </a:rPr>
              <a:t>Electricity Maps API (carbon data) + onboard node sensors (temperature data).</a:t>
            </a:r>
            <a:endParaRPr sz="10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6"/>
          <p:cNvSpPr txBox="1"/>
          <p:nvPr/>
        </p:nvSpPr>
        <p:spPr>
          <a:xfrm>
            <a:off x="246533" y="4456750"/>
            <a:ext cx="168000" cy="104400"/>
          </a:xfrm>
          <a:prstGeom prst="rect">
            <a:avLst/>
          </a:prstGeom>
          <a:noFill/>
          <a:ln>
            <a:noFill/>
          </a:ln>
        </p:spPr>
        <p:txBody>
          <a:bodyPr anchorCtr="0" anchor="t" bIns="0" lIns="0" spcFirstLastPara="1" rIns="0" wrap="square" tIns="11900">
            <a:spAutoFit/>
          </a:bodyPr>
          <a:lstStyle/>
          <a:p>
            <a:pPr indent="0" lvl="0" marL="0" rtl="0" algn="l">
              <a:lnSpc>
                <a:spcPct val="100000"/>
              </a:lnSpc>
              <a:spcBef>
                <a:spcPts val="0"/>
              </a:spcBef>
              <a:spcAft>
                <a:spcPts val="0"/>
              </a:spcAft>
              <a:buNone/>
            </a:pPr>
            <a:r>
              <a:rPr b="1" lang="en-GB" sz="600">
                <a:solidFill>
                  <a:srgbClr val="FFFFFF"/>
                </a:solidFill>
                <a:latin typeface="Calibri"/>
                <a:ea typeface="Calibri"/>
                <a:cs typeface="Calibri"/>
                <a:sym typeface="Calibri"/>
              </a:rPr>
              <a:t>1</a:t>
            </a:r>
            <a:endParaRPr sz="600">
              <a:latin typeface="Calibri"/>
              <a:ea typeface="Calibri"/>
              <a:cs typeface="Calibri"/>
              <a:sym typeface="Calibri"/>
            </a:endParaRPr>
          </a:p>
        </p:txBody>
      </p:sp>
      <p:sp>
        <p:nvSpPr>
          <p:cNvPr id="350" name="Google Shape;350;p26"/>
          <p:cNvSpPr txBox="1"/>
          <p:nvPr/>
        </p:nvSpPr>
        <p:spPr>
          <a:xfrm>
            <a:off x="934935" y="2800346"/>
            <a:ext cx="67200" cy="104400"/>
          </a:xfrm>
          <a:prstGeom prst="rect">
            <a:avLst/>
          </a:prstGeom>
          <a:noFill/>
          <a:ln>
            <a:noFill/>
          </a:ln>
        </p:spPr>
        <p:txBody>
          <a:bodyPr anchorCtr="0" anchor="t" bIns="0" lIns="0" spcFirstLastPara="1" rIns="0" wrap="square" tIns="11900">
            <a:spAutoFit/>
          </a:bodyPr>
          <a:lstStyle/>
          <a:p>
            <a:pPr indent="0" lvl="0" marL="0" rtl="0" algn="l">
              <a:lnSpc>
                <a:spcPct val="100000"/>
              </a:lnSpc>
              <a:spcBef>
                <a:spcPts val="0"/>
              </a:spcBef>
              <a:spcAft>
                <a:spcPts val="0"/>
              </a:spcAft>
              <a:buNone/>
            </a:pPr>
            <a:r>
              <a:rPr b="1" lang="en-GB" sz="600">
                <a:solidFill>
                  <a:srgbClr val="FFFFFF"/>
                </a:solidFill>
                <a:latin typeface="Calibri"/>
                <a:ea typeface="Calibri"/>
                <a:cs typeface="Calibri"/>
                <a:sym typeface="Calibri"/>
              </a:rPr>
              <a:t>5</a:t>
            </a:r>
            <a:endParaRPr sz="600">
              <a:latin typeface="Calibri"/>
              <a:ea typeface="Calibri"/>
              <a:cs typeface="Calibri"/>
              <a:sym typeface="Calibri"/>
            </a:endParaRPr>
          </a:p>
        </p:txBody>
      </p:sp>
      <p:sp>
        <p:nvSpPr>
          <p:cNvPr id="351" name="Google Shape;351;p26"/>
          <p:cNvSpPr txBox="1"/>
          <p:nvPr/>
        </p:nvSpPr>
        <p:spPr>
          <a:xfrm>
            <a:off x="1389078" y="2288196"/>
            <a:ext cx="158100" cy="104400"/>
          </a:xfrm>
          <a:prstGeom prst="rect">
            <a:avLst/>
          </a:prstGeom>
          <a:noFill/>
          <a:ln>
            <a:noFill/>
          </a:ln>
        </p:spPr>
        <p:txBody>
          <a:bodyPr anchorCtr="0" anchor="t" bIns="0" lIns="0" spcFirstLastPara="1" rIns="0" wrap="square" tIns="11900">
            <a:spAutoFit/>
          </a:bodyPr>
          <a:lstStyle/>
          <a:p>
            <a:pPr indent="0" lvl="0" marL="0" rtl="0" algn="just">
              <a:lnSpc>
                <a:spcPct val="100000"/>
              </a:lnSpc>
              <a:spcBef>
                <a:spcPts val="0"/>
              </a:spcBef>
              <a:spcAft>
                <a:spcPts val="0"/>
              </a:spcAft>
              <a:buNone/>
            </a:pPr>
            <a:r>
              <a:rPr b="1" lang="en-GB" sz="600">
                <a:solidFill>
                  <a:srgbClr val="FFFFFF"/>
                </a:solidFill>
                <a:latin typeface="Calibri"/>
                <a:ea typeface="Calibri"/>
                <a:cs typeface="Calibri"/>
                <a:sym typeface="Calibri"/>
              </a:rPr>
              <a:t>2</a:t>
            </a:r>
            <a:endParaRPr sz="600">
              <a:latin typeface="Calibri"/>
              <a:ea typeface="Calibri"/>
              <a:cs typeface="Calibri"/>
              <a:sym typeface="Calibri"/>
            </a:endParaRPr>
          </a:p>
        </p:txBody>
      </p:sp>
      <p:sp>
        <p:nvSpPr>
          <p:cNvPr id="352" name="Google Shape;352;p26"/>
          <p:cNvSpPr txBox="1"/>
          <p:nvPr/>
        </p:nvSpPr>
        <p:spPr>
          <a:xfrm>
            <a:off x="843999" y="2717121"/>
            <a:ext cx="158100" cy="104400"/>
          </a:xfrm>
          <a:prstGeom prst="rect">
            <a:avLst/>
          </a:prstGeom>
          <a:noFill/>
          <a:ln>
            <a:noFill/>
          </a:ln>
        </p:spPr>
        <p:txBody>
          <a:bodyPr anchorCtr="0" anchor="t" bIns="0" lIns="0" spcFirstLastPara="1" rIns="0" wrap="square" tIns="11900">
            <a:spAutoFit/>
          </a:bodyPr>
          <a:lstStyle/>
          <a:p>
            <a:pPr indent="0" lvl="0" marL="0" rtl="0" algn="l">
              <a:lnSpc>
                <a:spcPct val="100000"/>
              </a:lnSpc>
              <a:spcBef>
                <a:spcPts val="0"/>
              </a:spcBef>
              <a:spcAft>
                <a:spcPts val="0"/>
              </a:spcAft>
              <a:buNone/>
            </a:pPr>
            <a:r>
              <a:rPr b="1" lang="en-GB" sz="600">
                <a:solidFill>
                  <a:srgbClr val="FFFFFF"/>
                </a:solidFill>
                <a:latin typeface="Calibri"/>
                <a:ea typeface="Calibri"/>
                <a:cs typeface="Calibri"/>
                <a:sym typeface="Calibri"/>
              </a:rPr>
              <a:t>3</a:t>
            </a:r>
            <a:endParaRPr b="1" sz="600">
              <a:solidFill>
                <a:srgbClr val="FFFFFF"/>
              </a:solidFill>
              <a:latin typeface="Calibri"/>
              <a:ea typeface="Calibri"/>
              <a:cs typeface="Calibri"/>
              <a:sym typeface="Calibri"/>
            </a:endParaRPr>
          </a:p>
        </p:txBody>
      </p:sp>
      <p:sp>
        <p:nvSpPr>
          <p:cNvPr id="353" name="Google Shape;353;p26"/>
          <p:cNvSpPr txBox="1"/>
          <p:nvPr/>
        </p:nvSpPr>
        <p:spPr>
          <a:xfrm>
            <a:off x="1389078" y="3610695"/>
            <a:ext cx="158100" cy="104400"/>
          </a:xfrm>
          <a:prstGeom prst="rect">
            <a:avLst/>
          </a:prstGeom>
          <a:noFill/>
          <a:ln>
            <a:noFill/>
          </a:ln>
        </p:spPr>
        <p:txBody>
          <a:bodyPr anchorCtr="0" anchor="t" bIns="0" lIns="0" spcFirstLastPara="1" rIns="0" wrap="square" tIns="11900">
            <a:spAutoFit/>
          </a:bodyPr>
          <a:lstStyle/>
          <a:p>
            <a:pPr indent="0" lvl="0" marL="0" rtl="0" algn="l">
              <a:lnSpc>
                <a:spcPct val="100000"/>
              </a:lnSpc>
              <a:spcBef>
                <a:spcPts val="0"/>
              </a:spcBef>
              <a:spcAft>
                <a:spcPts val="0"/>
              </a:spcAft>
              <a:buNone/>
            </a:pPr>
            <a:r>
              <a:rPr b="1" lang="en-GB" sz="600">
                <a:solidFill>
                  <a:srgbClr val="FFFFFF"/>
                </a:solidFill>
                <a:latin typeface="Calibri"/>
                <a:ea typeface="Calibri"/>
                <a:cs typeface="Calibri"/>
                <a:sym typeface="Calibri"/>
              </a:rPr>
              <a:t>4</a:t>
            </a:r>
            <a:endParaRPr sz="600">
              <a:latin typeface="Calibri"/>
              <a:ea typeface="Calibri"/>
              <a:cs typeface="Calibri"/>
              <a:sym typeface="Calibri"/>
            </a:endParaRPr>
          </a:p>
        </p:txBody>
      </p:sp>
      <p:sp>
        <p:nvSpPr>
          <p:cNvPr id="354" name="Google Shape;354;p26"/>
          <p:cNvSpPr txBox="1"/>
          <p:nvPr/>
        </p:nvSpPr>
        <p:spPr>
          <a:xfrm>
            <a:off x="2612425" y="4852800"/>
            <a:ext cx="3000000" cy="338700"/>
          </a:xfrm>
          <a:prstGeom prst="rect">
            <a:avLst/>
          </a:prstGeom>
          <a:noFill/>
          <a:ln>
            <a:noFill/>
          </a:ln>
        </p:spPr>
        <p:txBody>
          <a:bodyPr anchorCtr="0" anchor="t" bIns="91425" lIns="91425" spcFirstLastPara="1" rIns="91425" wrap="square" tIns="91425">
            <a:spAutoFit/>
          </a:bodyPr>
          <a:lstStyle/>
          <a:p>
            <a:pPr indent="0" lvl="0" marL="0" rtl="0" algn="ctr">
              <a:lnSpc>
                <a:spcPct val="125000"/>
              </a:lnSpc>
              <a:spcBef>
                <a:spcPts val="0"/>
              </a:spcBef>
              <a:spcAft>
                <a:spcPts val="800"/>
              </a:spcAft>
              <a:buNone/>
            </a:pPr>
            <a:r>
              <a:rPr i="1" lang="en-GB" sz="1000">
                <a:solidFill>
                  <a:srgbClr val="555555"/>
                </a:solidFill>
                <a:latin typeface="Times New Roman"/>
                <a:ea typeface="Times New Roman"/>
                <a:cs typeface="Times New Roman"/>
                <a:sym typeface="Times New Roman"/>
              </a:rPr>
              <a:t>Figure. System Architecture.</a:t>
            </a:r>
            <a:endParaRPr/>
          </a:p>
        </p:txBody>
      </p:sp>
      <p:sp>
        <p:nvSpPr>
          <p:cNvPr descr="$PPTXTitle" id="355" name="Google Shape;355;p26"/>
          <p:cNvSpPr txBox="1"/>
          <p:nvPr>
            <p:ph type="title"/>
          </p:nvPr>
        </p:nvSpPr>
        <p:spPr>
          <a:xfrm>
            <a:off x="1496625" y="321850"/>
            <a:ext cx="71712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GB" sz="2000">
                <a:latin typeface="Times New Roman"/>
                <a:ea typeface="Times New Roman"/>
                <a:cs typeface="Times New Roman"/>
                <a:sym typeface="Times New Roman"/>
              </a:rPr>
              <a:t>METHODOLOGY</a:t>
            </a:r>
            <a:endParaRPr b="1" sz="2000">
              <a:solidFill>
                <a:srgbClr val="B50346"/>
              </a:solidFill>
              <a:latin typeface="Times New Roman"/>
              <a:ea typeface="Times New Roman"/>
              <a:cs typeface="Times New Roman"/>
              <a:sym typeface="Times New Roman"/>
            </a:endParaRPr>
          </a:p>
        </p:txBody>
      </p:sp>
      <p:pic>
        <p:nvPicPr>
          <p:cNvPr id="356" name="Google Shape;356;p26"/>
          <p:cNvPicPr preferRelativeResize="0"/>
          <p:nvPr/>
        </p:nvPicPr>
        <p:blipFill>
          <a:blip r:embed="rId3">
            <a:alphaModFix/>
          </a:blip>
          <a:stretch>
            <a:fillRect/>
          </a:stretch>
        </p:blipFill>
        <p:spPr>
          <a:xfrm>
            <a:off x="124450" y="977975"/>
            <a:ext cx="8872376" cy="3924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7"/>
          <p:cNvSpPr txBox="1"/>
          <p:nvPr/>
        </p:nvSpPr>
        <p:spPr>
          <a:xfrm>
            <a:off x="874597" y="1548149"/>
            <a:ext cx="164700" cy="150600"/>
          </a:xfrm>
          <a:prstGeom prst="rect">
            <a:avLst/>
          </a:prstGeom>
          <a:noFill/>
          <a:ln>
            <a:noFill/>
          </a:ln>
        </p:spPr>
        <p:txBody>
          <a:bodyPr anchorCtr="0" anchor="t" bIns="0" lIns="0" spcFirstLastPara="1" rIns="0" wrap="square" tIns="11900">
            <a:spAutoFit/>
          </a:bodyPr>
          <a:lstStyle/>
          <a:p>
            <a:pPr indent="0" lvl="0" marL="0" rtl="0" algn="l">
              <a:lnSpc>
                <a:spcPct val="100000"/>
              </a:lnSpc>
              <a:spcBef>
                <a:spcPts val="0"/>
              </a:spcBef>
              <a:spcAft>
                <a:spcPts val="0"/>
              </a:spcAft>
              <a:buNone/>
            </a:pPr>
            <a:r>
              <a:rPr b="1" lang="en-GB" sz="900">
                <a:solidFill>
                  <a:srgbClr val="FFFFFF"/>
                </a:solidFill>
                <a:latin typeface="Calibri"/>
                <a:ea typeface="Calibri"/>
                <a:cs typeface="Calibri"/>
                <a:sym typeface="Calibri"/>
              </a:rPr>
              <a:t>5</a:t>
            </a:r>
            <a:endParaRPr sz="900">
              <a:latin typeface="Calibri"/>
              <a:ea typeface="Calibri"/>
              <a:cs typeface="Calibri"/>
              <a:sym typeface="Calibri"/>
            </a:endParaRPr>
          </a:p>
        </p:txBody>
      </p:sp>
      <p:sp>
        <p:nvSpPr>
          <p:cNvPr id="362" name="Google Shape;362;p27"/>
          <p:cNvSpPr txBox="1"/>
          <p:nvPr/>
        </p:nvSpPr>
        <p:spPr>
          <a:xfrm>
            <a:off x="5189633" y="1548150"/>
            <a:ext cx="168000" cy="150600"/>
          </a:xfrm>
          <a:prstGeom prst="rect">
            <a:avLst/>
          </a:prstGeom>
          <a:noFill/>
          <a:ln>
            <a:noFill/>
          </a:ln>
        </p:spPr>
        <p:txBody>
          <a:bodyPr anchorCtr="0" anchor="t" bIns="0" lIns="0" spcFirstLastPara="1" rIns="0" wrap="square" tIns="11900">
            <a:spAutoFit/>
          </a:bodyPr>
          <a:lstStyle/>
          <a:p>
            <a:pPr indent="0" lvl="0" marL="0" rtl="0" algn="l">
              <a:lnSpc>
                <a:spcPct val="100000"/>
              </a:lnSpc>
              <a:spcBef>
                <a:spcPts val="0"/>
              </a:spcBef>
              <a:spcAft>
                <a:spcPts val="0"/>
              </a:spcAft>
              <a:buNone/>
            </a:pPr>
            <a:r>
              <a:rPr b="1" lang="en-GB" sz="900">
                <a:solidFill>
                  <a:srgbClr val="FFFFFF"/>
                </a:solidFill>
                <a:latin typeface="Calibri"/>
                <a:ea typeface="Calibri"/>
                <a:cs typeface="Calibri"/>
                <a:sym typeface="Calibri"/>
              </a:rPr>
              <a:t>6</a:t>
            </a:r>
            <a:endParaRPr sz="900">
              <a:latin typeface="Calibri"/>
              <a:ea typeface="Calibri"/>
              <a:cs typeface="Calibri"/>
              <a:sym typeface="Calibri"/>
            </a:endParaRPr>
          </a:p>
        </p:txBody>
      </p:sp>
      <p:pic>
        <p:nvPicPr>
          <p:cNvPr id="363" name="Google Shape;363;p27"/>
          <p:cNvPicPr preferRelativeResize="0"/>
          <p:nvPr/>
        </p:nvPicPr>
        <p:blipFill>
          <a:blip r:embed="rId3">
            <a:alphaModFix/>
          </a:blip>
          <a:stretch>
            <a:fillRect/>
          </a:stretch>
        </p:blipFill>
        <p:spPr>
          <a:xfrm>
            <a:off x="514425" y="1154800"/>
            <a:ext cx="8297474" cy="1520450"/>
          </a:xfrm>
          <a:prstGeom prst="rect">
            <a:avLst/>
          </a:prstGeom>
          <a:noFill/>
          <a:ln>
            <a:noFill/>
          </a:ln>
        </p:spPr>
      </p:pic>
      <p:sp>
        <p:nvSpPr>
          <p:cNvPr id="364" name="Google Shape;364;p27"/>
          <p:cNvSpPr txBox="1"/>
          <p:nvPr/>
        </p:nvSpPr>
        <p:spPr>
          <a:xfrm>
            <a:off x="2722350" y="2402388"/>
            <a:ext cx="3000000" cy="338700"/>
          </a:xfrm>
          <a:prstGeom prst="rect">
            <a:avLst/>
          </a:prstGeom>
          <a:noFill/>
          <a:ln>
            <a:noFill/>
          </a:ln>
        </p:spPr>
        <p:txBody>
          <a:bodyPr anchorCtr="0" anchor="t" bIns="91425" lIns="91425" spcFirstLastPara="1" rIns="91425" wrap="square" tIns="91425">
            <a:spAutoFit/>
          </a:bodyPr>
          <a:lstStyle/>
          <a:p>
            <a:pPr indent="0" lvl="0" marL="0" rtl="0" algn="ctr">
              <a:lnSpc>
                <a:spcPct val="125000"/>
              </a:lnSpc>
              <a:spcBef>
                <a:spcPts val="0"/>
              </a:spcBef>
              <a:spcAft>
                <a:spcPts val="800"/>
              </a:spcAft>
              <a:buNone/>
            </a:pPr>
            <a:r>
              <a:rPr i="1" lang="en-GB" sz="1000">
                <a:solidFill>
                  <a:srgbClr val="555555"/>
                </a:solidFill>
                <a:latin typeface="Times New Roman"/>
                <a:ea typeface="Times New Roman"/>
                <a:cs typeface="Times New Roman"/>
                <a:sym typeface="Times New Roman"/>
              </a:rPr>
              <a:t>Figure. AI/ML Pipeline.</a:t>
            </a:r>
            <a:endParaRPr/>
          </a:p>
        </p:txBody>
      </p:sp>
      <p:sp>
        <p:nvSpPr>
          <p:cNvPr id="365" name="Google Shape;365;p27"/>
          <p:cNvSpPr txBox="1"/>
          <p:nvPr/>
        </p:nvSpPr>
        <p:spPr>
          <a:xfrm>
            <a:off x="558324" y="4460700"/>
            <a:ext cx="163200" cy="103500"/>
          </a:xfrm>
          <a:prstGeom prst="rect">
            <a:avLst/>
          </a:prstGeom>
          <a:noFill/>
          <a:ln>
            <a:noFill/>
          </a:ln>
        </p:spPr>
        <p:txBody>
          <a:bodyPr anchorCtr="0" anchor="t" bIns="0" lIns="0" spcFirstLastPara="1" rIns="0" wrap="square" tIns="11800">
            <a:spAutoFit/>
          </a:bodyPr>
          <a:lstStyle/>
          <a:p>
            <a:pPr indent="0" lvl="0" marL="0" rtl="0" algn="l">
              <a:lnSpc>
                <a:spcPct val="100000"/>
              </a:lnSpc>
              <a:spcBef>
                <a:spcPts val="0"/>
              </a:spcBef>
              <a:spcAft>
                <a:spcPts val="0"/>
              </a:spcAft>
              <a:buNone/>
            </a:pPr>
            <a:r>
              <a:rPr b="1" lang="en-GB" sz="595">
                <a:solidFill>
                  <a:srgbClr val="FFFFFF"/>
                </a:solidFill>
                <a:latin typeface="Calibri"/>
                <a:ea typeface="Calibri"/>
                <a:cs typeface="Calibri"/>
                <a:sym typeface="Calibri"/>
              </a:rPr>
              <a:t>1</a:t>
            </a:r>
            <a:endParaRPr sz="595">
              <a:latin typeface="Calibri"/>
              <a:ea typeface="Calibri"/>
              <a:cs typeface="Calibri"/>
              <a:sym typeface="Calibri"/>
            </a:endParaRPr>
          </a:p>
        </p:txBody>
      </p:sp>
      <p:sp>
        <p:nvSpPr>
          <p:cNvPr id="366" name="Google Shape;366;p27"/>
          <p:cNvSpPr txBox="1"/>
          <p:nvPr/>
        </p:nvSpPr>
        <p:spPr>
          <a:xfrm>
            <a:off x="1001543" y="2817998"/>
            <a:ext cx="69300" cy="103500"/>
          </a:xfrm>
          <a:prstGeom prst="rect">
            <a:avLst/>
          </a:prstGeom>
          <a:noFill/>
          <a:ln>
            <a:noFill/>
          </a:ln>
        </p:spPr>
        <p:txBody>
          <a:bodyPr anchorCtr="0" anchor="t" bIns="0" lIns="0" spcFirstLastPara="1" rIns="0" wrap="square" tIns="11800">
            <a:spAutoFit/>
          </a:bodyPr>
          <a:lstStyle/>
          <a:p>
            <a:pPr indent="0" lvl="0" marL="0" rtl="0" algn="l">
              <a:lnSpc>
                <a:spcPct val="100000"/>
              </a:lnSpc>
              <a:spcBef>
                <a:spcPts val="0"/>
              </a:spcBef>
              <a:spcAft>
                <a:spcPts val="0"/>
              </a:spcAft>
              <a:buNone/>
            </a:pPr>
            <a:r>
              <a:rPr b="1" lang="en-GB" sz="595">
                <a:solidFill>
                  <a:srgbClr val="FFFFFF"/>
                </a:solidFill>
                <a:latin typeface="Calibri"/>
                <a:ea typeface="Calibri"/>
                <a:cs typeface="Calibri"/>
                <a:sym typeface="Calibri"/>
              </a:rPr>
              <a:t>5</a:t>
            </a:r>
            <a:endParaRPr sz="595">
              <a:latin typeface="Calibri"/>
              <a:ea typeface="Calibri"/>
              <a:cs typeface="Calibri"/>
              <a:sym typeface="Calibri"/>
            </a:endParaRPr>
          </a:p>
        </p:txBody>
      </p:sp>
      <p:sp>
        <p:nvSpPr>
          <p:cNvPr id="367" name="Google Shape;367;p27"/>
          <p:cNvSpPr txBox="1"/>
          <p:nvPr/>
        </p:nvSpPr>
        <p:spPr>
          <a:xfrm>
            <a:off x="1473749" y="2571758"/>
            <a:ext cx="163200" cy="103500"/>
          </a:xfrm>
          <a:prstGeom prst="rect">
            <a:avLst/>
          </a:prstGeom>
          <a:noFill/>
          <a:ln>
            <a:noFill/>
          </a:ln>
        </p:spPr>
        <p:txBody>
          <a:bodyPr anchorCtr="0" anchor="t" bIns="0" lIns="0" spcFirstLastPara="1" rIns="0" wrap="square" tIns="11800">
            <a:spAutoFit/>
          </a:bodyPr>
          <a:lstStyle/>
          <a:p>
            <a:pPr indent="0" lvl="0" marL="0" rtl="0" algn="just">
              <a:lnSpc>
                <a:spcPct val="100000"/>
              </a:lnSpc>
              <a:spcBef>
                <a:spcPts val="0"/>
              </a:spcBef>
              <a:spcAft>
                <a:spcPts val="0"/>
              </a:spcAft>
              <a:buNone/>
            </a:pPr>
            <a:r>
              <a:rPr b="1" lang="en-GB" sz="595">
                <a:solidFill>
                  <a:srgbClr val="FFFFFF"/>
                </a:solidFill>
                <a:latin typeface="Calibri"/>
                <a:ea typeface="Calibri"/>
                <a:cs typeface="Calibri"/>
                <a:sym typeface="Calibri"/>
              </a:rPr>
              <a:t>2</a:t>
            </a:r>
            <a:endParaRPr sz="595">
              <a:latin typeface="Calibri"/>
              <a:ea typeface="Calibri"/>
              <a:cs typeface="Calibri"/>
              <a:sym typeface="Calibri"/>
            </a:endParaRPr>
          </a:p>
        </p:txBody>
      </p:sp>
      <p:sp>
        <p:nvSpPr>
          <p:cNvPr id="368" name="Google Shape;368;p27"/>
          <p:cNvSpPr txBox="1"/>
          <p:nvPr/>
        </p:nvSpPr>
        <p:spPr>
          <a:xfrm>
            <a:off x="907736" y="2735462"/>
            <a:ext cx="163200" cy="103500"/>
          </a:xfrm>
          <a:prstGeom prst="rect">
            <a:avLst/>
          </a:prstGeom>
          <a:noFill/>
          <a:ln>
            <a:noFill/>
          </a:ln>
        </p:spPr>
        <p:txBody>
          <a:bodyPr anchorCtr="0" anchor="t" bIns="0" lIns="0" spcFirstLastPara="1" rIns="0" wrap="square" tIns="11800">
            <a:spAutoFit/>
          </a:bodyPr>
          <a:lstStyle/>
          <a:p>
            <a:pPr indent="0" lvl="0" marL="0" rtl="0" algn="l">
              <a:lnSpc>
                <a:spcPct val="100000"/>
              </a:lnSpc>
              <a:spcBef>
                <a:spcPts val="0"/>
              </a:spcBef>
              <a:spcAft>
                <a:spcPts val="0"/>
              </a:spcAft>
              <a:buNone/>
            </a:pPr>
            <a:r>
              <a:rPr b="1" lang="en-GB" sz="595">
                <a:solidFill>
                  <a:srgbClr val="FFFFFF"/>
                </a:solidFill>
                <a:latin typeface="Calibri"/>
                <a:ea typeface="Calibri"/>
                <a:cs typeface="Calibri"/>
                <a:sym typeface="Calibri"/>
              </a:rPr>
              <a:t>3</a:t>
            </a:r>
            <a:endParaRPr b="1" sz="595">
              <a:solidFill>
                <a:srgbClr val="FFFFFF"/>
              </a:solidFill>
              <a:latin typeface="Calibri"/>
              <a:ea typeface="Calibri"/>
              <a:cs typeface="Calibri"/>
              <a:sym typeface="Calibri"/>
            </a:endParaRPr>
          </a:p>
        </p:txBody>
      </p:sp>
      <p:sp>
        <p:nvSpPr>
          <p:cNvPr id="369" name="Google Shape;369;p27"/>
          <p:cNvSpPr txBox="1"/>
          <p:nvPr/>
        </p:nvSpPr>
        <p:spPr>
          <a:xfrm>
            <a:off x="1473749" y="3883321"/>
            <a:ext cx="163200" cy="103500"/>
          </a:xfrm>
          <a:prstGeom prst="rect">
            <a:avLst/>
          </a:prstGeom>
          <a:noFill/>
          <a:ln>
            <a:noFill/>
          </a:ln>
        </p:spPr>
        <p:txBody>
          <a:bodyPr anchorCtr="0" anchor="t" bIns="0" lIns="0" spcFirstLastPara="1" rIns="0" wrap="square" tIns="11800">
            <a:spAutoFit/>
          </a:bodyPr>
          <a:lstStyle/>
          <a:p>
            <a:pPr indent="0" lvl="0" marL="0" rtl="0" algn="l">
              <a:lnSpc>
                <a:spcPct val="100000"/>
              </a:lnSpc>
              <a:spcBef>
                <a:spcPts val="0"/>
              </a:spcBef>
              <a:spcAft>
                <a:spcPts val="0"/>
              </a:spcAft>
              <a:buNone/>
            </a:pPr>
            <a:r>
              <a:rPr b="1" lang="en-GB" sz="595">
                <a:solidFill>
                  <a:srgbClr val="FFFFFF"/>
                </a:solidFill>
                <a:latin typeface="Calibri"/>
                <a:ea typeface="Calibri"/>
                <a:cs typeface="Calibri"/>
                <a:sym typeface="Calibri"/>
              </a:rPr>
              <a:t>4</a:t>
            </a:r>
            <a:endParaRPr sz="595">
              <a:latin typeface="Calibri"/>
              <a:ea typeface="Calibri"/>
              <a:cs typeface="Calibri"/>
              <a:sym typeface="Calibri"/>
            </a:endParaRPr>
          </a:p>
        </p:txBody>
      </p:sp>
      <p:grpSp>
        <p:nvGrpSpPr>
          <p:cNvPr id="370" name="Google Shape;370;p27"/>
          <p:cNvGrpSpPr/>
          <p:nvPr/>
        </p:nvGrpSpPr>
        <p:grpSpPr>
          <a:xfrm>
            <a:off x="514426" y="2918109"/>
            <a:ext cx="8346156" cy="1921533"/>
            <a:chOff x="2043176" y="1671701"/>
            <a:chExt cx="7581900" cy="1962150"/>
          </a:xfrm>
        </p:grpSpPr>
        <p:sp>
          <p:nvSpPr>
            <p:cNvPr id="371" name="Google Shape;371;p27"/>
            <p:cNvSpPr/>
            <p:nvPr/>
          </p:nvSpPr>
          <p:spPr>
            <a:xfrm>
              <a:off x="2043176" y="1671701"/>
              <a:ext cx="7581900" cy="1962150"/>
            </a:xfrm>
            <a:custGeom>
              <a:rect b="b" l="l" r="r" t="t"/>
              <a:pathLst>
                <a:path extrusionOk="0" h="1962150" w="7581900">
                  <a:moveTo>
                    <a:pt x="7508875" y="0"/>
                  </a:moveTo>
                  <a:lnTo>
                    <a:pt x="72898" y="0"/>
                  </a:lnTo>
                  <a:lnTo>
                    <a:pt x="44523" y="5728"/>
                  </a:lnTo>
                  <a:lnTo>
                    <a:pt x="21351" y="21351"/>
                  </a:lnTo>
                  <a:lnTo>
                    <a:pt x="5728" y="44523"/>
                  </a:lnTo>
                  <a:lnTo>
                    <a:pt x="0" y="72898"/>
                  </a:lnTo>
                  <a:lnTo>
                    <a:pt x="0" y="1889125"/>
                  </a:lnTo>
                  <a:lnTo>
                    <a:pt x="5728" y="1917499"/>
                  </a:lnTo>
                  <a:lnTo>
                    <a:pt x="21351" y="1940671"/>
                  </a:lnTo>
                  <a:lnTo>
                    <a:pt x="44523" y="1956294"/>
                  </a:lnTo>
                  <a:lnTo>
                    <a:pt x="72898" y="1962023"/>
                  </a:lnTo>
                  <a:lnTo>
                    <a:pt x="7508875" y="1962023"/>
                  </a:lnTo>
                  <a:lnTo>
                    <a:pt x="7537269" y="1956294"/>
                  </a:lnTo>
                  <a:lnTo>
                    <a:pt x="7560484" y="1940671"/>
                  </a:lnTo>
                  <a:lnTo>
                    <a:pt x="7576151" y="1917499"/>
                  </a:lnTo>
                  <a:lnTo>
                    <a:pt x="7581900" y="1889125"/>
                  </a:lnTo>
                  <a:lnTo>
                    <a:pt x="7581900" y="72898"/>
                  </a:lnTo>
                  <a:lnTo>
                    <a:pt x="7576151" y="44523"/>
                  </a:lnTo>
                  <a:lnTo>
                    <a:pt x="7560484" y="21351"/>
                  </a:lnTo>
                  <a:lnTo>
                    <a:pt x="7537269" y="5728"/>
                  </a:lnTo>
                  <a:lnTo>
                    <a:pt x="7508875" y="0"/>
                  </a:lnTo>
                  <a:close/>
                </a:path>
              </a:pathLst>
            </a:custGeom>
            <a:solidFill>
              <a:srgbClr val="F5F4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091"/>
            </a:p>
          </p:txBody>
        </p:sp>
        <p:sp>
          <p:nvSpPr>
            <p:cNvPr id="372" name="Google Shape;372;p27"/>
            <p:cNvSpPr/>
            <p:nvPr/>
          </p:nvSpPr>
          <p:spPr>
            <a:xfrm>
              <a:off x="2043176" y="1671701"/>
              <a:ext cx="7581900" cy="1962150"/>
            </a:xfrm>
            <a:custGeom>
              <a:rect b="b" l="l" r="r" t="t"/>
              <a:pathLst>
                <a:path extrusionOk="0" h="1962150" w="7581900">
                  <a:moveTo>
                    <a:pt x="0" y="72898"/>
                  </a:moveTo>
                  <a:lnTo>
                    <a:pt x="5728" y="44523"/>
                  </a:lnTo>
                  <a:lnTo>
                    <a:pt x="21351" y="21351"/>
                  </a:lnTo>
                  <a:lnTo>
                    <a:pt x="44523" y="5728"/>
                  </a:lnTo>
                  <a:lnTo>
                    <a:pt x="72898" y="0"/>
                  </a:lnTo>
                  <a:lnTo>
                    <a:pt x="7508875" y="0"/>
                  </a:lnTo>
                  <a:lnTo>
                    <a:pt x="7537269" y="5728"/>
                  </a:lnTo>
                  <a:lnTo>
                    <a:pt x="7560484" y="21351"/>
                  </a:lnTo>
                  <a:lnTo>
                    <a:pt x="7576151" y="44523"/>
                  </a:lnTo>
                  <a:lnTo>
                    <a:pt x="7581900" y="72898"/>
                  </a:lnTo>
                  <a:lnTo>
                    <a:pt x="7581900" y="1889125"/>
                  </a:lnTo>
                  <a:lnTo>
                    <a:pt x="7576151" y="1917499"/>
                  </a:lnTo>
                  <a:lnTo>
                    <a:pt x="7560484" y="1940671"/>
                  </a:lnTo>
                  <a:lnTo>
                    <a:pt x="7537269" y="1956294"/>
                  </a:lnTo>
                  <a:lnTo>
                    <a:pt x="7508875" y="1962023"/>
                  </a:lnTo>
                  <a:lnTo>
                    <a:pt x="72898" y="1962023"/>
                  </a:lnTo>
                  <a:lnTo>
                    <a:pt x="44523" y="1956294"/>
                  </a:lnTo>
                  <a:lnTo>
                    <a:pt x="21351" y="1940671"/>
                  </a:lnTo>
                  <a:lnTo>
                    <a:pt x="5728" y="1917499"/>
                  </a:lnTo>
                  <a:lnTo>
                    <a:pt x="0" y="1889125"/>
                  </a:lnTo>
                  <a:lnTo>
                    <a:pt x="0" y="72898"/>
                  </a:lnTo>
                  <a:close/>
                </a:path>
              </a:pathLst>
            </a:custGeom>
            <a:noFill/>
            <a:ln cap="flat" cmpd="sng" w="9450">
              <a:solidFill>
                <a:srgbClr val="E2E0D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091"/>
            </a:p>
          </p:txBody>
        </p:sp>
      </p:grpSp>
      <p:sp>
        <p:nvSpPr>
          <p:cNvPr id="373" name="Google Shape;373;p27"/>
          <p:cNvSpPr txBox="1"/>
          <p:nvPr/>
        </p:nvSpPr>
        <p:spPr>
          <a:xfrm>
            <a:off x="695774" y="1233561"/>
            <a:ext cx="4049100" cy="320400"/>
          </a:xfrm>
          <a:prstGeom prst="rect">
            <a:avLst/>
          </a:prstGeom>
          <a:noFill/>
          <a:ln>
            <a:noFill/>
          </a:ln>
        </p:spPr>
        <p:txBody>
          <a:bodyPr anchorCtr="0" anchor="t" bIns="90675" lIns="90675" spcFirstLastPara="1" rIns="90675" wrap="square" tIns="90675">
            <a:spAutoFit/>
          </a:bodyPr>
          <a:lstStyle/>
          <a:p>
            <a:pPr indent="0" lvl="0" marL="0" rtl="0" algn="just">
              <a:spcBef>
                <a:spcPts val="0"/>
              </a:spcBef>
              <a:spcAft>
                <a:spcPts val="0"/>
              </a:spcAft>
              <a:buNone/>
            </a:pPr>
            <a:r>
              <a:t/>
            </a:r>
            <a:endParaRPr sz="893">
              <a:latin typeface="Georgia"/>
              <a:ea typeface="Georgia"/>
              <a:cs typeface="Georgia"/>
              <a:sym typeface="Georgia"/>
            </a:endParaRPr>
          </a:p>
        </p:txBody>
      </p:sp>
      <p:sp>
        <p:nvSpPr>
          <p:cNvPr id="374" name="Google Shape;374;p27"/>
          <p:cNvSpPr txBox="1"/>
          <p:nvPr/>
        </p:nvSpPr>
        <p:spPr>
          <a:xfrm>
            <a:off x="615957" y="2917950"/>
            <a:ext cx="8067000" cy="1877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GB" sz="1000">
                <a:latin typeface="Times New Roman"/>
                <a:ea typeface="Times New Roman"/>
                <a:cs typeface="Times New Roman"/>
                <a:sym typeface="Times New Roman"/>
              </a:rPr>
              <a:t>1. Data Ingestion &amp; Preprocessing: </a:t>
            </a:r>
            <a:r>
              <a:rPr lang="en-GB" sz="1000">
                <a:latin typeface="Times New Roman"/>
                <a:ea typeface="Times New Roman"/>
                <a:cs typeface="Times New Roman"/>
                <a:sym typeface="Times New Roman"/>
              </a:rPr>
              <a:t>Merges historical datasets (OWID/Ember) with live, hourly API feeds (Electricity Maps). The data is normalized using MinMax Scaling and chunked into "24-Hour Sliding Windows" for the neural network. </a:t>
            </a:r>
            <a:endParaRPr sz="1000">
              <a:latin typeface="Times New Roman"/>
              <a:ea typeface="Times New Roman"/>
              <a:cs typeface="Times New Roman"/>
              <a:sym typeface="Times New Roman"/>
            </a:endParaRPr>
          </a:p>
          <a:p>
            <a:pPr indent="0" lvl="0" marL="0" rtl="0" algn="just">
              <a:spcBef>
                <a:spcPts val="0"/>
              </a:spcBef>
              <a:spcAft>
                <a:spcPts val="0"/>
              </a:spcAft>
              <a:buNone/>
            </a:pPr>
            <a:r>
              <a:t/>
            </a:r>
            <a:endParaRPr sz="1000">
              <a:latin typeface="Times New Roman"/>
              <a:ea typeface="Times New Roman"/>
              <a:cs typeface="Times New Roman"/>
              <a:sym typeface="Times New Roman"/>
            </a:endParaRPr>
          </a:p>
          <a:p>
            <a:pPr indent="0" lvl="0" marL="0" rtl="0" algn="just">
              <a:spcBef>
                <a:spcPts val="0"/>
              </a:spcBef>
              <a:spcAft>
                <a:spcPts val="0"/>
              </a:spcAft>
              <a:buNone/>
            </a:pPr>
            <a:r>
              <a:rPr b="1" lang="en-GB" sz="1000">
                <a:latin typeface="Times New Roman"/>
                <a:ea typeface="Times New Roman"/>
                <a:cs typeface="Times New Roman"/>
                <a:sym typeface="Times New Roman"/>
              </a:rPr>
              <a:t>2. The Long Short-Term Memory (LSTM): </a:t>
            </a:r>
            <a:r>
              <a:rPr lang="en-GB" sz="1000">
                <a:latin typeface="Times New Roman"/>
                <a:ea typeface="Times New Roman"/>
                <a:cs typeface="Times New Roman"/>
                <a:sym typeface="Times New Roman"/>
              </a:rPr>
              <a:t>A LSTM network processes the time-series windows to generate a highly accurate prediction of regional carbon intensity (gCO2/kWh) for the next 24 hours. </a:t>
            </a:r>
            <a:endParaRPr sz="1000">
              <a:latin typeface="Times New Roman"/>
              <a:ea typeface="Times New Roman"/>
              <a:cs typeface="Times New Roman"/>
              <a:sym typeface="Times New Roman"/>
            </a:endParaRPr>
          </a:p>
          <a:p>
            <a:pPr indent="0" lvl="0" marL="0" rtl="0" algn="just">
              <a:spcBef>
                <a:spcPts val="0"/>
              </a:spcBef>
              <a:spcAft>
                <a:spcPts val="0"/>
              </a:spcAft>
              <a:buNone/>
            </a:pPr>
            <a:r>
              <a:t/>
            </a:r>
            <a:endParaRPr sz="1000">
              <a:latin typeface="Times New Roman"/>
              <a:ea typeface="Times New Roman"/>
              <a:cs typeface="Times New Roman"/>
              <a:sym typeface="Times New Roman"/>
            </a:endParaRPr>
          </a:p>
          <a:p>
            <a:pPr indent="0" lvl="0" marL="0" rtl="0" algn="just">
              <a:spcBef>
                <a:spcPts val="0"/>
              </a:spcBef>
              <a:spcAft>
                <a:spcPts val="0"/>
              </a:spcAft>
              <a:buNone/>
            </a:pPr>
            <a:r>
              <a:rPr b="1" lang="en-GB" sz="1000">
                <a:latin typeface="Times New Roman"/>
                <a:ea typeface="Times New Roman"/>
                <a:cs typeface="Times New Roman"/>
                <a:sym typeface="Times New Roman"/>
              </a:rPr>
              <a:t>3. Sync &amp; Storage:</a:t>
            </a:r>
            <a:r>
              <a:rPr lang="en-GB" sz="1000">
                <a:latin typeface="Times New Roman"/>
                <a:ea typeface="Times New Roman"/>
                <a:cs typeface="Times New Roman"/>
                <a:sym typeface="Times New Roman"/>
              </a:rPr>
              <a:t> Predictions</a:t>
            </a:r>
            <a:r>
              <a:rPr lang="en-GB" sz="1000">
                <a:latin typeface="Times New Roman"/>
                <a:ea typeface="Times New Roman"/>
                <a:cs typeface="Times New Roman"/>
                <a:sym typeface="Times New Roman"/>
              </a:rPr>
              <a:t> are pushed to a Shared Local Cache. This decouples the AI from the orchestrator, allowing the Kubernetes Scheduler to read the data instantly without recalculating. </a:t>
            </a:r>
            <a:endParaRPr sz="1000">
              <a:latin typeface="Times New Roman"/>
              <a:ea typeface="Times New Roman"/>
              <a:cs typeface="Times New Roman"/>
              <a:sym typeface="Times New Roman"/>
            </a:endParaRPr>
          </a:p>
          <a:p>
            <a:pPr indent="0" lvl="0" marL="0" rtl="0" algn="just">
              <a:spcBef>
                <a:spcPts val="0"/>
              </a:spcBef>
              <a:spcAft>
                <a:spcPts val="0"/>
              </a:spcAft>
              <a:buNone/>
            </a:pPr>
            <a:r>
              <a:t/>
            </a:r>
            <a:endParaRPr sz="1000">
              <a:latin typeface="Times New Roman"/>
              <a:ea typeface="Times New Roman"/>
              <a:cs typeface="Times New Roman"/>
              <a:sym typeface="Times New Roman"/>
            </a:endParaRPr>
          </a:p>
          <a:p>
            <a:pPr indent="0" lvl="0" marL="0" rtl="0" algn="just">
              <a:spcBef>
                <a:spcPts val="0"/>
              </a:spcBef>
              <a:spcAft>
                <a:spcPts val="0"/>
              </a:spcAft>
              <a:buNone/>
            </a:pPr>
            <a:r>
              <a:rPr b="1" lang="en-GB" sz="1000">
                <a:latin typeface="Times New Roman"/>
                <a:ea typeface="Times New Roman"/>
                <a:cs typeface="Times New Roman"/>
                <a:sym typeface="Times New Roman"/>
              </a:rPr>
              <a:t>4. The Safety Valve:</a:t>
            </a:r>
            <a:r>
              <a:rPr lang="en-GB" sz="1000">
                <a:latin typeface="Times New Roman"/>
                <a:ea typeface="Times New Roman"/>
                <a:cs typeface="Times New Roman"/>
                <a:sym typeface="Times New Roman"/>
              </a:rPr>
              <a:t> A parallel controller continuously monitors the cache. If grid carbon or hardware temperature thresholds are breached, it triggers a Quantization Driver to automatically downgrade AI compute precision and cut power.</a:t>
            </a:r>
            <a:endParaRPr sz="1000">
              <a:latin typeface="Times New Roman"/>
              <a:ea typeface="Times New Roman"/>
              <a:cs typeface="Times New Roman"/>
              <a:sym typeface="Times New Roman"/>
            </a:endParaRPr>
          </a:p>
        </p:txBody>
      </p:sp>
      <p:sp>
        <p:nvSpPr>
          <p:cNvPr descr="$PPTXTitle" id="375" name="Google Shape;375;p27"/>
          <p:cNvSpPr txBox="1"/>
          <p:nvPr>
            <p:ph type="title"/>
          </p:nvPr>
        </p:nvSpPr>
        <p:spPr>
          <a:xfrm>
            <a:off x="1496625" y="321850"/>
            <a:ext cx="71712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GB" sz="2000">
                <a:latin typeface="Times New Roman"/>
                <a:ea typeface="Times New Roman"/>
                <a:cs typeface="Times New Roman"/>
                <a:sym typeface="Times New Roman"/>
              </a:rPr>
              <a:t>METHODOLOGY</a:t>
            </a:r>
            <a:endParaRPr b="1" sz="2000">
              <a:solidFill>
                <a:srgbClr val="B50346"/>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descr="$PPTXTitle" id="380" name="Google Shape;380;p28"/>
          <p:cNvSpPr txBox="1"/>
          <p:nvPr>
            <p:ph type="title"/>
          </p:nvPr>
        </p:nvSpPr>
        <p:spPr>
          <a:xfrm>
            <a:off x="1496625" y="321850"/>
            <a:ext cx="71712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GB" sz="2000">
                <a:latin typeface="Times New Roman"/>
                <a:ea typeface="Times New Roman"/>
                <a:cs typeface="Times New Roman"/>
                <a:sym typeface="Times New Roman"/>
              </a:rPr>
              <a:t>PERFORMANCE EVALUATION PLAN</a:t>
            </a:r>
            <a:endParaRPr b="1" sz="2000">
              <a:solidFill>
                <a:srgbClr val="B50346"/>
              </a:solidFill>
              <a:latin typeface="Times New Roman"/>
              <a:ea typeface="Times New Roman"/>
              <a:cs typeface="Times New Roman"/>
              <a:sym typeface="Times New Roman"/>
            </a:endParaRPr>
          </a:p>
        </p:txBody>
      </p:sp>
      <p:grpSp>
        <p:nvGrpSpPr>
          <p:cNvPr id="381" name="Google Shape;381;p28"/>
          <p:cNvGrpSpPr/>
          <p:nvPr/>
        </p:nvGrpSpPr>
        <p:grpSpPr>
          <a:xfrm>
            <a:off x="292523" y="1079968"/>
            <a:ext cx="3911339" cy="1872865"/>
            <a:chOff x="518772" y="1234760"/>
            <a:chExt cx="3313290" cy="1132530"/>
          </a:xfrm>
        </p:grpSpPr>
        <p:grpSp>
          <p:nvGrpSpPr>
            <p:cNvPr id="382" name="Google Shape;382;p28"/>
            <p:cNvGrpSpPr/>
            <p:nvPr/>
          </p:nvGrpSpPr>
          <p:grpSpPr>
            <a:xfrm>
              <a:off x="518772" y="1234760"/>
              <a:ext cx="3313290" cy="1132530"/>
              <a:chOff x="2043176" y="3910076"/>
              <a:chExt cx="7581900" cy="1971675"/>
            </a:xfrm>
          </p:grpSpPr>
          <p:sp>
            <p:nvSpPr>
              <p:cNvPr id="383" name="Google Shape;383;p28"/>
              <p:cNvSpPr/>
              <p:nvPr/>
            </p:nvSpPr>
            <p:spPr>
              <a:xfrm>
                <a:off x="2043176" y="3910076"/>
                <a:ext cx="7581900" cy="1971675"/>
              </a:xfrm>
              <a:custGeom>
                <a:rect b="b" l="l" r="r" t="t"/>
                <a:pathLst>
                  <a:path extrusionOk="0" h="1971675" w="7581900">
                    <a:moveTo>
                      <a:pt x="7508494" y="0"/>
                    </a:moveTo>
                    <a:lnTo>
                      <a:pt x="73279" y="0"/>
                    </a:lnTo>
                    <a:lnTo>
                      <a:pt x="44737" y="5752"/>
                    </a:lnTo>
                    <a:lnTo>
                      <a:pt x="21447" y="21447"/>
                    </a:lnTo>
                    <a:lnTo>
                      <a:pt x="5752" y="44737"/>
                    </a:lnTo>
                    <a:lnTo>
                      <a:pt x="0" y="73279"/>
                    </a:lnTo>
                    <a:lnTo>
                      <a:pt x="0" y="1898243"/>
                    </a:lnTo>
                    <a:lnTo>
                      <a:pt x="5752" y="1926804"/>
                    </a:lnTo>
                    <a:lnTo>
                      <a:pt x="21447" y="1950124"/>
                    </a:lnTo>
                    <a:lnTo>
                      <a:pt x="44737" y="1965846"/>
                    </a:lnTo>
                    <a:lnTo>
                      <a:pt x="73279" y="1971611"/>
                    </a:lnTo>
                    <a:lnTo>
                      <a:pt x="7508494" y="1971611"/>
                    </a:lnTo>
                    <a:lnTo>
                      <a:pt x="7537055" y="1965846"/>
                    </a:lnTo>
                    <a:lnTo>
                      <a:pt x="7560389" y="1950124"/>
                    </a:lnTo>
                    <a:lnTo>
                      <a:pt x="7576127" y="1926804"/>
                    </a:lnTo>
                    <a:lnTo>
                      <a:pt x="7581900" y="1898243"/>
                    </a:lnTo>
                    <a:lnTo>
                      <a:pt x="7581900" y="73279"/>
                    </a:lnTo>
                    <a:lnTo>
                      <a:pt x="7576127" y="44737"/>
                    </a:lnTo>
                    <a:lnTo>
                      <a:pt x="7560389" y="21447"/>
                    </a:lnTo>
                    <a:lnTo>
                      <a:pt x="7537055" y="5752"/>
                    </a:lnTo>
                    <a:lnTo>
                      <a:pt x="7508494" y="0"/>
                    </a:lnTo>
                    <a:close/>
                  </a:path>
                </a:pathLst>
              </a:custGeom>
              <a:solidFill>
                <a:srgbClr val="F5F4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299"/>
              </a:p>
            </p:txBody>
          </p:sp>
          <p:sp>
            <p:nvSpPr>
              <p:cNvPr id="384" name="Google Shape;384;p28"/>
              <p:cNvSpPr/>
              <p:nvPr/>
            </p:nvSpPr>
            <p:spPr>
              <a:xfrm>
                <a:off x="2043176" y="3910076"/>
                <a:ext cx="7581900" cy="1971675"/>
              </a:xfrm>
              <a:custGeom>
                <a:rect b="b" l="l" r="r" t="t"/>
                <a:pathLst>
                  <a:path extrusionOk="0" h="1971675" w="7581900">
                    <a:moveTo>
                      <a:pt x="0" y="73279"/>
                    </a:moveTo>
                    <a:lnTo>
                      <a:pt x="5752" y="44737"/>
                    </a:lnTo>
                    <a:lnTo>
                      <a:pt x="21447" y="21447"/>
                    </a:lnTo>
                    <a:lnTo>
                      <a:pt x="44737" y="5752"/>
                    </a:lnTo>
                    <a:lnTo>
                      <a:pt x="73279" y="0"/>
                    </a:lnTo>
                    <a:lnTo>
                      <a:pt x="7508494" y="0"/>
                    </a:lnTo>
                    <a:lnTo>
                      <a:pt x="7537055" y="5752"/>
                    </a:lnTo>
                    <a:lnTo>
                      <a:pt x="7560389" y="21447"/>
                    </a:lnTo>
                    <a:lnTo>
                      <a:pt x="7576127" y="44737"/>
                    </a:lnTo>
                    <a:lnTo>
                      <a:pt x="7581900" y="73279"/>
                    </a:lnTo>
                    <a:lnTo>
                      <a:pt x="7581900" y="1898243"/>
                    </a:lnTo>
                    <a:lnTo>
                      <a:pt x="7576127" y="1926804"/>
                    </a:lnTo>
                    <a:lnTo>
                      <a:pt x="7560389" y="1950124"/>
                    </a:lnTo>
                    <a:lnTo>
                      <a:pt x="7537055" y="1965846"/>
                    </a:lnTo>
                    <a:lnTo>
                      <a:pt x="7508494" y="1971611"/>
                    </a:lnTo>
                    <a:lnTo>
                      <a:pt x="73279" y="1971611"/>
                    </a:lnTo>
                    <a:lnTo>
                      <a:pt x="44737" y="1965846"/>
                    </a:lnTo>
                    <a:lnTo>
                      <a:pt x="21447" y="1950124"/>
                    </a:lnTo>
                    <a:lnTo>
                      <a:pt x="5752" y="1926804"/>
                    </a:lnTo>
                    <a:lnTo>
                      <a:pt x="0" y="1898243"/>
                    </a:lnTo>
                    <a:lnTo>
                      <a:pt x="0" y="73279"/>
                    </a:lnTo>
                    <a:close/>
                  </a:path>
                </a:pathLst>
              </a:custGeom>
              <a:noFill/>
              <a:ln cap="flat" cmpd="sng" w="11250">
                <a:solidFill>
                  <a:srgbClr val="E2E0D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299"/>
              </a:p>
            </p:txBody>
          </p:sp>
        </p:grpSp>
        <p:sp>
          <p:nvSpPr>
            <p:cNvPr id="385" name="Google Shape;385;p28"/>
            <p:cNvSpPr txBox="1"/>
            <p:nvPr/>
          </p:nvSpPr>
          <p:spPr>
            <a:xfrm>
              <a:off x="518775" y="1329425"/>
              <a:ext cx="3213900" cy="811200"/>
            </a:xfrm>
            <a:prstGeom prst="rect">
              <a:avLst/>
            </a:prstGeom>
            <a:noFill/>
            <a:ln>
              <a:noFill/>
            </a:ln>
          </p:spPr>
          <p:txBody>
            <a:bodyPr anchorCtr="0" anchor="t" bIns="107925" lIns="107925" spcFirstLastPara="1" rIns="107925" wrap="square" tIns="107925">
              <a:spAutoFit/>
            </a:bodyPr>
            <a:lstStyle/>
            <a:p>
              <a:pPr indent="0" lvl="0" marL="0" rtl="0" algn="l">
                <a:spcBef>
                  <a:spcPts val="0"/>
                </a:spcBef>
                <a:spcAft>
                  <a:spcPts val="0"/>
                </a:spcAft>
                <a:buNone/>
              </a:pPr>
              <a:r>
                <a:rPr b="1" lang="en-GB" sz="1299">
                  <a:solidFill>
                    <a:schemeClr val="dk1"/>
                  </a:solidFill>
                  <a:latin typeface="Times New Roman"/>
                  <a:ea typeface="Times New Roman"/>
                  <a:cs typeface="Times New Roman"/>
                  <a:sym typeface="Times New Roman"/>
                </a:rPr>
                <a:t>Carbon Reduction Efficiency (CRE)</a:t>
              </a:r>
              <a:endParaRPr b="1" sz="1299">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GB" sz="1200">
                  <a:solidFill>
                    <a:srgbClr val="B50346"/>
                  </a:solidFill>
                  <a:latin typeface="Times New Roman"/>
                  <a:ea typeface="Times New Roman"/>
                  <a:cs typeface="Times New Roman"/>
                  <a:sym typeface="Times New Roman"/>
                </a:rPr>
                <a:t>Is the energy utilized actually cleaner?</a:t>
              </a:r>
              <a:endParaRPr b="1" sz="1200">
                <a:solidFill>
                  <a:srgbClr val="B50346"/>
                </a:solidFill>
                <a:latin typeface="Times New Roman"/>
                <a:ea typeface="Times New Roman"/>
                <a:cs typeface="Times New Roman"/>
                <a:sym typeface="Times New Roman"/>
              </a:endParaRPr>
            </a:p>
            <a:p>
              <a:pPr indent="0" lvl="0" marL="0" rtl="0" algn="l">
                <a:spcBef>
                  <a:spcPts val="0"/>
                </a:spcBef>
                <a:spcAft>
                  <a:spcPts val="0"/>
                </a:spcAft>
                <a:buNone/>
              </a:pPr>
              <a:r>
                <a:t/>
              </a:r>
              <a:endParaRPr b="1" sz="1200">
                <a:solidFill>
                  <a:srgbClr val="B50346"/>
                </a:solidFill>
                <a:latin typeface="Times New Roman"/>
                <a:ea typeface="Times New Roman"/>
                <a:cs typeface="Times New Roman"/>
                <a:sym typeface="Times New Roman"/>
              </a:endParaRPr>
            </a:p>
            <a:p>
              <a:pPr indent="0" lvl="0" marL="0" rtl="0" algn="just">
                <a:spcBef>
                  <a:spcPts val="0"/>
                </a:spcBef>
                <a:spcAft>
                  <a:spcPts val="0"/>
                </a:spcAft>
                <a:buNone/>
              </a:pPr>
              <a:r>
                <a:rPr lang="en-GB" sz="1200">
                  <a:solidFill>
                    <a:schemeClr val="dk1"/>
                  </a:solidFill>
                  <a:latin typeface="Times New Roman"/>
                  <a:ea typeface="Times New Roman"/>
                  <a:cs typeface="Times New Roman"/>
                  <a:sym typeface="Times New Roman"/>
                </a:rPr>
                <a:t>Measures the percentage decrease in carbon emissions achieved by the proposed scheduler compared to a standard baseline scheduler </a:t>
              </a:r>
              <a:endParaRPr sz="1200">
                <a:latin typeface="Times New Roman"/>
                <a:ea typeface="Times New Roman"/>
                <a:cs typeface="Times New Roman"/>
                <a:sym typeface="Times New Roman"/>
              </a:endParaRPr>
            </a:p>
          </p:txBody>
        </p:sp>
      </p:grpSp>
      <p:grpSp>
        <p:nvGrpSpPr>
          <p:cNvPr id="386" name="Google Shape;386;p28"/>
          <p:cNvGrpSpPr/>
          <p:nvPr/>
        </p:nvGrpSpPr>
        <p:grpSpPr>
          <a:xfrm>
            <a:off x="4801898" y="1079991"/>
            <a:ext cx="3911339" cy="1872865"/>
            <a:chOff x="518772" y="1234760"/>
            <a:chExt cx="3313290" cy="1132530"/>
          </a:xfrm>
        </p:grpSpPr>
        <p:grpSp>
          <p:nvGrpSpPr>
            <p:cNvPr id="387" name="Google Shape;387;p28"/>
            <p:cNvGrpSpPr/>
            <p:nvPr/>
          </p:nvGrpSpPr>
          <p:grpSpPr>
            <a:xfrm>
              <a:off x="518772" y="1234760"/>
              <a:ext cx="3313290" cy="1132530"/>
              <a:chOff x="2043176" y="3910076"/>
              <a:chExt cx="7581900" cy="1971675"/>
            </a:xfrm>
          </p:grpSpPr>
          <p:sp>
            <p:nvSpPr>
              <p:cNvPr id="388" name="Google Shape;388;p28"/>
              <p:cNvSpPr/>
              <p:nvPr/>
            </p:nvSpPr>
            <p:spPr>
              <a:xfrm>
                <a:off x="2043176" y="3910076"/>
                <a:ext cx="7581900" cy="1971675"/>
              </a:xfrm>
              <a:custGeom>
                <a:rect b="b" l="l" r="r" t="t"/>
                <a:pathLst>
                  <a:path extrusionOk="0" h="1971675" w="7581900">
                    <a:moveTo>
                      <a:pt x="7508494" y="0"/>
                    </a:moveTo>
                    <a:lnTo>
                      <a:pt x="73279" y="0"/>
                    </a:lnTo>
                    <a:lnTo>
                      <a:pt x="44737" y="5752"/>
                    </a:lnTo>
                    <a:lnTo>
                      <a:pt x="21447" y="21447"/>
                    </a:lnTo>
                    <a:lnTo>
                      <a:pt x="5752" y="44737"/>
                    </a:lnTo>
                    <a:lnTo>
                      <a:pt x="0" y="73279"/>
                    </a:lnTo>
                    <a:lnTo>
                      <a:pt x="0" y="1898243"/>
                    </a:lnTo>
                    <a:lnTo>
                      <a:pt x="5752" y="1926804"/>
                    </a:lnTo>
                    <a:lnTo>
                      <a:pt x="21447" y="1950124"/>
                    </a:lnTo>
                    <a:lnTo>
                      <a:pt x="44737" y="1965846"/>
                    </a:lnTo>
                    <a:lnTo>
                      <a:pt x="73279" y="1971611"/>
                    </a:lnTo>
                    <a:lnTo>
                      <a:pt x="7508494" y="1971611"/>
                    </a:lnTo>
                    <a:lnTo>
                      <a:pt x="7537055" y="1965846"/>
                    </a:lnTo>
                    <a:lnTo>
                      <a:pt x="7560389" y="1950124"/>
                    </a:lnTo>
                    <a:lnTo>
                      <a:pt x="7576127" y="1926804"/>
                    </a:lnTo>
                    <a:lnTo>
                      <a:pt x="7581900" y="1898243"/>
                    </a:lnTo>
                    <a:lnTo>
                      <a:pt x="7581900" y="73279"/>
                    </a:lnTo>
                    <a:lnTo>
                      <a:pt x="7576127" y="44737"/>
                    </a:lnTo>
                    <a:lnTo>
                      <a:pt x="7560389" y="21447"/>
                    </a:lnTo>
                    <a:lnTo>
                      <a:pt x="7537055" y="5752"/>
                    </a:lnTo>
                    <a:lnTo>
                      <a:pt x="7508494" y="0"/>
                    </a:lnTo>
                    <a:close/>
                  </a:path>
                </a:pathLst>
              </a:custGeom>
              <a:solidFill>
                <a:srgbClr val="F5F4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19"/>
              </a:p>
            </p:txBody>
          </p:sp>
          <p:sp>
            <p:nvSpPr>
              <p:cNvPr id="389" name="Google Shape;389;p28"/>
              <p:cNvSpPr/>
              <p:nvPr/>
            </p:nvSpPr>
            <p:spPr>
              <a:xfrm>
                <a:off x="2043176" y="3910076"/>
                <a:ext cx="7581900" cy="1971675"/>
              </a:xfrm>
              <a:custGeom>
                <a:rect b="b" l="l" r="r" t="t"/>
                <a:pathLst>
                  <a:path extrusionOk="0" h="1971675" w="7581900">
                    <a:moveTo>
                      <a:pt x="0" y="73279"/>
                    </a:moveTo>
                    <a:lnTo>
                      <a:pt x="5752" y="44737"/>
                    </a:lnTo>
                    <a:lnTo>
                      <a:pt x="21447" y="21447"/>
                    </a:lnTo>
                    <a:lnTo>
                      <a:pt x="44737" y="5752"/>
                    </a:lnTo>
                    <a:lnTo>
                      <a:pt x="73279" y="0"/>
                    </a:lnTo>
                    <a:lnTo>
                      <a:pt x="7508494" y="0"/>
                    </a:lnTo>
                    <a:lnTo>
                      <a:pt x="7537055" y="5752"/>
                    </a:lnTo>
                    <a:lnTo>
                      <a:pt x="7560389" y="21447"/>
                    </a:lnTo>
                    <a:lnTo>
                      <a:pt x="7576127" y="44737"/>
                    </a:lnTo>
                    <a:lnTo>
                      <a:pt x="7581900" y="73279"/>
                    </a:lnTo>
                    <a:lnTo>
                      <a:pt x="7581900" y="1898243"/>
                    </a:lnTo>
                    <a:lnTo>
                      <a:pt x="7576127" y="1926804"/>
                    </a:lnTo>
                    <a:lnTo>
                      <a:pt x="7560389" y="1950124"/>
                    </a:lnTo>
                    <a:lnTo>
                      <a:pt x="7537055" y="1965846"/>
                    </a:lnTo>
                    <a:lnTo>
                      <a:pt x="7508494" y="1971611"/>
                    </a:lnTo>
                    <a:lnTo>
                      <a:pt x="73279" y="1971611"/>
                    </a:lnTo>
                    <a:lnTo>
                      <a:pt x="44737" y="1965846"/>
                    </a:lnTo>
                    <a:lnTo>
                      <a:pt x="21447" y="1950124"/>
                    </a:lnTo>
                    <a:lnTo>
                      <a:pt x="5752" y="1926804"/>
                    </a:lnTo>
                    <a:lnTo>
                      <a:pt x="0" y="1898243"/>
                    </a:lnTo>
                    <a:lnTo>
                      <a:pt x="0" y="73279"/>
                    </a:lnTo>
                    <a:close/>
                  </a:path>
                </a:pathLst>
              </a:custGeom>
              <a:noFill/>
              <a:ln cap="flat" cmpd="sng" w="15750">
                <a:solidFill>
                  <a:srgbClr val="E2E0D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19"/>
              </a:p>
            </p:txBody>
          </p:sp>
        </p:grpSp>
        <p:sp>
          <p:nvSpPr>
            <p:cNvPr id="390" name="Google Shape;390;p28"/>
            <p:cNvSpPr txBox="1"/>
            <p:nvPr/>
          </p:nvSpPr>
          <p:spPr>
            <a:xfrm>
              <a:off x="616190" y="1279044"/>
              <a:ext cx="3116100" cy="975900"/>
            </a:xfrm>
            <a:prstGeom prst="rect">
              <a:avLst/>
            </a:prstGeom>
            <a:noFill/>
            <a:ln>
              <a:noFill/>
            </a:ln>
          </p:spPr>
          <p:txBody>
            <a:bodyPr anchorCtr="0" anchor="t" bIns="151175" lIns="151175" spcFirstLastPara="1" rIns="151175" wrap="square" tIns="151175">
              <a:spAutoFit/>
            </a:bodyPr>
            <a:lstStyle/>
            <a:p>
              <a:pPr indent="0" lvl="0" marL="0" rtl="0" algn="just">
                <a:spcBef>
                  <a:spcPts val="0"/>
                </a:spcBef>
                <a:spcAft>
                  <a:spcPts val="0"/>
                </a:spcAft>
                <a:buNone/>
              </a:pPr>
              <a:r>
                <a:rPr b="1" lang="en-GB" sz="1250">
                  <a:solidFill>
                    <a:schemeClr val="dk1"/>
                  </a:solidFill>
                  <a:latin typeface="Times New Roman"/>
                  <a:ea typeface="Times New Roman"/>
                  <a:cs typeface="Times New Roman"/>
                  <a:sym typeface="Times New Roman"/>
                </a:rPr>
                <a:t>Root Mean Square Error (RMSE)</a:t>
              </a:r>
              <a:endParaRPr b="1" sz="12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GB" sz="1200">
                  <a:solidFill>
                    <a:srgbClr val="B50346"/>
                  </a:solidFill>
                  <a:latin typeface="Times New Roman"/>
                  <a:ea typeface="Times New Roman"/>
                  <a:cs typeface="Times New Roman"/>
                  <a:sym typeface="Times New Roman"/>
                </a:rPr>
                <a:t>Is the forecast accurate?</a:t>
              </a:r>
              <a:endParaRPr b="1" sz="1200">
                <a:solidFill>
                  <a:srgbClr val="B50346"/>
                </a:solidFill>
                <a:latin typeface="Times New Roman"/>
                <a:ea typeface="Times New Roman"/>
                <a:cs typeface="Times New Roman"/>
                <a:sym typeface="Times New Roman"/>
              </a:endParaRPr>
            </a:p>
            <a:p>
              <a:pPr indent="0" lvl="0" marL="0" rtl="0" algn="just">
                <a:spcBef>
                  <a:spcPts val="0"/>
                </a:spcBef>
                <a:spcAft>
                  <a:spcPts val="0"/>
                </a:spcAft>
                <a:buNone/>
              </a:pPr>
              <a:r>
                <a:t/>
              </a:r>
              <a:endParaRPr b="1" sz="125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GB" sz="1200">
                  <a:solidFill>
                    <a:schemeClr val="dk1"/>
                  </a:solidFill>
                  <a:latin typeface="Times New Roman"/>
                  <a:ea typeface="Times New Roman"/>
                  <a:cs typeface="Times New Roman"/>
                  <a:sym typeface="Times New Roman"/>
                </a:rPr>
                <a:t>Calculates the Root Mean Square Error to evaluate the forecasting accuracy to verify how closely the LSTM's 24-hour carbon predictions match the actual live API data feeds.</a:t>
              </a:r>
              <a:endParaRPr sz="1654">
                <a:latin typeface="Times New Roman"/>
                <a:ea typeface="Times New Roman"/>
                <a:cs typeface="Times New Roman"/>
                <a:sym typeface="Times New Roman"/>
              </a:endParaRPr>
            </a:p>
          </p:txBody>
        </p:sp>
      </p:grpSp>
      <p:grpSp>
        <p:nvGrpSpPr>
          <p:cNvPr id="391" name="Google Shape;391;p28"/>
          <p:cNvGrpSpPr/>
          <p:nvPr/>
        </p:nvGrpSpPr>
        <p:grpSpPr>
          <a:xfrm>
            <a:off x="1496627" y="3271353"/>
            <a:ext cx="3856007" cy="1634128"/>
            <a:chOff x="518772" y="1234760"/>
            <a:chExt cx="3313290" cy="1132530"/>
          </a:xfrm>
        </p:grpSpPr>
        <p:grpSp>
          <p:nvGrpSpPr>
            <p:cNvPr id="392" name="Google Shape;392;p28"/>
            <p:cNvGrpSpPr/>
            <p:nvPr/>
          </p:nvGrpSpPr>
          <p:grpSpPr>
            <a:xfrm>
              <a:off x="518772" y="1234760"/>
              <a:ext cx="3313290" cy="1132530"/>
              <a:chOff x="2043176" y="3910076"/>
              <a:chExt cx="7581900" cy="1971675"/>
            </a:xfrm>
          </p:grpSpPr>
          <p:sp>
            <p:nvSpPr>
              <p:cNvPr id="393" name="Google Shape;393;p28"/>
              <p:cNvSpPr/>
              <p:nvPr/>
            </p:nvSpPr>
            <p:spPr>
              <a:xfrm>
                <a:off x="2043176" y="3910076"/>
                <a:ext cx="7581900" cy="1971675"/>
              </a:xfrm>
              <a:custGeom>
                <a:rect b="b" l="l" r="r" t="t"/>
                <a:pathLst>
                  <a:path extrusionOk="0" h="1971675" w="7581900">
                    <a:moveTo>
                      <a:pt x="7508494" y="0"/>
                    </a:moveTo>
                    <a:lnTo>
                      <a:pt x="73279" y="0"/>
                    </a:lnTo>
                    <a:lnTo>
                      <a:pt x="44737" y="5752"/>
                    </a:lnTo>
                    <a:lnTo>
                      <a:pt x="21447" y="21447"/>
                    </a:lnTo>
                    <a:lnTo>
                      <a:pt x="5752" y="44737"/>
                    </a:lnTo>
                    <a:lnTo>
                      <a:pt x="0" y="73279"/>
                    </a:lnTo>
                    <a:lnTo>
                      <a:pt x="0" y="1898243"/>
                    </a:lnTo>
                    <a:lnTo>
                      <a:pt x="5752" y="1926804"/>
                    </a:lnTo>
                    <a:lnTo>
                      <a:pt x="21447" y="1950124"/>
                    </a:lnTo>
                    <a:lnTo>
                      <a:pt x="44737" y="1965846"/>
                    </a:lnTo>
                    <a:lnTo>
                      <a:pt x="73279" y="1971611"/>
                    </a:lnTo>
                    <a:lnTo>
                      <a:pt x="7508494" y="1971611"/>
                    </a:lnTo>
                    <a:lnTo>
                      <a:pt x="7537055" y="1965846"/>
                    </a:lnTo>
                    <a:lnTo>
                      <a:pt x="7560389" y="1950124"/>
                    </a:lnTo>
                    <a:lnTo>
                      <a:pt x="7576127" y="1926804"/>
                    </a:lnTo>
                    <a:lnTo>
                      <a:pt x="7581900" y="1898243"/>
                    </a:lnTo>
                    <a:lnTo>
                      <a:pt x="7581900" y="73279"/>
                    </a:lnTo>
                    <a:lnTo>
                      <a:pt x="7576127" y="44737"/>
                    </a:lnTo>
                    <a:lnTo>
                      <a:pt x="7560389" y="21447"/>
                    </a:lnTo>
                    <a:lnTo>
                      <a:pt x="7537055" y="5752"/>
                    </a:lnTo>
                    <a:lnTo>
                      <a:pt x="7508494" y="0"/>
                    </a:lnTo>
                    <a:close/>
                  </a:path>
                </a:pathLst>
              </a:custGeom>
              <a:solidFill>
                <a:srgbClr val="F5F4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425"/>
              </a:p>
            </p:txBody>
          </p:sp>
          <p:sp>
            <p:nvSpPr>
              <p:cNvPr id="394" name="Google Shape;394;p28"/>
              <p:cNvSpPr/>
              <p:nvPr/>
            </p:nvSpPr>
            <p:spPr>
              <a:xfrm>
                <a:off x="2043176" y="3910076"/>
                <a:ext cx="7581900" cy="1971675"/>
              </a:xfrm>
              <a:custGeom>
                <a:rect b="b" l="l" r="r" t="t"/>
                <a:pathLst>
                  <a:path extrusionOk="0" h="1971675" w="7581900">
                    <a:moveTo>
                      <a:pt x="0" y="73279"/>
                    </a:moveTo>
                    <a:lnTo>
                      <a:pt x="5752" y="44737"/>
                    </a:lnTo>
                    <a:lnTo>
                      <a:pt x="21447" y="21447"/>
                    </a:lnTo>
                    <a:lnTo>
                      <a:pt x="44737" y="5752"/>
                    </a:lnTo>
                    <a:lnTo>
                      <a:pt x="73279" y="0"/>
                    </a:lnTo>
                    <a:lnTo>
                      <a:pt x="7508494" y="0"/>
                    </a:lnTo>
                    <a:lnTo>
                      <a:pt x="7537055" y="5752"/>
                    </a:lnTo>
                    <a:lnTo>
                      <a:pt x="7560389" y="21447"/>
                    </a:lnTo>
                    <a:lnTo>
                      <a:pt x="7576127" y="44737"/>
                    </a:lnTo>
                    <a:lnTo>
                      <a:pt x="7581900" y="73279"/>
                    </a:lnTo>
                    <a:lnTo>
                      <a:pt x="7581900" y="1898243"/>
                    </a:lnTo>
                    <a:lnTo>
                      <a:pt x="7576127" y="1926804"/>
                    </a:lnTo>
                    <a:lnTo>
                      <a:pt x="7560389" y="1950124"/>
                    </a:lnTo>
                    <a:lnTo>
                      <a:pt x="7537055" y="1965846"/>
                    </a:lnTo>
                    <a:lnTo>
                      <a:pt x="7508494" y="1971611"/>
                    </a:lnTo>
                    <a:lnTo>
                      <a:pt x="73279" y="1971611"/>
                    </a:lnTo>
                    <a:lnTo>
                      <a:pt x="44737" y="1965846"/>
                    </a:lnTo>
                    <a:lnTo>
                      <a:pt x="21447" y="1950124"/>
                    </a:lnTo>
                    <a:lnTo>
                      <a:pt x="5752" y="1926804"/>
                    </a:lnTo>
                    <a:lnTo>
                      <a:pt x="0" y="1898243"/>
                    </a:lnTo>
                    <a:lnTo>
                      <a:pt x="0" y="73279"/>
                    </a:lnTo>
                    <a:close/>
                  </a:path>
                </a:pathLst>
              </a:custGeom>
              <a:noFill/>
              <a:ln cap="flat" cmpd="sng" w="12350">
                <a:solidFill>
                  <a:srgbClr val="E2E0D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425"/>
              </a:p>
            </p:txBody>
          </p:sp>
        </p:grpSp>
        <p:sp>
          <p:nvSpPr>
            <p:cNvPr id="395" name="Google Shape;395;p28"/>
            <p:cNvSpPr txBox="1"/>
            <p:nvPr/>
          </p:nvSpPr>
          <p:spPr>
            <a:xfrm>
              <a:off x="518775" y="1329425"/>
              <a:ext cx="3213900" cy="944700"/>
            </a:xfrm>
            <a:prstGeom prst="rect">
              <a:avLst/>
            </a:prstGeom>
            <a:noFill/>
            <a:ln>
              <a:noFill/>
            </a:ln>
          </p:spPr>
          <p:txBody>
            <a:bodyPr anchorCtr="0" anchor="t" bIns="118450" lIns="118450" spcFirstLastPara="1" rIns="118450" wrap="square" tIns="118450">
              <a:spAutoFit/>
            </a:bodyPr>
            <a:lstStyle/>
            <a:p>
              <a:pPr indent="0" lvl="0" marL="0" rtl="0" algn="just">
                <a:spcBef>
                  <a:spcPts val="0"/>
                </a:spcBef>
                <a:spcAft>
                  <a:spcPts val="0"/>
                </a:spcAft>
                <a:buNone/>
              </a:pPr>
              <a:r>
                <a:rPr b="1" lang="en-GB" sz="1250">
                  <a:solidFill>
                    <a:schemeClr val="dk1"/>
                  </a:solidFill>
                  <a:latin typeface="Times New Roman"/>
                  <a:ea typeface="Times New Roman"/>
                  <a:cs typeface="Times New Roman"/>
                  <a:sym typeface="Times New Roman"/>
                </a:rPr>
                <a:t>Scheduler Overhead Latency</a:t>
              </a:r>
              <a:endParaRPr b="1" sz="12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GB" sz="1200">
                  <a:solidFill>
                    <a:srgbClr val="B50346"/>
                  </a:solidFill>
                  <a:latin typeface="Times New Roman"/>
                  <a:ea typeface="Times New Roman"/>
                  <a:cs typeface="Times New Roman"/>
                  <a:sym typeface="Times New Roman"/>
                </a:rPr>
                <a:t>Does the scheduler add overhead</a:t>
              </a:r>
              <a:r>
                <a:rPr b="1" lang="en-GB" sz="1200">
                  <a:solidFill>
                    <a:srgbClr val="B50346"/>
                  </a:solidFill>
                  <a:latin typeface="Times New Roman"/>
                  <a:ea typeface="Times New Roman"/>
                  <a:cs typeface="Times New Roman"/>
                  <a:sym typeface="Times New Roman"/>
                </a:rPr>
                <a:t>?</a:t>
              </a:r>
              <a:endParaRPr b="1" sz="125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b="1" sz="125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GB" sz="1200">
                  <a:solidFill>
                    <a:schemeClr val="dk1"/>
                  </a:solidFill>
                  <a:latin typeface="Times New Roman"/>
                  <a:ea typeface="Times New Roman"/>
                  <a:cs typeface="Times New Roman"/>
                  <a:sym typeface="Times New Roman"/>
                </a:rPr>
                <a:t>Measures the execution time required for the Kubernetes scheduler plugin to read the cache, parse the forecast array, and assign pod placement </a:t>
              </a:r>
              <a:endParaRPr sz="1200">
                <a:latin typeface="Times New Roman"/>
                <a:ea typeface="Times New Roman"/>
                <a:cs typeface="Times New Roman"/>
                <a:sym typeface="Times New Roman"/>
              </a:endParaRPr>
            </a:p>
          </p:txBody>
        </p:sp>
      </p:grpSp>
      <p:pic>
        <p:nvPicPr>
          <p:cNvPr id="396" name="Google Shape;396;p28"/>
          <p:cNvPicPr preferRelativeResize="0"/>
          <p:nvPr/>
        </p:nvPicPr>
        <p:blipFill>
          <a:blip r:embed="rId3">
            <a:alphaModFix/>
          </a:blip>
          <a:stretch>
            <a:fillRect/>
          </a:stretch>
        </p:blipFill>
        <p:spPr>
          <a:xfrm>
            <a:off x="6260300" y="2445525"/>
            <a:ext cx="2347925" cy="10507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grpSp>
        <p:nvGrpSpPr>
          <p:cNvPr id="401" name="Google Shape;401;p29"/>
          <p:cNvGrpSpPr/>
          <p:nvPr/>
        </p:nvGrpSpPr>
        <p:grpSpPr>
          <a:xfrm>
            <a:off x="2401076" y="3936091"/>
            <a:ext cx="4341830" cy="692173"/>
            <a:chOff x="642937" y="1481200"/>
            <a:chExt cx="5229860" cy="1781197"/>
          </a:xfrm>
        </p:grpSpPr>
        <p:sp>
          <p:nvSpPr>
            <p:cNvPr id="402" name="Google Shape;402;p29"/>
            <p:cNvSpPr/>
            <p:nvPr/>
          </p:nvSpPr>
          <p:spPr>
            <a:xfrm>
              <a:off x="642937" y="1481200"/>
              <a:ext cx="5229860" cy="1781175"/>
            </a:xfrm>
            <a:custGeom>
              <a:rect b="b" l="l" r="r" t="t"/>
              <a:pathLst>
                <a:path extrusionOk="0" h="1781175" w="5229860">
                  <a:moveTo>
                    <a:pt x="5164518" y="0"/>
                  </a:moveTo>
                  <a:lnTo>
                    <a:pt x="64770" y="0"/>
                  </a:lnTo>
                  <a:lnTo>
                    <a:pt x="39556" y="5081"/>
                  </a:lnTo>
                  <a:lnTo>
                    <a:pt x="18969" y="18938"/>
                  </a:lnTo>
                  <a:lnTo>
                    <a:pt x="5089" y="39487"/>
                  </a:lnTo>
                  <a:lnTo>
                    <a:pt x="0" y="64643"/>
                  </a:lnTo>
                  <a:lnTo>
                    <a:pt x="0" y="1716404"/>
                  </a:lnTo>
                  <a:lnTo>
                    <a:pt x="5089" y="1741560"/>
                  </a:lnTo>
                  <a:lnTo>
                    <a:pt x="18969" y="1762109"/>
                  </a:lnTo>
                  <a:lnTo>
                    <a:pt x="39556" y="1775966"/>
                  </a:lnTo>
                  <a:lnTo>
                    <a:pt x="64770" y="1781048"/>
                  </a:lnTo>
                  <a:lnTo>
                    <a:pt x="5164518" y="1781048"/>
                  </a:lnTo>
                  <a:lnTo>
                    <a:pt x="5189694" y="1775966"/>
                  </a:lnTo>
                  <a:lnTo>
                    <a:pt x="5210286" y="1762109"/>
                  </a:lnTo>
                  <a:lnTo>
                    <a:pt x="5224186" y="1741560"/>
                  </a:lnTo>
                  <a:lnTo>
                    <a:pt x="5229288" y="1716404"/>
                  </a:lnTo>
                  <a:lnTo>
                    <a:pt x="5229288" y="64643"/>
                  </a:lnTo>
                  <a:lnTo>
                    <a:pt x="5224186" y="39487"/>
                  </a:lnTo>
                  <a:lnTo>
                    <a:pt x="5210286" y="18938"/>
                  </a:lnTo>
                  <a:lnTo>
                    <a:pt x="5189694" y="5081"/>
                  </a:lnTo>
                  <a:lnTo>
                    <a:pt x="5164518" y="0"/>
                  </a:lnTo>
                  <a:close/>
                </a:path>
              </a:pathLst>
            </a:custGeom>
            <a:solidFill>
              <a:srgbClr val="F5F4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100"/>
            </a:p>
          </p:txBody>
        </p:sp>
        <p:sp>
          <p:nvSpPr>
            <p:cNvPr id="403" name="Google Shape;403;p29"/>
            <p:cNvSpPr/>
            <p:nvPr/>
          </p:nvSpPr>
          <p:spPr>
            <a:xfrm>
              <a:off x="765196" y="1481222"/>
              <a:ext cx="5033740" cy="1781175"/>
            </a:xfrm>
            <a:custGeom>
              <a:rect b="b" l="l" r="r" t="t"/>
              <a:pathLst>
                <a:path extrusionOk="0" h="1781175" w="5229860">
                  <a:moveTo>
                    <a:pt x="0" y="64643"/>
                  </a:moveTo>
                  <a:lnTo>
                    <a:pt x="5089" y="39487"/>
                  </a:lnTo>
                  <a:lnTo>
                    <a:pt x="18969" y="18938"/>
                  </a:lnTo>
                  <a:lnTo>
                    <a:pt x="39556" y="5081"/>
                  </a:lnTo>
                  <a:lnTo>
                    <a:pt x="64770" y="0"/>
                  </a:lnTo>
                  <a:lnTo>
                    <a:pt x="5164518" y="0"/>
                  </a:lnTo>
                  <a:lnTo>
                    <a:pt x="5189694" y="5081"/>
                  </a:lnTo>
                  <a:lnTo>
                    <a:pt x="5210286" y="18938"/>
                  </a:lnTo>
                  <a:lnTo>
                    <a:pt x="5224186" y="39487"/>
                  </a:lnTo>
                  <a:lnTo>
                    <a:pt x="5229288" y="64643"/>
                  </a:lnTo>
                  <a:lnTo>
                    <a:pt x="5229288" y="1716404"/>
                  </a:lnTo>
                  <a:lnTo>
                    <a:pt x="5224186" y="1741560"/>
                  </a:lnTo>
                  <a:lnTo>
                    <a:pt x="5210286" y="1762109"/>
                  </a:lnTo>
                  <a:lnTo>
                    <a:pt x="5189694" y="1775966"/>
                  </a:lnTo>
                  <a:lnTo>
                    <a:pt x="5164518" y="1781048"/>
                  </a:lnTo>
                  <a:lnTo>
                    <a:pt x="64770" y="1781048"/>
                  </a:lnTo>
                  <a:lnTo>
                    <a:pt x="39556" y="1775966"/>
                  </a:lnTo>
                  <a:lnTo>
                    <a:pt x="18969" y="1762109"/>
                  </a:lnTo>
                  <a:lnTo>
                    <a:pt x="5089" y="1741560"/>
                  </a:lnTo>
                  <a:lnTo>
                    <a:pt x="0" y="1716404"/>
                  </a:lnTo>
                  <a:lnTo>
                    <a:pt x="0" y="64643"/>
                  </a:lnTo>
                  <a:close/>
                </a:path>
              </a:pathLst>
            </a:custGeom>
            <a:noFill/>
            <a:ln cap="flat" cmpd="sng" w="9525">
              <a:solidFill>
                <a:srgbClr val="E2E0DF"/>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None/>
              </a:pPr>
              <a:r>
                <a:rPr lang="en-GB" sz="1100">
                  <a:latin typeface="Times New Roman"/>
                  <a:ea typeface="Times New Roman"/>
                  <a:cs typeface="Times New Roman"/>
                  <a:sym typeface="Times New Roman"/>
                </a:rPr>
                <a:t>This live dashboard visualizes the automated 24-hour grid forecasting engine, mapping out predicted national emissions for India across a rolling hourly timeline. </a:t>
              </a:r>
              <a:endParaRPr sz="1100">
                <a:latin typeface="Times New Roman"/>
                <a:ea typeface="Times New Roman"/>
                <a:cs typeface="Times New Roman"/>
                <a:sym typeface="Times New Roman"/>
              </a:endParaRPr>
            </a:p>
          </p:txBody>
        </p:sp>
      </p:grpSp>
      <p:sp>
        <p:nvSpPr>
          <p:cNvPr descr="$PPTXTitle" id="404" name="Google Shape;404;p29"/>
          <p:cNvSpPr txBox="1"/>
          <p:nvPr>
            <p:ph type="title"/>
          </p:nvPr>
        </p:nvSpPr>
        <p:spPr>
          <a:xfrm>
            <a:off x="1496625" y="321850"/>
            <a:ext cx="71712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GB" sz="2000">
                <a:latin typeface="Times New Roman"/>
                <a:ea typeface="Times New Roman"/>
                <a:cs typeface="Times New Roman"/>
                <a:sym typeface="Times New Roman"/>
              </a:rPr>
              <a:t>IMPLEMENTATION STATUS</a:t>
            </a:r>
            <a:endParaRPr b="1" sz="2000">
              <a:solidFill>
                <a:srgbClr val="B50346"/>
              </a:solidFill>
              <a:latin typeface="Times New Roman"/>
              <a:ea typeface="Times New Roman"/>
              <a:cs typeface="Times New Roman"/>
              <a:sym typeface="Times New Roman"/>
            </a:endParaRPr>
          </a:p>
        </p:txBody>
      </p:sp>
      <p:pic>
        <p:nvPicPr>
          <p:cNvPr id="405" name="Google Shape;405;p29"/>
          <p:cNvPicPr preferRelativeResize="0"/>
          <p:nvPr/>
        </p:nvPicPr>
        <p:blipFill>
          <a:blip r:embed="rId3">
            <a:alphaModFix/>
          </a:blip>
          <a:stretch>
            <a:fillRect/>
          </a:stretch>
        </p:blipFill>
        <p:spPr>
          <a:xfrm>
            <a:off x="2069938" y="887175"/>
            <a:ext cx="5004126" cy="29470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grpSp>
        <p:nvGrpSpPr>
          <p:cNvPr id="410" name="Google Shape;410;p30"/>
          <p:cNvGrpSpPr/>
          <p:nvPr/>
        </p:nvGrpSpPr>
        <p:grpSpPr>
          <a:xfrm>
            <a:off x="481057" y="1285975"/>
            <a:ext cx="8331841" cy="1285774"/>
            <a:chOff x="476250" y="1095371"/>
            <a:chExt cx="4000500" cy="3028200"/>
          </a:xfrm>
        </p:grpSpPr>
        <p:sp>
          <p:nvSpPr>
            <p:cNvPr id="411" name="Google Shape;411;p30"/>
            <p:cNvSpPr/>
            <p:nvPr/>
          </p:nvSpPr>
          <p:spPr>
            <a:xfrm>
              <a:off x="476250" y="1095371"/>
              <a:ext cx="4000500" cy="3028200"/>
            </a:xfrm>
            <a:prstGeom prst="roundRect">
              <a:avLst>
                <a:gd fmla="val 1887" name="adj"/>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12" name="Google Shape;412;p30"/>
            <p:cNvSpPr/>
            <p:nvPr/>
          </p:nvSpPr>
          <p:spPr>
            <a:xfrm>
              <a:off x="476250" y="1095371"/>
              <a:ext cx="57300" cy="3028200"/>
            </a:xfrm>
            <a:prstGeom prst="roundRect">
              <a:avLst>
                <a:gd fmla="val 33333" name="adj"/>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13" name="Google Shape;413;p30"/>
            <p:cNvSpPr/>
            <p:nvPr/>
          </p:nvSpPr>
          <p:spPr>
            <a:xfrm>
              <a:off x="663422" y="1274789"/>
              <a:ext cx="187200" cy="448800"/>
            </a:xfrm>
            <a:prstGeom prst="roundRect">
              <a:avLst>
                <a:gd fmla="val 50000" name="adj"/>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14" name="Google Shape;414;p30"/>
            <p:cNvSpPr txBox="1"/>
            <p:nvPr/>
          </p:nvSpPr>
          <p:spPr>
            <a:xfrm>
              <a:off x="663422" y="1274789"/>
              <a:ext cx="187200" cy="44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100">
                  <a:solidFill>
                    <a:srgbClr val="FFFFFF"/>
                  </a:solidFill>
                  <a:latin typeface="Times New Roman"/>
                  <a:ea typeface="Times New Roman"/>
                  <a:cs typeface="Times New Roman"/>
                  <a:sym typeface="Times New Roman"/>
                </a:rPr>
                <a:t>1</a:t>
              </a:r>
              <a:endParaRPr b="1" sz="1100">
                <a:solidFill>
                  <a:srgbClr val="FFFFFF"/>
                </a:solidFill>
                <a:latin typeface="Times New Roman"/>
                <a:ea typeface="Times New Roman"/>
                <a:cs typeface="Times New Roman"/>
                <a:sym typeface="Times New Roman"/>
              </a:endParaRPr>
            </a:p>
          </p:txBody>
        </p:sp>
        <p:sp>
          <p:nvSpPr>
            <p:cNvPr id="415" name="Google Shape;415;p30"/>
            <p:cNvSpPr txBox="1"/>
            <p:nvPr/>
          </p:nvSpPr>
          <p:spPr>
            <a:xfrm>
              <a:off x="920778" y="1274789"/>
              <a:ext cx="3295800" cy="44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B50346"/>
                  </a:solidFill>
                  <a:latin typeface="Times New Roman"/>
                  <a:ea typeface="Times New Roman"/>
                  <a:cs typeface="Times New Roman"/>
                  <a:sym typeface="Times New Roman"/>
                </a:rPr>
                <a:t>FUNCTIONAL PROTOTYPE</a:t>
              </a:r>
              <a:endParaRPr b="1" sz="1100">
                <a:solidFill>
                  <a:srgbClr val="B50346"/>
                </a:solidFill>
                <a:latin typeface="Times New Roman"/>
                <a:ea typeface="Times New Roman"/>
                <a:cs typeface="Times New Roman"/>
                <a:sym typeface="Times New Roman"/>
              </a:endParaRPr>
            </a:p>
          </p:txBody>
        </p:sp>
        <p:sp>
          <p:nvSpPr>
            <p:cNvPr id="416" name="Google Shape;416;p30"/>
            <p:cNvSpPr txBox="1"/>
            <p:nvPr/>
          </p:nvSpPr>
          <p:spPr>
            <a:xfrm>
              <a:off x="663419" y="2178184"/>
              <a:ext cx="3735900" cy="1376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just">
                <a:spcBef>
                  <a:spcPts val="0"/>
                </a:spcBef>
                <a:spcAft>
                  <a:spcPts val="0"/>
                </a:spcAft>
                <a:buClr>
                  <a:schemeClr val="dk1"/>
                </a:buClr>
                <a:buFont typeface="Arial"/>
                <a:buNone/>
              </a:pPr>
              <a:r>
                <a:rPr lang="en-GB" sz="1100">
                  <a:solidFill>
                    <a:schemeClr val="dk1"/>
                  </a:solidFill>
                  <a:latin typeface="Times New Roman"/>
                  <a:ea typeface="Times New Roman"/>
                  <a:cs typeface="Times New Roman"/>
                  <a:sym typeface="Times New Roman"/>
                </a:rPr>
                <a:t>We expect to deliver a working system by the final review. This includes a tested on physical edge (the Raspberry Pi K3s) cluster, deployed Custom Go Scheduler, and a live observability dashboard successfully integrating external grid APIs with internal kernel-level telemetry.</a:t>
              </a:r>
              <a:endParaRPr sz="1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100">
                <a:solidFill>
                  <a:schemeClr val="dk1"/>
                </a:solidFill>
                <a:latin typeface="Times New Roman"/>
                <a:ea typeface="Times New Roman"/>
                <a:cs typeface="Times New Roman"/>
                <a:sym typeface="Times New Roman"/>
              </a:endParaRPr>
            </a:p>
          </p:txBody>
        </p:sp>
      </p:grpSp>
      <p:grpSp>
        <p:nvGrpSpPr>
          <p:cNvPr id="417" name="Google Shape;417;p30"/>
          <p:cNvGrpSpPr/>
          <p:nvPr/>
        </p:nvGrpSpPr>
        <p:grpSpPr>
          <a:xfrm>
            <a:off x="481057" y="2887100"/>
            <a:ext cx="8331841" cy="1285774"/>
            <a:chOff x="476250" y="1095371"/>
            <a:chExt cx="4000500" cy="3028200"/>
          </a:xfrm>
        </p:grpSpPr>
        <p:sp>
          <p:nvSpPr>
            <p:cNvPr id="418" name="Google Shape;418;p30"/>
            <p:cNvSpPr/>
            <p:nvPr/>
          </p:nvSpPr>
          <p:spPr>
            <a:xfrm>
              <a:off x="476250" y="1095371"/>
              <a:ext cx="4000500" cy="3028200"/>
            </a:xfrm>
            <a:prstGeom prst="roundRect">
              <a:avLst>
                <a:gd fmla="val 1887" name="adj"/>
              </a:avLst>
            </a:prstGeom>
            <a:solidFill>
              <a:srgbClr val="FAF9F8"/>
            </a:solidFill>
            <a:ln cap="flat" cmpd="sng" w="9525">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19" name="Google Shape;419;p30"/>
            <p:cNvSpPr/>
            <p:nvPr/>
          </p:nvSpPr>
          <p:spPr>
            <a:xfrm>
              <a:off x="476250" y="1095371"/>
              <a:ext cx="57300" cy="3028200"/>
            </a:xfrm>
            <a:prstGeom prst="roundRect">
              <a:avLst>
                <a:gd fmla="val 33333" name="adj"/>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20" name="Google Shape;420;p30"/>
            <p:cNvSpPr/>
            <p:nvPr/>
          </p:nvSpPr>
          <p:spPr>
            <a:xfrm>
              <a:off x="663422" y="1274789"/>
              <a:ext cx="187200" cy="448800"/>
            </a:xfrm>
            <a:prstGeom prst="roundRect">
              <a:avLst>
                <a:gd fmla="val 50000" name="adj"/>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21" name="Google Shape;421;p30"/>
            <p:cNvSpPr txBox="1"/>
            <p:nvPr/>
          </p:nvSpPr>
          <p:spPr>
            <a:xfrm>
              <a:off x="663422" y="1274789"/>
              <a:ext cx="187200" cy="44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100">
                  <a:solidFill>
                    <a:srgbClr val="FFFFFF"/>
                  </a:solidFill>
                  <a:latin typeface="Times New Roman"/>
                  <a:ea typeface="Times New Roman"/>
                  <a:cs typeface="Times New Roman"/>
                  <a:sym typeface="Times New Roman"/>
                </a:rPr>
                <a:t>2</a:t>
              </a:r>
              <a:endParaRPr b="1" sz="1100">
                <a:solidFill>
                  <a:srgbClr val="FFFFFF"/>
                </a:solidFill>
                <a:latin typeface="Times New Roman"/>
                <a:ea typeface="Times New Roman"/>
                <a:cs typeface="Times New Roman"/>
                <a:sym typeface="Times New Roman"/>
              </a:endParaRPr>
            </a:p>
          </p:txBody>
        </p:sp>
        <p:sp>
          <p:nvSpPr>
            <p:cNvPr id="422" name="Google Shape;422;p30"/>
            <p:cNvSpPr txBox="1"/>
            <p:nvPr/>
          </p:nvSpPr>
          <p:spPr>
            <a:xfrm>
              <a:off x="920778" y="1274789"/>
              <a:ext cx="3295800" cy="44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rgbClr val="B50346"/>
                  </a:solidFill>
                  <a:latin typeface="Times New Roman"/>
                  <a:ea typeface="Times New Roman"/>
                  <a:cs typeface="Times New Roman"/>
                  <a:sym typeface="Times New Roman"/>
                </a:rPr>
                <a:t>ACADEMIC CONTRIBUTION</a:t>
              </a:r>
              <a:endParaRPr b="1" sz="1100">
                <a:solidFill>
                  <a:srgbClr val="B50346"/>
                </a:solidFill>
                <a:latin typeface="Times New Roman"/>
                <a:ea typeface="Times New Roman"/>
                <a:cs typeface="Times New Roman"/>
                <a:sym typeface="Times New Roman"/>
              </a:endParaRPr>
            </a:p>
          </p:txBody>
        </p:sp>
        <p:sp>
          <p:nvSpPr>
            <p:cNvPr id="423" name="Google Shape;423;p30"/>
            <p:cNvSpPr txBox="1"/>
            <p:nvPr/>
          </p:nvSpPr>
          <p:spPr>
            <a:xfrm>
              <a:off x="663419" y="2178184"/>
              <a:ext cx="3735900" cy="1376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just">
                <a:spcBef>
                  <a:spcPts val="0"/>
                </a:spcBef>
                <a:spcAft>
                  <a:spcPts val="0"/>
                </a:spcAft>
                <a:buNone/>
              </a:pPr>
              <a:r>
                <a:rPr lang="en-GB" sz="1100">
                  <a:solidFill>
                    <a:schemeClr val="dk1"/>
                  </a:solidFill>
                  <a:latin typeface="Times New Roman"/>
                  <a:ea typeface="Times New Roman"/>
                  <a:cs typeface="Times New Roman"/>
                  <a:sym typeface="Times New Roman"/>
                </a:rPr>
                <a:t>We expect to </a:t>
              </a:r>
              <a:r>
                <a:rPr lang="en-GB" sz="1100">
                  <a:solidFill>
                    <a:schemeClr val="dk1"/>
                  </a:solidFill>
                  <a:latin typeface="Times New Roman"/>
                  <a:ea typeface="Times New Roman"/>
                  <a:cs typeface="Times New Roman"/>
                  <a:sym typeface="Times New Roman"/>
                </a:rPr>
                <a:t>improve </a:t>
              </a:r>
              <a:r>
                <a:rPr lang="en-GB" sz="1100">
                  <a:solidFill>
                    <a:schemeClr val="dk1"/>
                  </a:solidFill>
                  <a:latin typeface="Times New Roman"/>
                  <a:ea typeface="Times New Roman"/>
                  <a:cs typeface="Times New Roman"/>
                  <a:sym typeface="Times New Roman"/>
                </a:rPr>
                <a:t>our thermal-carbon scheduler to outperform existing modern standard Kubernetes schedulers in net emissions. Ultimately, we aim to produce a publication-ready report highlighting our novel approach to "Sustainable Computing".</a:t>
              </a:r>
              <a:endParaRPr sz="1100">
                <a:solidFill>
                  <a:schemeClr val="dk1"/>
                </a:solidFill>
                <a:latin typeface="Times New Roman"/>
                <a:ea typeface="Times New Roman"/>
                <a:cs typeface="Times New Roman"/>
                <a:sym typeface="Times New Roman"/>
              </a:endParaRPr>
            </a:p>
          </p:txBody>
        </p:sp>
      </p:grpSp>
      <p:sp>
        <p:nvSpPr>
          <p:cNvPr descr="$PPTXTitle" id="424" name="Google Shape;424;p30"/>
          <p:cNvSpPr txBox="1"/>
          <p:nvPr>
            <p:ph type="title"/>
          </p:nvPr>
        </p:nvSpPr>
        <p:spPr>
          <a:xfrm>
            <a:off x="1496625" y="321850"/>
            <a:ext cx="71712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GB" sz="2000">
                <a:latin typeface="Times New Roman"/>
                <a:ea typeface="Times New Roman"/>
                <a:cs typeface="Times New Roman"/>
                <a:sym typeface="Times New Roman"/>
              </a:rPr>
              <a:t>IMPORTANT EXPECTATIONS</a:t>
            </a:r>
            <a:endParaRPr b="1" sz="2000">
              <a:solidFill>
                <a:srgbClr val="B50346"/>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grpSp>
        <p:nvGrpSpPr>
          <p:cNvPr id="429" name="Google Shape;429;p31"/>
          <p:cNvGrpSpPr/>
          <p:nvPr/>
        </p:nvGrpSpPr>
        <p:grpSpPr>
          <a:xfrm>
            <a:off x="609600" y="1126427"/>
            <a:ext cx="8058740" cy="3458211"/>
            <a:chOff x="147638" y="1066800"/>
            <a:chExt cx="8834400" cy="1733700"/>
          </a:xfrm>
        </p:grpSpPr>
        <p:sp>
          <p:nvSpPr>
            <p:cNvPr id="430" name="Google Shape;430;p31"/>
            <p:cNvSpPr/>
            <p:nvPr/>
          </p:nvSpPr>
          <p:spPr>
            <a:xfrm>
              <a:off x="148351" y="1066800"/>
              <a:ext cx="8832600" cy="1733700"/>
            </a:xfrm>
            <a:prstGeom prst="roundRect">
              <a:avLst>
                <a:gd fmla="val 2195" name="adj"/>
              </a:avLst>
            </a:prstGeom>
            <a:solidFill>
              <a:srgbClr val="FAF9F8"/>
            </a:solidFill>
            <a:ln cap="flat" cmpd="sng" w="10800">
              <a:solidFill>
                <a:srgbClr val="E2E0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589"/>
            </a:p>
          </p:txBody>
        </p:sp>
        <p:pic>
          <p:nvPicPr>
            <p:cNvPr id="431" name="Google Shape;431;p31"/>
            <p:cNvPicPr preferRelativeResize="0"/>
            <p:nvPr/>
          </p:nvPicPr>
          <p:blipFill rotWithShape="1">
            <a:blip r:embed="rId3">
              <a:alphaModFix/>
            </a:blip>
            <a:srcRect b="0" l="0" r="0" t="0"/>
            <a:stretch/>
          </p:blipFill>
          <p:spPr>
            <a:xfrm>
              <a:off x="147638" y="1066800"/>
              <a:ext cx="8834400" cy="228600"/>
            </a:xfrm>
            <a:prstGeom prst="rect">
              <a:avLst/>
            </a:prstGeom>
            <a:noFill/>
            <a:ln>
              <a:noFill/>
            </a:ln>
          </p:spPr>
        </p:pic>
        <p:sp>
          <p:nvSpPr>
            <p:cNvPr id="432" name="Google Shape;432;p31"/>
            <p:cNvSpPr/>
            <p:nvPr/>
          </p:nvSpPr>
          <p:spPr>
            <a:xfrm>
              <a:off x="287211" y="1071288"/>
              <a:ext cx="178800" cy="178800"/>
            </a:xfrm>
            <a:prstGeom prst="ellipse">
              <a:avLst/>
            </a:prstGeom>
            <a:solidFill>
              <a:srgbClr val="B5034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3" name="Google Shape;433;p31"/>
            <p:cNvSpPr txBox="1"/>
            <p:nvPr/>
          </p:nvSpPr>
          <p:spPr>
            <a:xfrm>
              <a:off x="211675" y="1083175"/>
              <a:ext cx="8655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64">
                  <a:solidFill>
                    <a:srgbClr val="FFFFFF"/>
                  </a:solidFill>
                  <a:latin typeface="Georgia"/>
                  <a:ea typeface="Georgia"/>
                  <a:cs typeface="Georgia"/>
                  <a:sym typeface="Georgia"/>
                </a:rPr>
                <a:t>Primary Research Papers:</a:t>
              </a:r>
              <a:endParaRPr b="1" sz="964">
                <a:solidFill>
                  <a:srgbClr val="FFFFFF"/>
                </a:solidFill>
                <a:latin typeface="Georgia"/>
                <a:ea typeface="Georgia"/>
                <a:cs typeface="Georgia"/>
                <a:sym typeface="Georgia"/>
              </a:endParaRPr>
            </a:p>
          </p:txBody>
        </p:sp>
        <p:sp>
          <p:nvSpPr>
            <p:cNvPr id="434" name="Google Shape;434;p31"/>
            <p:cNvSpPr txBox="1"/>
            <p:nvPr/>
          </p:nvSpPr>
          <p:spPr>
            <a:xfrm>
              <a:off x="287210" y="1344766"/>
              <a:ext cx="8580300" cy="1375800"/>
            </a:xfrm>
            <a:prstGeom prst="rect">
              <a:avLst/>
            </a:prstGeom>
            <a:noFill/>
            <a:ln>
              <a:noFill/>
            </a:ln>
          </p:spPr>
          <p:txBody>
            <a:bodyPr anchorCtr="0" anchor="ctr" bIns="0" lIns="0" spcFirstLastPara="1" rIns="0" wrap="square" tIns="0">
              <a:noAutofit/>
            </a:bodyPr>
            <a:lstStyle/>
            <a:p>
              <a:pPr indent="0" lvl="0" marL="0" rtl="0" algn="just">
                <a:spcBef>
                  <a:spcPts val="340"/>
                </a:spcBef>
                <a:spcAft>
                  <a:spcPts val="0"/>
                </a:spcAft>
                <a:buNone/>
              </a:pPr>
              <a:r>
                <a:t/>
              </a:r>
              <a:endParaRPr b="1" sz="1248">
                <a:solidFill>
                  <a:schemeClr val="dk1"/>
                </a:solidFill>
                <a:latin typeface="Times New Roman"/>
                <a:ea typeface="Times New Roman"/>
                <a:cs typeface="Times New Roman"/>
                <a:sym typeface="Times New Roman"/>
              </a:endParaRPr>
            </a:p>
            <a:p>
              <a:pPr indent="0" lvl="0" marL="0" rtl="0" algn="just">
                <a:spcBef>
                  <a:spcPts val="340"/>
                </a:spcBef>
                <a:spcAft>
                  <a:spcPts val="0"/>
                </a:spcAft>
                <a:buClr>
                  <a:schemeClr val="dk1"/>
                </a:buClr>
                <a:buSzPts val="1100"/>
                <a:buFont typeface="Arial"/>
                <a:buNone/>
              </a:pPr>
              <a:r>
                <a:rPr lang="en-GB" sz="1248">
                  <a:solidFill>
                    <a:schemeClr val="dk1"/>
                  </a:solidFill>
                  <a:latin typeface="Times New Roman"/>
                  <a:ea typeface="Times New Roman"/>
                  <a:cs typeface="Times New Roman"/>
                  <a:sym typeface="Times New Roman"/>
                </a:rPr>
                <a:t>[1] </a:t>
              </a:r>
              <a:r>
                <a:rPr lang="en-GB" sz="1248">
                  <a:solidFill>
                    <a:schemeClr val="dk1"/>
                  </a:solidFill>
                  <a:latin typeface="Times New Roman"/>
                  <a:ea typeface="Times New Roman"/>
                  <a:cs typeface="Times New Roman"/>
                  <a:sym typeface="Times New Roman"/>
                </a:rPr>
                <a:t>T. Sukprasert, A. Souza, N. Bashir, D. Irwin, and P. Shenoy,“On the Limitations of Carbon-Aware Temporal and Spatial     Workload Shifting in the Cloud,” in Proc. 19th European Conf. Computer Systems (EuroSys), Athens, Greece, 2024, pp. 924–941,    doi: 10.1145/3627703.3650079.</a:t>
              </a:r>
              <a:endParaRPr sz="1248">
                <a:solidFill>
                  <a:schemeClr val="dk1"/>
                </a:solidFill>
                <a:latin typeface="Times New Roman"/>
                <a:ea typeface="Times New Roman"/>
                <a:cs typeface="Times New Roman"/>
                <a:sym typeface="Times New Roman"/>
              </a:endParaRPr>
            </a:p>
            <a:p>
              <a:pPr indent="0" lvl="0" marL="518757" rtl="0" algn="just">
                <a:spcBef>
                  <a:spcPts val="340"/>
                </a:spcBef>
                <a:spcAft>
                  <a:spcPts val="0"/>
                </a:spcAft>
                <a:buClr>
                  <a:schemeClr val="dk1"/>
                </a:buClr>
                <a:buSzPts val="1100"/>
                <a:buFont typeface="Arial"/>
                <a:buNone/>
              </a:pPr>
              <a:r>
                <a:t/>
              </a:r>
              <a:endParaRPr sz="1248">
                <a:solidFill>
                  <a:schemeClr val="dk1"/>
                </a:solidFill>
                <a:latin typeface="Times New Roman"/>
                <a:ea typeface="Times New Roman"/>
                <a:cs typeface="Times New Roman"/>
                <a:sym typeface="Times New Roman"/>
              </a:endParaRPr>
            </a:p>
            <a:p>
              <a:pPr indent="0" lvl="0" marL="0" rtl="0" algn="just">
                <a:spcBef>
                  <a:spcPts val="340"/>
                </a:spcBef>
                <a:spcAft>
                  <a:spcPts val="0"/>
                </a:spcAft>
                <a:buClr>
                  <a:schemeClr val="dk1"/>
                </a:buClr>
                <a:buSzPts val="1100"/>
                <a:buFont typeface="Arial"/>
                <a:buNone/>
              </a:pPr>
              <a:r>
                <a:rPr lang="en-GB" sz="1248">
                  <a:solidFill>
                    <a:schemeClr val="dk1"/>
                  </a:solidFill>
                  <a:latin typeface="Times New Roman"/>
                  <a:ea typeface="Times New Roman"/>
                  <a:cs typeface="Times New Roman"/>
                  <a:sym typeface="Times New Roman"/>
                </a:rPr>
                <a:t>[2] G. Zhang, W. Guo, Z. Tan, C. Sun, and H. Jiang, “CarbonEdge: Carbon-Aware Deep Learning Inference Framework for Sustainable Edge Computing,” in Proc. IEEE Int. Wireless Communications and Mobile Computing Conf. (IWCMC), 2026, pp. 445–450, doi: 10.1109/IWCMC69287.2026.11580067.</a:t>
              </a:r>
              <a:endParaRPr sz="1248">
                <a:solidFill>
                  <a:schemeClr val="dk1"/>
                </a:solidFill>
                <a:latin typeface="Times New Roman"/>
                <a:ea typeface="Times New Roman"/>
                <a:cs typeface="Times New Roman"/>
                <a:sym typeface="Times New Roman"/>
              </a:endParaRPr>
            </a:p>
            <a:p>
              <a:pPr indent="0" lvl="0" marL="518757" rtl="0" algn="just">
                <a:spcBef>
                  <a:spcPts val="340"/>
                </a:spcBef>
                <a:spcAft>
                  <a:spcPts val="0"/>
                </a:spcAft>
                <a:buClr>
                  <a:schemeClr val="dk1"/>
                </a:buClr>
                <a:buSzPts val="1100"/>
                <a:buFont typeface="Arial"/>
                <a:buNone/>
              </a:pPr>
              <a:r>
                <a:t/>
              </a:r>
              <a:endParaRPr sz="1248">
                <a:solidFill>
                  <a:schemeClr val="dk1"/>
                </a:solidFill>
                <a:latin typeface="Times New Roman"/>
                <a:ea typeface="Times New Roman"/>
                <a:cs typeface="Times New Roman"/>
                <a:sym typeface="Times New Roman"/>
              </a:endParaRPr>
            </a:p>
            <a:p>
              <a:pPr indent="0" lvl="0" marL="0" rtl="0" algn="just">
                <a:spcBef>
                  <a:spcPts val="340"/>
                </a:spcBef>
                <a:spcAft>
                  <a:spcPts val="0"/>
                </a:spcAft>
                <a:buClr>
                  <a:schemeClr val="dk1"/>
                </a:buClr>
                <a:buSzPts val="1100"/>
                <a:buFont typeface="Arial"/>
                <a:buNone/>
              </a:pPr>
              <a:r>
                <a:rPr lang="en-GB" sz="1248">
                  <a:solidFill>
                    <a:schemeClr val="dk1"/>
                  </a:solidFill>
                  <a:latin typeface="Times New Roman"/>
                  <a:ea typeface="Times New Roman"/>
                  <a:cs typeface="Times New Roman"/>
                  <a:sym typeface="Times New Roman"/>
                </a:rPr>
                <a:t>[3] H. Zhou, H. Y. Chan, S. Y. Zhang, M. Lin, and J. Ni, “A Kubernetes Custom Scheduler Based on Reinforcement Learning for Compute-Intensive Pods,” 2026.</a:t>
              </a:r>
              <a:endParaRPr sz="1248">
                <a:solidFill>
                  <a:schemeClr val="dk1"/>
                </a:solidFill>
                <a:latin typeface="Times New Roman"/>
                <a:ea typeface="Times New Roman"/>
                <a:cs typeface="Times New Roman"/>
                <a:sym typeface="Times New Roman"/>
              </a:endParaRPr>
            </a:p>
            <a:p>
              <a:pPr indent="0" lvl="0" marL="518757" rtl="0" algn="just">
                <a:spcBef>
                  <a:spcPts val="340"/>
                </a:spcBef>
                <a:spcAft>
                  <a:spcPts val="0"/>
                </a:spcAft>
                <a:buNone/>
              </a:pPr>
              <a:r>
                <a:t/>
              </a:r>
              <a:endParaRPr b="1" sz="1248">
                <a:solidFill>
                  <a:schemeClr val="dk1"/>
                </a:solidFill>
                <a:latin typeface="Times New Roman"/>
                <a:ea typeface="Times New Roman"/>
                <a:cs typeface="Times New Roman"/>
                <a:sym typeface="Times New Roman"/>
              </a:endParaRPr>
            </a:p>
          </p:txBody>
        </p:sp>
      </p:grpSp>
      <p:sp>
        <p:nvSpPr>
          <p:cNvPr descr="$PPTXTitle" id="435" name="Google Shape;435;p31"/>
          <p:cNvSpPr txBox="1"/>
          <p:nvPr>
            <p:ph type="title"/>
          </p:nvPr>
        </p:nvSpPr>
        <p:spPr>
          <a:xfrm>
            <a:off x="1496625" y="321850"/>
            <a:ext cx="71712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GB" sz="2000">
                <a:latin typeface="Times New Roman"/>
                <a:ea typeface="Times New Roman"/>
                <a:cs typeface="Times New Roman"/>
                <a:sym typeface="Times New Roman"/>
              </a:rPr>
              <a:t>REFERENCES</a:t>
            </a:r>
            <a:endParaRPr b="1" sz="2000">
              <a:solidFill>
                <a:srgbClr val="B50346"/>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descr="$PPTXTitle" id="440" name="Google Shape;440;p32"/>
          <p:cNvSpPr txBox="1"/>
          <p:nvPr>
            <p:ph type="title"/>
          </p:nvPr>
        </p:nvSpPr>
        <p:spPr>
          <a:xfrm>
            <a:off x="2785200" y="2150850"/>
            <a:ext cx="3573600" cy="841800"/>
          </a:xfrm>
          <a:prstGeom prst="rect">
            <a:avLst/>
          </a:prstGeom>
          <a:noFill/>
          <a:ln>
            <a:noFill/>
          </a:ln>
        </p:spPr>
        <p:txBody>
          <a:bodyPr anchorCtr="0" anchor="t" bIns="0" lIns="0" spcFirstLastPara="1" rIns="0" wrap="square" tIns="10475">
            <a:spAutoFit/>
          </a:bodyPr>
          <a:lstStyle/>
          <a:p>
            <a:pPr indent="0" lvl="0" marL="12700" rtl="0" algn="l">
              <a:lnSpc>
                <a:spcPct val="100000"/>
              </a:lnSpc>
              <a:spcBef>
                <a:spcPts val="0"/>
              </a:spcBef>
              <a:spcAft>
                <a:spcPts val="0"/>
              </a:spcAft>
              <a:buNone/>
            </a:pPr>
            <a:r>
              <a:rPr b="1" lang="en-GB" sz="5400">
                <a:solidFill>
                  <a:srgbClr val="FFFFFF"/>
                </a:solidFill>
                <a:latin typeface="Trebuchet MS"/>
                <a:ea typeface="Trebuchet MS"/>
                <a:cs typeface="Trebuchet MS"/>
                <a:sym typeface="Trebuchet MS"/>
              </a:rPr>
              <a:t>Thank You</a:t>
            </a:r>
            <a:endParaRPr sz="5400">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